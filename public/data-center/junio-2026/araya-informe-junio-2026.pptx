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4" r:id="rId3"/>
    <p:sldId id="291" r:id="rId4"/>
    <p:sldId id="342" r:id="rId5"/>
    <p:sldId id="363" r:id="rId6"/>
    <p:sldId id="364" r:id="rId7"/>
    <p:sldId id="365" r:id="rId8"/>
    <p:sldId id="290" r:id="rId9"/>
    <p:sldId id="289" r:id="rId10"/>
    <p:sldId id="366" r:id="rId11"/>
    <p:sldId id="403" r:id="rId12"/>
    <p:sldId id="292" r:id="rId13"/>
    <p:sldId id="404" r:id="rId14"/>
    <p:sldId id="368" r:id="rId15"/>
    <p:sldId id="405" r:id="rId16"/>
    <p:sldId id="354" r:id="rId17"/>
    <p:sldId id="359" r:id="rId18"/>
    <p:sldId id="360" r:id="rId19"/>
    <p:sldId id="361" r:id="rId20"/>
    <p:sldId id="263" r:id="rId21"/>
    <p:sldId id="266" r:id="rId22"/>
    <p:sldId id="269" r:id="rId23"/>
    <p:sldId id="270" r:id="rId24"/>
    <p:sldId id="271" r:id="rId25"/>
    <p:sldId id="273" r:id="rId26"/>
    <p:sldId id="362" r:id="rId27"/>
    <p:sldId id="406" r:id="rId28"/>
    <p:sldId id="355" r:id="rId29"/>
    <p:sldId id="257" r:id="rId30"/>
    <p:sldId id="258" r:id="rId31"/>
    <p:sldId id="259" r:id="rId32"/>
    <p:sldId id="260" r:id="rId33"/>
    <p:sldId id="357" r:id="rId34"/>
    <p:sldId id="262" r:id="rId35"/>
    <p:sldId id="305" r:id="rId36"/>
    <p:sldId id="331" r:id="rId37"/>
    <p:sldId id="356" r:id="rId38"/>
  </p:sldIdLst>
  <p:sldSz cx="9144000" cy="5143500" type="screen16x9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6D60D-BF7C-4AFE-A40E-A6369ADE1C29}" v="1" dt="2026-07-16T20:57:43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y Villalona" userId="26acd9b0-757c-45d2-bdf1-b43b683da2aa" providerId="ADAL" clId="{7B0469CB-2711-4ED7-949B-6C08E56E0017}"/>
    <pc:docChg chg="undo redo custSel addSld delSld modSld">
      <pc:chgData name="Antonely Villalona" userId="26acd9b0-757c-45d2-bdf1-b43b683da2aa" providerId="ADAL" clId="{7B0469CB-2711-4ED7-949B-6C08E56E0017}" dt="2026-07-16T21:06:00.240" v="682" actId="14100"/>
      <pc:docMkLst>
        <pc:docMk/>
      </pc:docMkLst>
      <pc:sldChg chg="modSp mod">
        <pc:chgData name="Antonely Villalona" userId="26acd9b0-757c-45d2-bdf1-b43b683da2aa" providerId="ADAL" clId="{7B0469CB-2711-4ED7-949B-6C08E56E0017}" dt="2026-07-15T14:34:16.221" v="165" actId="20577"/>
        <pc:sldMkLst>
          <pc:docMk/>
          <pc:sldMk cId="0" sldId="256"/>
        </pc:sldMkLst>
        <pc:spChg chg="mod">
          <ac:chgData name="Antonely Villalona" userId="26acd9b0-757c-45d2-bdf1-b43b683da2aa" providerId="ADAL" clId="{7B0469CB-2711-4ED7-949B-6C08E56E0017}" dt="2026-07-15T14:34:16.221" v="165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Antonely Villalona" userId="26acd9b0-757c-45d2-bdf1-b43b683da2aa" providerId="ADAL" clId="{7B0469CB-2711-4ED7-949B-6C08E56E0017}" dt="2026-07-16T20:57:23.881" v="650" actId="478"/>
        <pc:sldMkLst>
          <pc:docMk/>
          <pc:sldMk cId="0" sldId="257"/>
        </pc:sldMkLst>
        <pc:spChg chg="del">
          <ac:chgData name="Antonely Villalona" userId="26acd9b0-757c-45d2-bdf1-b43b683da2aa" providerId="ADAL" clId="{7B0469CB-2711-4ED7-949B-6C08E56E0017}" dt="2026-07-15T13:52:14.448" v="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2:34.576" v="10" actId="403"/>
          <ac:spMkLst>
            <pc:docMk/>
            <pc:sldMk cId="0" sldId="257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2:34.576" v="10" actId="403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2:34.576" v="10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2:34.576" v="10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6:25.764" v="1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1:15.781" v="3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1:14.402" v="2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1:15.781" v="3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1:14.402" v="2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3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1:14.402" v="2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50.468" v="92" actId="403"/>
          <ac:spMkLst>
            <pc:docMk/>
            <pc:sldMk cId="0" sldId="257"/>
            <ac:spMk id="37" creationId="{00000000-0000-0000-0000-000000000000}"/>
          </ac:spMkLst>
        </pc:spChg>
        <pc:spChg chg="del">
          <ac:chgData name="Antonely Villalona" userId="26acd9b0-757c-45d2-bdf1-b43b683da2aa" providerId="ADAL" clId="{7B0469CB-2711-4ED7-949B-6C08E56E0017}" dt="2026-07-16T20:57:23.881" v="650" actId="478"/>
          <ac:spMkLst>
            <pc:docMk/>
            <pc:sldMk cId="0" sldId="257"/>
            <ac:spMk id="42" creationId="{00000000-0000-0000-0000-000000000000}"/>
          </ac:spMkLst>
        </pc:spChg>
      </pc:sldChg>
      <pc:sldChg chg="delSp modSp mod">
        <pc:chgData name="Antonely Villalona" userId="26acd9b0-757c-45d2-bdf1-b43b683da2aa" providerId="ADAL" clId="{7B0469CB-2711-4ED7-949B-6C08E56E0017}" dt="2026-07-16T20:57:19.570" v="649" actId="478"/>
        <pc:sldMkLst>
          <pc:docMk/>
          <pc:sldMk cId="0" sldId="258"/>
        </pc:sldMkLst>
        <pc:spChg chg="del">
          <ac:chgData name="Antonely Villalona" userId="26acd9b0-757c-45d2-bdf1-b43b683da2aa" providerId="ADAL" clId="{7B0469CB-2711-4ED7-949B-6C08E56E0017}" dt="2026-07-15T13:57:19.894" v="16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8:45.249" v="63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8:58.054" v="646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4.956" v="19" actId="1410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3:57:38.926" v="21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1:20.483" v="47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0:14.079" v="34" actId="68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1:20.197" v="46" actId="14100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0:48.663" v="64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3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4:12.268" v="566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5:42.795" v="595" actId="108"/>
          <ac:spMkLst>
            <pc:docMk/>
            <pc:sldMk cId="0" sldId="258"/>
            <ac:spMk id="3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7:10.219" v="604" actId="20577"/>
          <ac:spMkLst>
            <pc:docMk/>
            <pc:sldMk cId="0" sldId="258"/>
            <ac:spMk id="3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3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4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5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5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5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5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5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6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6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6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6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7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7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8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0:14.079" v="34" actId="688"/>
          <ac:spMkLst>
            <pc:docMk/>
            <pc:sldMk cId="0" sldId="258"/>
            <ac:spMk id="8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9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9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4:38.301" v="574" actId="20577"/>
          <ac:spMkLst>
            <pc:docMk/>
            <pc:sldMk cId="0" sldId="258"/>
            <ac:spMk id="9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8:06.748" v="616" actId="20577"/>
          <ac:spMkLst>
            <pc:docMk/>
            <pc:sldMk cId="0" sldId="258"/>
            <ac:spMk id="9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0:14.079" v="34" actId="688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27.451" v="89" actId="113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13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14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9:44.498" v="54" actId="14100"/>
          <ac:spMkLst>
            <pc:docMk/>
            <pc:sldMk cId="0" sldId="258"/>
            <ac:spMk id="14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41.751" v="51" actId="1076"/>
          <ac:spMkLst>
            <pc:docMk/>
            <pc:sldMk cId="0" sldId="258"/>
            <ac:spMk id="14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0:14.079" v="34" actId="688"/>
          <ac:spMkLst>
            <pc:docMk/>
            <pc:sldMk cId="0" sldId="258"/>
            <ac:spMk id="15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01.105" v="65" actId="1076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0:40.522" v="63" actId="403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18.745" v="68" actId="403"/>
          <ac:spMkLst>
            <pc:docMk/>
            <pc:sldMk cId="0" sldId="258"/>
            <ac:spMk id="16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5:06.858" v="582" actId="20577"/>
          <ac:spMkLst>
            <pc:docMk/>
            <pc:sldMk cId="0" sldId="258"/>
            <ac:spMk id="16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18.745" v="68" actId="403"/>
          <ac:spMkLst>
            <pc:docMk/>
            <pc:sldMk cId="0" sldId="258"/>
            <ac:spMk id="16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9:38:20.421" v="626" actId="20577"/>
          <ac:spMkLst>
            <pc:docMk/>
            <pc:sldMk cId="0" sldId="258"/>
            <ac:spMk id="16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18.745" v="68" actId="403"/>
          <ac:spMkLst>
            <pc:docMk/>
            <pc:sldMk cId="0" sldId="258"/>
            <ac:spMk id="16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18.745" v="68" actId="403"/>
          <ac:spMkLst>
            <pc:docMk/>
            <pc:sldMk cId="0" sldId="258"/>
            <ac:spMk id="17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18.745" v="68" actId="403"/>
          <ac:spMkLst>
            <pc:docMk/>
            <pc:sldMk cId="0" sldId="258"/>
            <ac:spMk id="17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08:19.770" v="50" actId="1076"/>
          <ac:spMkLst>
            <pc:docMk/>
            <pc:sldMk cId="0" sldId="258"/>
            <ac:spMk id="173" creationId="{00000000-0000-0000-0000-000000000000}"/>
          </ac:spMkLst>
        </pc:spChg>
        <pc:spChg chg="del mod">
          <ac:chgData name="Antonely Villalona" userId="26acd9b0-757c-45d2-bdf1-b43b683da2aa" providerId="ADAL" clId="{7B0469CB-2711-4ED7-949B-6C08E56E0017}" dt="2026-07-16T20:57:19.570" v="649" actId="478"/>
          <ac:spMkLst>
            <pc:docMk/>
            <pc:sldMk cId="0" sldId="258"/>
            <ac:spMk id="174" creationId="{00000000-0000-0000-0000-000000000000}"/>
          </ac:spMkLst>
        </pc:spChg>
      </pc:sldChg>
      <pc:sldChg chg="delSp modSp mod">
        <pc:chgData name="Antonely Villalona" userId="26acd9b0-757c-45d2-bdf1-b43b683da2aa" providerId="ADAL" clId="{7B0469CB-2711-4ED7-949B-6C08E56E0017}" dt="2026-07-16T20:57:15.580" v="648" actId="478"/>
        <pc:sldMkLst>
          <pc:docMk/>
          <pc:sldMk cId="0" sldId="259"/>
        </pc:sldMkLst>
        <pc:spChg chg="del">
          <ac:chgData name="Antonely Villalona" userId="26acd9b0-757c-45d2-bdf1-b43b683da2aa" providerId="ADAL" clId="{7B0469CB-2711-4ED7-949B-6C08E56E0017}" dt="2026-07-15T14:12:48.824" v="76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7:43.913" v="80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01.820" v="84" actId="11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3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4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6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6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7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7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7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7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7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7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8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8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8:13.155" v="87" actId="113"/>
          <ac:spMkLst>
            <pc:docMk/>
            <pc:sldMk cId="0" sldId="259"/>
            <ac:spMk id="8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8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9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2:39.925" v="75" actId="1076"/>
          <ac:spMkLst>
            <pc:docMk/>
            <pc:sldMk cId="0" sldId="259"/>
            <ac:spMk id="9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1:49.575" v="71" actId="403"/>
          <ac:spMkLst>
            <pc:docMk/>
            <pc:sldMk cId="0" sldId="259"/>
            <ac:spMk id="93" creationId="{00000000-0000-0000-0000-000000000000}"/>
          </ac:spMkLst>
        </pc:spChg>
        <pc:spChg chg="del">
          <ac:chgData name="Antonely Villalona" userId="26acd9b0-757c-45d2-bdf1-b43b683da2aa" providerId="ADAL" clId="{7B0469CB-2711-4ED7-949B-6C08E56E0017}" dt="2026-07-16T20:57:15.580" v="648" actId="478"/>
          <ac:spMkLst>
            <pc:docMk/>
            <pc:sldMk cId="0" sldId="259"/>
            <ac:spMk id="96" creationId="{00000000-0000-0000-0000-000000000000}"/>
          </ac:spMkLst>
        </pc:spChg>
      </pc:sldChg>
      <pc:sldChg chg="addSp delSp modSp mod">
        <pc:chgData name="Antonely Villalona" userId="26acd9b0-757c-45d2-bdf1-b43b683da2aa" providerId="ADAL" clId="{7B0469CB-2711-4ED7-949B-6C08E56E0017}" dt="2026-07-16T20:57:10.540" v="647" actId="478"/>
        <pc:sldMkLst>
          <pc:docMk/>
          <pc:sldMk cId="0" sldId="260"/>
        </pc:sldMkLst>
        <pc:spChg chg="del">
          <ac:chgData name="Antonely Villalona" userId="26acd9b0-757c-45d2-bdf1-b43b683da2aa" providerId="ADAL" clId="{7B0469CB-2711-4ED7-949B-6C08E56E0017}" dt="2026-07-15T14:19:06.522" v="93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15.172" v="9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15.172" v="94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15.172" v="94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15.172" v="94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19:23.422" v="95" actId="11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07.334" v="140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17.566" v="141" actId="1076"/>
          <ac:spMkLst>
            <pc:docMk/>
            <pc:sldMk cId="0" sldId="260"/>
            <ac:spMk id="27" creationId="{00000000-0000-0000-0000-000000000000}"/>
          </ac:spMkLst>
        </pc:spChg>
        <pc:spChg chg="add del mod">
          <ac:chgData name="Antonely Villalona" userId="26acd9b0-757c-45d2-bdf1-b43b683da2aa" providerId="ADAL" clId="{7B0469CB-2711-4ED7-949B-6C08E56E0017}" dt="2026-07-15T14:25:26.632" v="142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17.566" v="141" actId="1076"/>
          <ac:spMkLst>
            <pc:docMk/>
            <pc:sldMk cId="0" sldId="260"/>
            <ac:spMk id="33" creationId="{00000000-0000-0000-0000-000000000000}"/>
          </ac:spMkLst>
        </pc:spChg>
        <pc:spChg chg="add del mod">
          <ac:chgData name="Antonely Villalona" userId="26acd9b0-757c-45d2-bdf1-b43b683da2aa" providerId="ADAL" clId="{7B0469CB-2711-4ED7-949B-6C08E56E0017}" dt="2026-07-15T14:25:26.632" v="142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17.566" v="141" actId="1076"/>
          <ac:spMkLst>
            <pc:docMk/>
            <pc:sldMk cId="0" sldId="260"/>
            <ac:spMk id="39" creationId="{00000000-0000-0000-0000-000000000000}"/>
          </ac:spMkLst>
        </pc:spChg>
        <pc:spChg chg="add del mod">
          <ac:chgData name="Antonely Villalona" userId="26acd9b0-757c-45d2-bdf1-b43b683da2aa" providerId="ADAL" clId="{7B0469CB-2711-4ED7-949B-6C08E56E0017}" dt="2026-07-15T14:25:26.632" v="142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17.566" v="141" actId="1076"/>
          <ac:spMkLst>
            <pc:docMk/>
            <pc:sldMk cId="0" sldId="260"/>
            <ac:spMk id="45" creationId="{00000000-0000-0000-0000-000000000000}"/>
          </ac:spMkLst>
        </pc:spChg>
        <pc:spChg chg="add del mod">
          <ac:chgData name="Antonely Villalona" userId="26acd9b0-757c-45d2-bdf1-b43b683da2aa" providerId="ADAL" clId="{7B0469CB-2711-4ED7-949B-6C08E56E0017}" dt="2026-07-15T14:25:26.632" v="142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4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17.566" v="141" actId="1076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5:26.632" v="142" actId="107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6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4:23:50.829" v="124" actId="403"/>
          <ac:spMkLst>
            <pc:docMk/>
            <pc:sldMk cId="0" sldId="260"/>
            <ac:spMk id="68" creationId="{00000000-0000-0000-0000-000000000000}"/>
          </ac:spMkLst>
        </pc:spChg>
        <pc:spChg chg="del">
          <ac:chgData name="Antonely Villalona" userId="26acd9b0-757c-45d2-bdf1-b43b683da2aa" providerId="ADAL" clId="{7B0469CB-2711-4ED7-949B-6C08E56E0017}" dt="2026-07-15T14:23:38.348" v="122" actId="478"/>
          <ac:spMkLst>
            <pc:docMk/>
            <pc:sldMk cId="0" sldId="260"/>
            <ac:spMk id="74" creationId="{00000000-0000-0000-0000-000000000000}"/>
          </ac:spMkLst>
        </pc:spChg>
        <pc:spChg chg="del">
          <ac:chgData name="Antonely Villalona" userId="26acd9b0-757c-45d2-bdf1-b43b683da2aa" providerId="ADAL" clId="{7B0469CB-2711-4ED7-949B-6C08E56E0017}" dt="2026-07-15T14:23:41.256" v="123" actId="478"/>
          <ac:spMkLst>
            <pc:docMk/>
            <pc:sldMk cId="0" sldId="260"/>
            <ac:spMk id="75" creationId="{00000000-0000-0000-0000-000000000000}"/>
          </ac:spMkLst>
        </pc:spChg>
        <pc:spChg chg="del">
          <ac:chgData name="Antonely Villalona" userId="26acd9b0-757c-45d2-bdf1-b43b683da2aa" providerId="ADAL" clId="{7B0469CB-2711-4ED7-949B-6C08E56E0017}" dt="2026-07-16T20:57:10.540" v="647" actId="478"/>
          <ac:spMkLst>
            <pc:docMk/>
            <pc:sldMk cId="0" sldId="260"/>
            <ac:spMk id="78" creationId="{00000000-0000-0000-0000-000000000000}"/>
          </ac:spMkLst>
        </pc:spChg>
        <pc:graphicFrameChg chg="mod">
          <ac:chgData name="Antonely Villalona" userId="26acd9b0-757c-45d2-bdf1-b43b683da2aa" providerId="ADAL" clId="{7B0469CB-2711-4ED7-949B-6C08E56E0017}" dt="2026-07-15T14:23:12.914" v="121" actId="403"/>
          <ac:graphicFrameMkLst>
            <pc:docMk/>
            <pc:sldMk cId="0" sldId="260"/>
            <ac:graphicFrameMk id="21" creationId="{00000000-0000-0000-0000-000000000000}"/>
          </ac:graphicFrameMkLst>
        </pc:graphicFrameChg>
      </pc:sldChg>
      <pc:sldChg chg="modSp add del mod setBg">
        <pc:chgData name="Antonely Villalona" userId="26acd9b0-757c-45d2-bdf1-b43b683da2aa" providerId="ADAL" clId="{7B0469CB-2711-4ED7-949B-6C08E56E0017}" dt="2026-07-15T18:52:56.757" v="542" actId="2696"/>
        <pc:sldMkLst>
          <pc:docMk/>
          <pc:sldMk cId="0" sldId="261"/>
        </pc:sldMkLst>
        <pc:spChg chg="mod">
          <ac:chgData name="Antonely Villalona" userId="26acd9b0-757c-45d2-bdf1-b43b683da2aa" providerId="ADAL" clId="{7B0469CB-2711-4ED7-949B-6C08E56E0017}" dt="2026-07-15T18:07:05.106" v="467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7:49.245" v="479" actId="113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7:39.057" v="473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7:23.713" v="470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7:45.124" v="478" actId="403"/>
          <ac:spMkLst>
            <pc:docMk/>
            <pc:sldMk cId="0" sldId="261"/>
            <ac:spMk id="8" creationId="{00000000-0000-0000-0000-000000000000}"/>
          </ac:spMkLst>
        </pc:spChg>
        <pc:graphicFrameChg chg="mod">
          <ac:chgData name="Antonely Villalona" userId="26acd9b0-757c-45d2-bdf1-b43b683da2aa" providerId="ADAL" clId="{7B0469CB-2711-4ED7-949B-6C08E56E0017}" dt="2026-07-15T18:07:31.562" v="471" actId="1076"/>
          <ac:graphicFrameMkLst>
            <pc:docMk/>
            <pc:sldMk cId="0" sldId="261"/>
            <ac:graphicFrameMk id="6" creationId="{00000000-0000-0000-0000-000000000000}"/>
          </ac:graphicFrameMkLst>
        </pc:graphicFrameChg>
      </pc:sldChg>
      <pc:sldChg chg="delSp add mod setBg">
        <pc:chgData name="Antonely Villalona" userId="26acd9b0-757c-45d2-bdf1-b43b683da2aa" providerId="ADAL" clId="{7B0469CB-2711-4ED7-949B-6C08E56E0017}" dt="2026-07-16T20:57:35.873" v="651" actId="478"/>
        <pc:sldMkLst>
          <pc:docMk/>
          <pc:sldMk cId="0" sldId="262"/>
        </pc:sldMkLst>
        <pc:spChg chg="del">
          <ac:chgData name="Antonely Villalona" userId="26acd9b0-757c-45d2-bdf1-b43b683da2aa" providerId="ADAL" clId="{7B0469CB-2711-4ED7-949B-6C08E56E0017}" dt="2026-07-16T20:57:35.873" v="651" actId="478"/>
          <ac:spMkLst>
            <pc:docMk/>
            <pc:sldMk cId="0" sldId="262"/>
            <ac:spMk id="281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08:05.120" v="481" actId="403"/>
        <pc:sldMkLst>
          <pc:docMk/>
          <pc:sldMk cId="0" sldId="263"/>
        </pc:sldMkLst>
        <pc:spChg chg="mod">
          <ac:chgData name="Antonely Villalona" userId="26acd9b0-757c-45d2-bdf1-b43b683da2aa" providerId="ADAL" clId="{7B0469CB-2711-4ED7-949B-6C08E56E0017}" dt="2026-07-15T18:07:58.515" v="480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05.120" v="481" actId="403"/>
          <ac:spMkLst>
            <pc:docMk/>
            <pc:sldMk cId="0" sldId="263"/>
            <ac:spMk id="6" creationId="{00000000-0000-0000-0000-000000000000}"/>
          </ac:spMkLst>
        </pc:spChg>
      </pc:sldChg>
      <pc:sldChg chg="add del">
        <pc:chgData name="Antonely Villalona" userId="26acd9b0-757c-45d2-bdf1-b43b683da2aa" providerId="ADAL" clId="{7B0469CB-2711-4ED7-949B-6C08E56E0017}" dt="2026-07-15T16:02:08.291" v="411" actId="2696"/>
        <pc:sldMkLst>
          <pc:docMk/>
          <pc:sldMk cId="0" sldId="265"/>
        </pc:sldMkLst>
      </pc:sldChg>
      <pc:sldChg chg="modSp add mod setBg">
        <pc:chgData name="Antonely Villalona" userId="26acd9b0-757c-45d2-bdf1-b43b683da2aa" providerId="ADAL" clId="{7B0469CB-2711-4ED7-949B-6C08E56E0017}" dt="2026-07-15T18:08:20.685" v="486" actId="207"/>
        <pc:sldMkLst>
          <pc:docMk/>
          <pc:sldMk cId="0" sldId="266"/>
        </pc:sldMkLst>
        <pc:spChg chg="mod">
          <ac:chgData name="Antonely Villalona" userId="26acd9b0-757c-45d2-bdf1-b43b683da2aa" providerId="ADAL" clId="{7B0469CB-2711-4ED7-949B-6C08E56E0017}" dt="2026-07-15T18:08:20.685" v="486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17.007" v="485" actId="404"/>
          <ac:spMkLst>
            <pc:docMk/>
            <pc:sldMk cId="0" sldId="266"/>
            <ac:spMk id="50" creationId="{92ACD49B-A9F0-0C0A-56C9-8B9604CAD41B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53:20.439" v="544" actId="14100"/>
        <pc:sldMkLst>
          <pc:docMk/>
          <pc:sldMk cId="0" sldId="269"/>
        </pc:sldMkLst>
        <pc:spChg chg="mod">
          <ac:chgData name="Antonely Villalona" userId="26acd9b0-757c-45d2-bdf1-b43b683da2aa" providerId="ADAL" clId="{7B0469CB-2711-4ED7-949B-6C08E56E0017}" dt="2026-07-15T18:08:32.695" v="489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30.897" v="488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53:17.691" v="543" actId="14100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2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53:20.439" v="544" actId="14100"/>
          <ac:spMkLst>
            <pc:docMk/>
            <pc:sldMk cId="0" sldId="269"/>
            <ac:spMk id="2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17.581" v="500" actId="2057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8:44.365" v="491" actId="403"/>
          <ac:spMkLst>
            <pc:docMk/>
            <pc:sldMk cId="0" sldId="269"/>
            <ac:spMk id="27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09:47.200" v="509" actId="403"/>
        <pc:sldMkLst>
          <pc:docMk/>
          <pc:sldMk cId="0" sldId="270"/>
        </pc:sldMkLst>
        <pc:spChg chg="mod">
          <ac:chgData name="Antonely Villalona" userId="26acd9b0-757c-45d2-bdf1-b43b683da2aa" providerId="ADAL" clId="{7B0469CB-2711-4ED7-949B-6C08E56E0017}" dt="2026-07-15T18:09:22.129" v="501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9.368" v="507" actId="403"/>
          <ac:spMkLst>
            <pc:docMk/>
            <pc:sldMk cId="0" sldId="270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47.200" v="509" actId="403"/>
          <ac:spMkLst>
            <pc:docMk/>
            <pc:sldMk cId="0" sldId="270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9:32.998" v="504" actId="404"/>
          <ac:spMkLst>
            <pc:docMk/>
            <pc:sldMk cId="0" sldId="270"/>
            <ac:spMk id="17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10:17.265" v="518" actId="404"/>
        <pc:sldMkLst>
          <pc:docMk/>
          <pc:sldMk cId="0" sldId="271"/>
        </pc:sldMkLst>
        <pc:spChg chg="mod">
          <ac:chgData name="Antonely Villalona" userId="26acd9b0-757c-45d2-bdf1-b43b683da2aa" providerId="ADAL" clId="{7B0469CB-2711-4ED7-949B-6C08E56E0017}" dt="2026-07-15T18:09:56.282" v="510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2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2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17.265" v="518" actId="404"/>
          <ac:spMkLst>
            <pc:docMk/>
            <pc:sldMk cId="0" sldId="271"/>
            <ac:spMk id="27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10:37.912" v="523" actId="403"/>
        <pc:sldMkLst>
          <pc:docMk/>
          <pc:sldMk cId="0" sldId="273"/>
        </pc:sldMkLst>
        <pc:spChg chg="mod">
          <ac:chgData name="Antonely Villalona" userId="26acd9b0-757c-45d2-bdf1-b43b683da2aa" providerId="ADAL" clId="{7B0469CB-2711-4ED7-949B-6C08E56E0017}" dt="2026-07-15T18:10:23.965" v="519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7.912" v="523" actId="403"/>
          <ac:spMkLst>
            <pc:docMk/>
            <pc:sldMk cId="0" sldId="273"/>
            <ac:spMk id="1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10:31.821" v="521" actId="1076"/>
          <ac:spMkLst>
            <pc:docMk/>
            <pc:sldMk cId="0" sldId="273"/>
            <ac:spMk id="14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6:03:30.676" v="417" actId="20577"/>
        <pc:sldMkLst>
          <pc:docMk/>
          <pc:sldMk cId="1035929799" sldId="274"/>
        </pc:sldMkLst>
        <pc:spChg chg="mod">
          <ac:chgData name="Antonely Villalona" userId="26acd9b0-757c-45d2-bdf1-b43b683da2aa" providerId="ADAL" clId="{7B0469CB-2711-4ED7-949B-6C08E56E0017}" dt="2026-07-15T16:03:30.676" v="417" actId="20577"/>
          <ac:spMkLst>
            <pc:docMk/>
            <pc:sldMk cId="1035929799" sldId="274"/>
            <ac:spMk id="6" creationId="{00000000-0000-0000-0000-000000000000}"/>
          </ac:spMkLst>
        </pc:spChg>
      </pc:sldChg>
      <pc:sldChg chg="add del">
        <pc:chgData name="Antonely Villalona" userId="26acd9b0-757c-45d2-bdf1-b43b683da2aa" providerId="ADAL" clId="{7B0469CB-2711-4ED7-949B-6C08E56E0017}" dt="2026-07-15T16:04:07.728" v="425" actId="2696"/>
        <pc:sldMkLst>
          <pc:docMk/>
          <pc:sldMk cId="3266906053" sldId="278"/>
        </pc:sldMkLst>
      </pc:sldChg>
      <pc:sldChg chg="add del">
        <pc:chgData name="Antonely Villalona" userId="26acd9b0-757c-45d2-bdf1-b43b683da2aa" providerId="ADAL" clId="{7B0469CB-2711-4ED7-949B-6C08E56E0017}" dt="2026-07-15T19:01:17.069" v="552" actId="2696"/>
        <pc:sldMkLst>
          <pc:docMk/>
          <pc:sldMk cId="1420171219" sldId="280"/>
        </pc:sldMkLst>
      </pc:sldChg>
      <pc:sldChg chg="add">
        <pc:chgData name="Antonely Villalona" userId="26acd9b0-757c-45d2-bdf1-b43b683da2aa" providerId="ADAL" clId="{7B0469CB-2711-4ED7-949B-6C08E56E0017}" dt="2026-07-15T16:01:57.503" v="410"/>
        <pc:sldMkLst>
          <pc:docMk/>
          <pc:sldMk cId="813959639" sldId="289"/>
        </pc:sldMkLst>
      </pc:sldChg>
      <pc:sldChg chg="add">
        <pc:chgData name="Antonely Villalona" userId="26acd9b0-757c-45d2-bdf1-b43b683da2aa" providerId="ADAL" clId="{7B0469CB-2711-4ED7-949B-6C08E56E0017}" dt="2026-07-15T16:01:57.503" v="410"/>
        <pc:sldMkLst>
          <pc:docMk/>
          <pc:sldMk cId="2654272242" sldId="290"/>
        </pc:sldMkLst>
      </pc:sldChg>
      <pc:sldChg chg="modSp add mod setBg">
        <pc:chgData name="Antonely Villalona" userId="26acd9b0-757c-45d2-bdf1-b43b683da2aa" providerId="ADAL" clId="{7B0469CB-2711-4ED7-949B-6C08E56E0017}" dt="2026-07-15T18:34:44.234" v="535" actId="403"/>
        <pc:sldMkLst>
          <pc:docMk/>
          <pc:sldMk cId="1484756813" sldId="291"/>
        </pc:sldMkLst>
        <pc:spChg chg="mod">
          <ac:chgData name="Antonely Villalona" userId="26acd9b0-757c-45d2-bdf1-b43b683da2aa" providerId="ADAL" clId="{7B0469CB-2711-4ED7-949B-6C08E56E0017}" dt="2026-07-15T16:03:37.676" v="422" actId="20577"/>
          <ac:spMkLst>
            <pc:docMk/>
            <pc:sldMk cId="1484756813" sldId="291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34:44.234" v="535" actId="403"/>
          <ac:spMkLst>
            <pc:docMk/>
            <pc:sldMk cId="1484756813" sldId="291"/>
            <ac:spMk id="9" creationId="{00000000-0000-0000-0000-000000000000}"/>
          </ac:spMkLst>
        </pc:spChg>
        <pc:graphicFrameChg chg="mod">
          <ac:chgData name="Antonely Villalona" userId="26acd9b0-757c-45d2-bdf1-b43b683da2aa" providerId="ADAL" clId="{7B0469CB-2711-4ED7-949B-6C08E56E0017}" dt="2026-07-15T14:34:50.882" v="167"/>
          <ac:graphicFrameMkLst>
            <pc:docMk/>
            <pc:sldMk cId="1484756813" sldId="291"/>
            <ac:graphicFrameMk id="8" creationId="{00000000-0000-0000-0000-000000000000}"/>
          </ac:graphicFrameMkLst>
        </pc:graphicFrameChg>
      </pc:sldChg>
      <pc:sldChg chg="modSp add mod">
        <pc:chgData name="Antonely Villalona" userId="26acd9b0-757c-45d2-bdf1-b43b683da2aa" providerId="ADAL" clId="{7B0469CB-2711-4ED7-949B-6C08E56E0017}" dt="2026-07-15T18:01:14.358" v="432" actId="14100"/>
        <pc:sldMkLst>
          <pc:docMk/>
          <pc:sldMk cId="1253904316" sldId="292"/>
        </pc:sldMkLst>
        <pc:picChg chg="mod">
          <ac:chgData name="Antonely Villalona" userId="26acd9b0-757c-45d2-bdf1-b43b683da2aa" providerId="ADAL" clId="{7B0469CB-2711-4ED7-949B-6C08E56E0017}" dt="2026-07-15T18:01:07.274" v="429" actId="14100"/>
          <ac:picMkLst>
            <pc:docMk/>
            <pc:sldMk cId="1253904316" sldId="292"/>
            <ac:picMk id="12" creationId="{233867F8-C797-2B9D-50CE-2B1CEB40BEFD}"/>
          </ac:picMkLst>
        </pc:picChg>
        <pc:picChg chg="mod">
          <ac:chgData name="Antonely Villalona" userId="26acd9b0-757c-45d2-bdf1-b43b683da2aa" providerId="ADAL" clId="{7B0469CB-2711-4ED7-949B-6C08E56E0017}" dt="2026-07-15T18:01:11.961" v="431" actId="1076"/>
          <ac:picMkLst>
            <pc:docMk/>
            <pc:sldMk cId="1253904316" sldId="292"/>
            <ac:picMk id="15" creationId="{5D4483BF-538E-3CB1-CBC8-7AB1474BA83B}"/>
          </ac:picMkLst>
        </pc:picChg>
        <pc:picChg chg="mod">
          <ac:chgData name="Antonely Villalona" userId="26acd9b0-757c-45d2-bdf1-b43b683da2aa" providerId="ADAL" clId="{7B0469CB-2711-4ED7-949B-6C08E56E0017}" dt="2026-07-15T18:01:14.358" v="432" actId="14100"/>
          <ac:picMkLst>
            <pc:docMk/>
            <pc:sldMk cId="1253904316" sldId="292"/>
            <ac:picMk id="17" creationId="{3B7210EE-55ED-BB84-5F9A-357020C4BC12}"/>
          </ac:picMkLst>
        </pc:picChg>
      </pc:sldChg>
      <pc:sldChg chg="modSp add mod setBg">
        <pc:chgData name="Antonely Villalona" userId="26acd9b0-757c-45d2-bdf1-b43b683da2aa" providerId="ADAL" clId="{7B0469CB-2711-4ED7-949B-6C08E56E0017}" dt="2026-07-15T14:33:26.450" v="153" actId="20577"/>
        <pc:sldMkLst>
          <pc:docMk/>
          <pc:sldMk cId="701719201" sldId="305"/>
        </pc:sldMkLst>
        <pc:spChg chg="mod">
          <ac:chgData name="Antonely Villalona" userId="26acd9b0-757c-45d2-bdf1-b43b683da2aa" providerId="ADAL" clId="{7B0469CB-2711-4ED7-949B-6C08E56E0017}" dt="2026-07-15T14:33:26.450" v="153" actId="20577"/>
          <ac:spMkLst>
            <pc:docMk/>
            <pc:sldMk cId="701719201" sldId="305"/>
            <ac:spMk id="6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6T21:06:00.240" v="682" actId="14100"/>
        <pc:sldMkLst>
          <pc:docMk/>
          <pc:sldMk cId="3911017437" sldId="331"/>
        </pc:sldMkLst>
        <pc:spChg chg="mod">
          <ac:chgData name="Antonely Villalona" userId="26acd9b0-757c-45d2-bdf1-b43b683da2aa" providerId="ADAL" clId="{7B0469CB-2711-4ED7-949B-6C08E56E0017}" dt="2026-07-15T14:33:33.266" v="162" actId="20577"/>
          <ac:spMkLst>
            <pc:docMk/>
            <pc:sldMk cId="3911017437" sldId="331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6T21:06:00.240" v="682" actId="14100"/>
          <ac:spMkLst>
            <pc:docMk/>
            <pc:sldMk cId="3911017437" sldId="331"/>
            <ac:spMk id="7" creationId="{00000000-0000-0000-0000-000000000000}"/>
          </ac:spMkLst>
        </pc:spChg>
      </pc:sldChg>
      <pc:sldChg chg="add">
        <pc:chgData name="Antonely Villalona" userId="26acd9b0-757c-45d2-bdf1-b43b683da2aa" providerId="ADAL" clId="{7B0469CB-2711-4ED7-949B-6C08E56E0017}" dt="2026-07-15T16:02:37.233" v="412"/>
        <pc:sldMkLst>
          <pc:docMk/>
          <pc:sldMk cId="0" sldId="342"/>
        </pc:sldMkLst>
      </pc:sldChg>
      <pc:sldChg chg="addSp delSp modSp add mod">
        <pc:chgData name="Antonely Villalona" userId="26acd9b0-757c-45d2-bdf1-b43b683da2aa" providerId="ADAL" clId="{7B0469CB-2711-4ED7-949B-6C08E56E0017}" dt="2026-07-16T21:04:58.690" v="677" actId="931"/>
        <pc:sldMkLst>
          <pc:docMk/>
          <pc:sldMk cId="2850179651" sldId="354"/>
        </pc:sldMkLst>
        <pc:picChg chg="add del mod">
          <ac:chgData name="Antonely Villalona" userId="26acd9b0-757c-45d2-bdf1-b43b683da2aa" providerId="ADAL" clId="{7B0469CB-2711-4ED7-949B-6C08E56E0017}" dt="2026-07-16T21:04:58.690" v="677" actId="931"/>
          <ac:picMkLst>
            <pc:docMk/>
            <pc:sldMk cId="2850179651" sldId="354"/>
            <ac:picMk id="4" creationId="{7815291B-3935-B8EB-1F39-09D68C4F23A8}"/>
          </ac:picMkLst>
        </pc:picChg>
      </pc:sldChg>
      <pc:sldChg chg="add">
        <pc:chgData name="Antonely Villalona" userId="26acd9b0-757c-45d2-bdf1-b43b683da2aa" providerId="ADAL" clId="{7B0469CB-2711-4ED7-949B-6C08E56E0017}" dt="2026-07-15T18:11:01.188" v="524"/>
        <pc:sldMkLst>
          <pc:docMk/>
          <pc:sldMk cId="3365914153" sldId="355"/>
        </pc:sldMkLst>
      </pc:sldChg>
      <pc:sldChg chg="add setBg">
        <pc:chgData name="Antonely Villalona" userId="26acd9b0-757c-45d2-bdf1-b43b683da2aa" providerId="ADAL" clId="{7B0469CB-2711-4ED7-949B-6C08E56E0017}" dt="2026-07-15T14:33:16.989" v="144"/>
        <pc:sldMkLst>
          <pc:docMk/>
          <pc:sldMk cId="1913548585" sldId="356"/>
        </pc:sldMkLst>
      </pc:sldChg>
      <pc:sldChg chg="delSp modSp add del mod">
        <pc:chgData name="Antonely Villalona" userId="26acd9b0-757c-45d2-bdf1-b43b683da2aa" providerId="ADAL" clId="{7B0469CB-2711-4ED7-949B-6C08E56E0017}" dt="2026-07-15T15:10:55.238" v="406" actId="1076"/>
        <pc:sldMkLst>
          <pc:docMk/>
          <pc:sldMk cId="0" sldId="357"/>
        </pc:sldMkLst>
        <pc:spChg chg="del mod">
          <ac:chgData name="Antonely Villalona" userId="26acd9b0-757c-45d2-bdf1-b43b683da2aa" providerId="ADAL" clId="{7B0469CB-2711-4ED7-949B-6C08E56E0017}" dt="2026-07-15T15:10:42.890" v="405" actId="478"/>
          <ac:spMkLst>
            <pc:docMk/>
            <pc:sldMk cId="0" sldId="357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1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03:25.056" v="190" actId="403"/>
          <ac:spMkLst>
            <pc:docMk/>
            <pc:sldMk cId="0" sldId="357"/>
            <ac:spMk id="3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4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5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03:25.056" v="190" actId="403"/>
          <ac:spMkLst>
            <pc:docMk/>
            <pc:sldMk cId="0" sldId="357"/>
            <ac:spMk id="5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6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7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7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7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8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8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9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9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03:25.056" v="190" actId="403"/>
          <ac:spMkLst>
            <pc:docMk/>
            <pc:sldMk cId="0" sldId="357"/>
            <ac:spMk id="10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10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1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12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55.238" v="406" actId="1076"/>
          <ac:spMkLst>
            <pc:docMk/>
            <pc:sldMk cId="0" sldId="357"/>
            <ac:spMk id="13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13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32.375" v="404" actId="14100"/>
          <ac:spMkLst>
            <pc:docMk/>
            <pc:sldMk cId="0" sldId="357"/>
            <ac:spMk id="13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10:20.214" v="403" actId="14100"/>
          <ac:spMkLst>
            <pc:docMk/>
            <pc:sldMk cId="0" sldId="357"/>
            <ac:spMk id="14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5:09:56.520" v="402" actId="20577"/>
          <ac:spMkLst>
            <pc:docMk/>
            <pc:sldMk cId="0" sldId="357"/>
            <ac:spMk id="144" creationId="{00000000-0000-0000-0000-000000000000}"/>
          </ac:spMkLst>
        </pc:spChg>
      </pc:sldChg>
      <pc:sldChg chg="add del setBg">
        <pc:chgData name="Antonely Villalona" userId="26acd9b0-757c-45d2-bdf1-b43b683da2aa" providerId="ADAL" clId="{7B0469CB-2711-4ED7-949B-6C08E56E0017}" dt="2026-07-15T16:00:27.144" v="409" actId="2696"/>
        <pc:sldMkLst>
          <pc:docMk/>
          <pc:sldMk cId="0" sldId="358"/>
        </pc:sldMkLst>
      </pc:sldChg>
      <pc:sldChg chg="modSp add mod setBg">
        <pc:chgData name="Antonely Villalona" userId="26acd9b0-757c-45d2-bdf1-b43b683da2aa" providerId="ADAL" clId="{7B0469CB-2711-4ED7-949B-6C08E56E0017}" dt="2026-07-15T18:05:56.153" v="457" actId="14100"/>
        <pc:sldMkLst>
          <pc:docMk/>
          <pc:sldMk cId="0" sldId="359"/>
        </pc:sldMkLst>
        <pc:spChg chg="mod">
          <ac:chgData name="Antonely Villalona" userId="26acd9b0-757c-45d2-bdf1-b43b683da2aa" providerId="ADAL" clId="{7B0469CB-2711-4ED7-949B-6C08E56E0017}" dt="2026-07-15T18:03:37.571" v="438" actId="207"/>
          <ac:spMkLst>
            <pc:docMk/>
            <pc:sldMk cId="0" sldId="359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00.842" v="448" actId="14100"/>
          <ac:spMkLst>
            <pc:docMk/>
            <pc:sldMk cId="0" sldId="359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35.560" v="455" actId="403"/>
          <ac:spMkLst>
            <pc:docMk/>
            <pc:sldMk cId="0" sldId="359"/>
            <ac:spMk id="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23.332" v="442" actId="113"/>
          <ac:spMkLst>
            <pc:docMk/>
            <pc:sldMk cId="0" sldId="359"/>
            <ac:spMk id="9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35.560" v="455" actId="403"/>
          <ac:spMkLst>
            <pc:docMk/>
            <pc:sldMk cId="0" sldId="359"/>
            <ac:spMk id="10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1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1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35.560" v="455" actId="403"/>
          <ac:spMkLst>
            <pc:docMk/>
            <pc:sldMk cId="0" sldId="359"/>
            <ac:spMk id="1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1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16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23.332" v="442" actId="113"/>
          <ac:spMkLst>
            <pc:docMk/>
            <pc:sldMk cId="0" sldId="359"/>
            <ac:spMk id="17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35.560" v="455" actId="403"/>
          <ac:spMkLst>
            <pc:docMk/>
            <pc:sldMk cId="0" sldId="359"/>
            <ac:spMk id="18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21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35.560" v="455" actId="403"/>
          <ac:spMkLst>
            <pc:docMk/>
            <pc:sldMk cId="0" sldId="359"/>
            <ac:spMk id="2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56.153" v="457" actId="14100"/>
          <ac:spMkLst>
            <pc:docMk/>
            <pc:sldMk cId="0" sldId="359"/>
            <ac:spMk id="24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4:51.221" v="447" actId="207"/>
          <ac:spMkLst>
            <pc:docMk/>
            <pc:sldMk cId="0" sldId="359"/>
            <ac:spMk id="2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5:49.836" v="456" actId="20577"/>
          <ac:spMkLst>
            <pc:docMk/>
            <pc:sldMk cId="0" sldId="359"/>
            <ac:spMk id="26" creationId="{00000000-0000-0000-0000-000000000000}"/>
          </ac:spMkLst>
        </pc:spChg>
      </pc:sldChg>
      <pc:sldChg chg="modSp add mod setBg">
        <pc:chgData name="Antonely Villalona" userId="26acd9b0-757c-45d2-bdf1-b43b683da2aa" providerId="ADAL" clId="{7B0469CB-2711-4ED7-949B-6C08E56E0017}" dt="2026-07-15T18:55:52.676" v="550" actId="404"/>
        <pc:sldMkLst>
          <pc:docMk/>
          <pc:sldMk cId="0" sldId="360"/>
        </pc:sldMkLst>
        <pc:spChg chg="mod">
          <ac:chgData name="Antonely Villalona" userId="26acd9b0-757c-45d2-bdf1-b43b683da2aa" providerId="ADAL" clId="{7B0469CB-2711-4ED7-949B-6C08E56E0017}" dt="2026-07-15T18:06:09.960" v="458" actId="207"/>
          <ac:spMkLst>
            <pc:docMk/>
            <pc:sldMk cId="0" sldId="360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6:21.358" v="460" actId="403"/>
          <ac:spMkLst>
            <pc:docMk/>
            <pc:sldMk cId="0" sldId="360"/>
            <ac:spMk id="6" creationId="{00000000-0000-0000-0000-000000000000}"/>
          </ac:spMkLst>
        </pc:spChg>
        <pc:graphicFrameChg chg="mod">
          <ac:chgData name="Antonely Villalona" userId="26acd9b0-757c-45d2-bdf1-b43b683da2aa" providerId="ADAL" clId="{7B0469CB-2711-4ED7-949B-6C08E56E0017}" dt="2026-07-15T18:55:52.676" v="550" actId="404"/>
          <ac:graphicFrameMkLst>
            <pc:docMk/>
            <pc:sldMk cId="0" sldId="360"/>
            <ac:graphicFrameMk id="4" creationId="{00000000-0000-0000-0000-000000000000}"/>
          </ac:graphicFrameMkLst>
        </pc:graphicFrameChg>
      </pc:sldChg>
      <pc:sldChg chg="modSp add mod setBg">
        <pc:chgData name="Antonely Villalona" userId="26acd9b0-757c-45d2-bdf1-b43b683da2aa" providerId="ADAL" clId="{7B0469CB-2711-4ED7-949B-6C08E56E0017}" dt="2026-07-15T18:06:56.894" v="466" actId="14100"/>
        <pc:sldMkLst>
          <pc:docMk/>
          <pc:sldMk cId="0" sldId="361"/>
        </pc:sldMkLst>
        <pc:spChg chg="mod">
          <ac:chgData name="Antonely Villalona" userId="26acd9b0-757c-45d2-bdf1-b43b683da2aa" providerId="ADAL" clId="{7B0469CB-2711-4ED7-949B-6C08E56E0017}" dt="2026-07-15T18:06:38.735" v="462" actId="207"/>
          <ac:spMkLst>
            <pc:docMk/>
            <pc:sldMk cId="0" sldId="361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06:56.894" v="466" actId="14100"/>
          <ac:spMkLst>
            <pc:docMk/>
            <pc:sldMk cId="0" sldId="361"/>
            <ac:spMk id="12" creationId="{00000000-0000-0000-0000-000000000000}"/>
          </ac:spMkLst>
        </pc:spChg>
      </pc:sldChg>
      <pc:sldChg chg="add setBg">
        <pc:chgData name="Antonely Villalona" userId="26acd9b0-757c-45d2-bdf1-b43b683da2aa" providerId="ADAL" clId="{7B0469CB-2711-4ED7-949B-6C08E56E0017}" dt="2026-07-15T15:59:49.673" v="407"/>
        <pc:sldMkLst>
          <pc:docMk/>
          <pc:sldMk cId="0" sldId="362"/>
        </pc:sldMkLst>
      </pc:sldChg>
      <pc:sldChg chg="modSp add mod">
        <pc:chgData name="Antonely Villalona" userId="26acd9b0-757c-45d2-bdf1-b43b683da2aa" providerId="ADAL" clId="{7B0469CB-2711-4ED7-949B-6C08E56E0017}" dt="2026-07-15T18:35:17.566" v="537" actId="14100"/>
        <pc:sldMkLst>
          <pc:docMk/>
          <pc:sldMk cId="0" sldId="363"/>
        </pc:sldMkLst>
        <pc:spChg chg="mod">
          <ac:chgData name="Antonely Villalona" userId="26acd9b0-757c-45d2-bdf1-b43b683da2aa" providerId="ADAL" clId="{7B0469CB-2711-4ED7-949B-6C08E56E0017}" dt="2026-07-15T16:03:58.143" v="424" actId="120"/>
          <ac:spMkLst>
            <pc:docMk/>
            <pc:sldMk cId="0" sldId="363"/>
            <ac:spMk id="2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35:11.686" v="536" actId="1076"/>
          <ac:spMkLst>
            <pc:docMk/>
            <pc:sldMk cId="0" sldId="363"/>
            <ac:spMk id="11" creationId="{6E8E5376-9C5F-05DB-7A5A-05929922A6D5}"/>
          </ac:spMkLst>
        </pc:spChg>
        <pc:spChg chg="mod">
          <ac:chgData name="Antonely Villalona" userId="26acd9b0-757c-45d2-bdf1-b43b683da2aa" providerId="ADAL" clId="{7B0469CB-2711-4ED7-949B-6C08E56E0017}" dt="2026-07-15T18:35:17.566" v="537" actId="14100"/>
          <ac:spMkLst>
            <pc:docMk/>
            <pc:sldMk cId="0" sldId="363"/>
            <ac:spMk id="22" creationId="{F0E8B30B-11AA-CB25-28AD-E08D7F31F805}"/>
          </ac:spMkLst>
        </pc:spChg>
      </pc:sldChg>
      <pc:sldChg chg="add">
        <pc:chgData name="Antonely Villalona" userId="26acd9b0-757c-45d2-bdf1-b43b683da2aa" providerId="ADAL" clId="{7B0469CB-2711-4ED7-949B-6C08E56E0017}" dt="2026-07-15T16:01:57.503" v="410"/>
        <pc:sldMkLst>
          <pc:docMk/>
          <pc:sldMk cId="0" sldId="364"/>
        </pc:sldMkLst>
      </pc:sldChg>
      <pc:sldChg chg="add">
        <pc:chgData name="Antonely Villalona" userId="26acd9b0-757c-45d2-bdf1-b43b683da2aa" providerId="ADAL" clId="{7B0469CB-2711-4ED7-949B-6C08E56E0017}" dt="2026-07-15T16:01:57.503" v="410"/>
        <pc:sldMkLst>
          <pc:docMk/>
          <pc:sldMk cId="0" sldId="365"/>
        </pc:sldMkLst>
      </pc:sldChg>
      <pc:sldChg chg="add">
        <pc:chgData name="Antonely Villalona" userId="26acd9b0-757c-45d2-bdf1-b43b683da2aa" providerId="ADAL" clId="{7B0469CB-2711-4ED7-949B-6C08E56E0017}" dt="2026-07-15T16:01:57.503" v="410"/>
        <pc:sldMkLst>
          <pc:docMk/>
          <pc:sldMk cId="0" sldId="366"/>
        </pc:sldMkLst>
      </pc:sldChg>
      <pc:sldChg chg="add del">
        <pc:chgData name="Antonely Villalona" userId="26acd9b0-757c-45d2-bdf1-b43b683da2aa" providerId="ADAL" clId="{7B0469CB-2711-4ED7-949B-6C08E56E0017}" dt="2026-07-15T16:06:32.345" v="428" actId="2696"/>
        <pc:sldMkLst>
          <pc:docMk/>
          <pc:sldMk cId="2917829985" sldId="367"/>
        </pc:sldMkLst>
      </pc:sldChg>
      <pc:sldChg chg="modSp add mod">
        <pc:chgData name="Antonely Villalona" userId="26acd9b0-757c-45d2-bdf1-b43b683da2aa" providerId="ADAL" clId="{7B0469CB-2711-4ED7-949B-6C08E56E0017}" dt="2026-07-15T18:03:19.620" v="437" actId="14100"/>
        <pc:sldMkLst>
          <pc:docMk/>
          <pc:sldMk cId="0" sldId="368"/>
        </pc:sldMkLst>
        <pc:spChg chg="mod">
          <ac:chgData name="Antonely Villalona" userId="26acd9b0-757c-45d2-bdf1-b43b683da2aa" providerId="ADAL" clId="{7B0469CB-2711-4ED7-949B-6C08E56E0017}" dt="2026-07-15T18:03:16.180" v="436" actId="20577"/>
          <ac:spMkLst>
            <pc:docMk/>
            <pc:sldMk cId="0" sldId="368"/>
            <ac:spMk id="2" creationId="{27047634-E5E7-CAF5-D104-F617B57635B2}"/>
          </ac:spMkLst>
        </pc:spChg>
        <pc:spChg chg="mod">
          <ac:chgData name="Antonely Villalona" userId="26acd9b0-757c-45d2-bdf1-b43b683da2aa" providerId="ADAL" clId="{7B0469CB-2711-4ED7-949B-6C08E56E0017}" dt="2026-07-15T16:04:27.545" v="427" actId="120"/>
          <ac:spMkLst>
            <pc:docMk/>
            <pc:sldMk cId="0" sldId="368"/>
            <ac:spMk id="3" creationId="{00000000-0000-0000-0000-000000000000}"/>
          </ac:spMkLst>
        </pc:spChg>
        <pc:picChg chg="mod">
          <ac:chgData name="Antonely Villalona" userId="26acd9b0-757c-45d2-bdf1-b43b683da2aa" providerId="ADAL" clId="{7B0469CB-2711-4ED7-949B-6C08E56E0017}" dt="2026-07-15T18:03:19.620" v="437" actId="14100"/>
          <ac:picMkLst>
            <pc:docMk/>
            <pc:sldMk cId="0" sldId="368"/>
            <ac:picMk id="7" creationId="{64D8E03B-B9B1-D4D2-A094-2EC6142AA83F}"/>
          </ac:picMkLst>
        </pc:picChg>
      </pc:sldChg>
      <pc:sldChg chg="modSp add del mod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397"/>
        </pc:sldMkLst>
        <pc:spChg chg="mod">
          <ac:chgData name="Antonely Villalona" userId="26acd9b0-757c-45d2-bdf1-b43b683da2aa" providerId="ADAL" clId="{7B0469CB-2711-4ED7-949B-6C08E56E0017}" dt="2026-07-15T18:21:06.511" v="526" actId="207"/>
          <ac:spMkLst>
            <pc:docMk/>
            <pc:sldMk cId="0" sldId="397"/>
            <ac:spMk id="5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21:09.435" v="527" actId="113"/>
          <ac:spMkLst>
            <pc:docMk/>
            <pc:sldMk cId="0" sldId="397"/>
            <ac:spMk id="6" creationId="{00000000-0000-0000-0000-000000000000}"/>
          </ac:spMkLst>
        </pc:spChg>
      </pc:sldChg>
      <pc:sldChg chg="add del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398"/>
        </pc:sldMkLst>
      </pc:sldChg>
      <pc:sldChg chg="modSp add del mod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399"/>
        </pc:sldMkLst>
        <pc:spChg chg="mod">
          <ac:chgData name="Antonely Villalona" userId="26acd9b0-757c-45d2-bdf1-b43b683da2aa" providerId="ADAL" clId="{7B0469CB-2711-4ED7-949B-6C08E56E0017}" dt="2026-07-15T18:21:39.389" v="532" actId="113"/>
          <ac:spMkLst>
            <pc:docMk/>
            <pc:sldMk cId="0" sldId="399"/>
            <ac:spMk id="3" creationId="{00000000-0000-0000-0000-000000000000}"/>
          </ac:spMkLst>
        </pc:spChg>
      </pc:sldChg>
      <pc:sldChg chg="modSp add del mod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400"/>
        </pc:sldMkLst>
        <pc:spChg chg="mod">
          <ac:chgData name="Antonely Villalona" userId="26acd9b0-757c-45d2-bdf1-b43b683da2aa" providerId="ADAL" clId="{7B0469CB-2711-4ED7-949B-6C08E56E0017}" dt="2026-07-15T18:21:34.258" v="531" actId="113"/>
          <ac:spMkLst>
            <pc:docMk/>
            <pc:sldMk cId="0" sldId="400"/>
            <ac:spMk id="3" creationId="{00000000-0000-0000-0000-000000000000}"/>
          </ac:spMkLst>
        </pc:spChg>
      </pc:sldChg>
      <pc:sldChg chg="modSp add del mod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401"/>
        </pc:sldMkLst>
        <pc:spChg chg="mod">
          <ac:chgData name="Antonely Villalona" userId="26acd9b0-757c-45d2-bdf1-b43b683da2aa" providerId="ADAL" clId="{7B0469CB-2711-4ED7-949B-6C08E56E0017}" dt="2026-07-15T18:21:30.470" v="530" actId="113"/>
          <ac:spMkLst>
            <pc:docMk/>
            <pc:sldMk cId="0" sldId="401"/>
            <ac:spMk id="3" creationId="{00000000-0000-0000-0000-000000000000}"/>
          </ac:spMkLst>
        </pc:spChg>
      </pc:sldChg>
      <pc:sldChg chg="modSp add del mod setBg">
        <pc:chgData name="Antonely Villalona" userId="26acd9b0-757c-45d2-bdf1-b43b683da2aa" providerId="ADAL" clId="{7B0469CB-2711-4ED7-949B-6C08E56E0017}" dt="2026-07-15T18:50:15.094" v="541" actId="2696"/>
        <pc:sldMkLst>
          <pc:docMk/>
          <pc:sldMk cId="0" sldId="402"/>
        </pc:sldMkLst>
        <pc:spChg chg="mod">
          <ac:chgData name="Antonely Villalona" userId="26acd9b0-757c-45d2-bdf1-b43b683da2aa" providerId="ADAL" clId="{7B0469CB-2711-4ED7-949B-6C08E56E0017}" dt="2026-07-15T18:21:19.668" v="528" actId="207"/>
          <ac:spMkLst>
            <pc:docMk/>
            <pc:sldMk cId="0" sldId="402"/>
            <ac:spMk id="3" creationId="{00000000-0000-0000-0000-000000000000}"/>
          </ac:spMkLst>
        </pc:spChg>
        <pc:spChg chg="mod">
          <ac:chgData name="Antonely Villalona" userId="26acd9b0-757c-45d2-bdf1-b43b683da2aa" providerId="ADAL" clId="{7B0469CB-2711-4ED7-949B-6C08E56E0017}" dt="2026-07-15T18:21:25.791" v="529" actId="113"/>
          <ac:spMkLst>
            <pc:docMk/>
            <pc:sldMk cId="0" sldId="402"/>
            <ac:spMk id="4" creationId="{00000000-0000-0000-0000-000000000000}"/>
          </ac:spMkLst>
        </pc:spChg>
      </pc:sldChg>
      <pc:sldChg chg="modSp add mod">
        <pc:chgData name="Antonely Villalona" userId="26acd9b0-757c-45d2-bdf1-b43b683da2aa" providerId="ADAL" clId="{7B0469CB-2711-4ED7-949B-6C08E56E0017}" dt="2026-07-15T18:40:16.072" v="540" actId="1076"/>
        <pc:sldMkLst>
          <pc:docMk/>
          <pc:sldMk cId="2917829985" sldId="403"/>
        </pc:sldMkLst>
        <pc:spChg chg="mod">
          <ac:chgData name="Antonely Villalona" userId="26acd9b0-757c-45d2-bdf1-b43b683da2aa" providerId="ADAL" clId="{7B0469CB-2711-4ED7-949B-6C08E56E0017}" dt="2026-07-15T18:40:13.356" v="539" actId="1076"/>
          <ac:spMkLst>
            <pc:docMk/>
            <pc:sldMk cId="2917829985" sldId="403"/>
            <ac:spMk id="5" creationId="{0E8F99B1-552C-5B08-8380-26FD8B03B083}"/>
          </ac:spMkLst>
        </pc:spChg>
        <pc:picChg chg="mod">
          <ac:chgData name="Antonely Villalona" userId="26acd9b0-757c-45d2-bdf1-b43b683da2aa" providerId="ADAL" clId="{7B0469CB-2711-4ED7-949B-6C08E56E0017}" dt="2026-07-15T18:40:16.072" v="540" actId="1076"/>
          <ac:picMkLst>
            <pc:docMk/>
            <pc:sldMk cId="2917829985" sldId="403"/>
            <ac:picMk id="3" creationId="{611DBDD8-0890-3E67-DCE9-9BC30D8082C7}"/>
          </ac:picMkLst>
        </pc:picChg>
      </pc:sldChg>
      <pc:sldChg chg="modSp add mod">
        <pc:chgData name="Antonely Villalona" userId="26acd9b0-757c-45d2-bdf1-b43b683da2aa" providerId="ADAL" clId="{7B0469CB-2711-4ED7-949B-6C08E56E0017}" dt="2026-07-15T19:01:42.604" v="554" actId="14100"/>
        <pc:sldMkLst>
          <pc:docMk/>
          <pc:sldMk cId="2355287085" sldId="404"/>
        </pc:sldMkLst>
        <pc:spChg chg="mod">
          <ac:chgData name="Antonely Villalona" userId="26acd9b0-757c-45d2-bdf1-b43b683da2aa" providerId="ADAL" clId="{7B0469CB-2711-4ED7-949B-6C08E56E0017}" dt="2026-07-15T19:01:42.604" v="554" actId="14100"/>
          <ac:spMkLst>
            <pc:docMk/>
            <pc:sldMk cId="2355287085" sldId="404"/>
            <ac:spMk id="14" creationId="{B7D77F55-A89C-3B52-06D3-C3EB4CF280D3}"/>
          </ac:spMkLst>
        </pc:spChg>
      </pc:sldChg>
      <pc:sldChg chg="addSp delSp modSp new mod setBg">
        <pc:chgData name="Antonely Villalona" userId="26acd9b0-757c-45d2-bdf1-b43b683da2aa" providerId="ADAL" clId="{7B0469CB-2711-4ED7-949B-6C08E56E0017}" dt="2026-07-16T21:02:15.095" v="674" actId="26606"/>
        <pc:sldMkLst>
          <pc:docMk/>
          <pc:sldMk cId="1962486014" sldId="405"/>
        </pc:sldMkLst>
        <pc:spChg chg="ord">
          <ac:chgData name="Antonely Villalona" userId="26acd9b0-757c-45d2-bdf1-b43b683da2aa" providerId="ADAL" clId="{7B0469CB-2711-4ED7-949B-6C08E56E0017}" dt="2026-07-16T21:00:44.870" v="659" actId="26606"/>
          <ac:spMkLst>
            <pc:docMk/>
            <pc:sldMk cId="1962486014" sldId="405"/>
            <ac:spMk id="2" creationId="{C148C835-DE04-D6A7-F524-A7FC54A34638}"/>
          </ac:spMkLst>
        </pc:spChg>
        <pc:spChg chg="del">
          <ac:chgData name="Antonely Villalona" userId="26acd9b0-757c-45d2-bdf1-b43b683da2aa" providerId="ADAL" clId="{7B0469CB-2711-4ED7-949B-6C08E56E0017}" dt="2026-07-16T20:59:38.570" v="653" actId="931"/>
          <ac:spMkLst>
            <pc:docMk/>
            <pc:sldMk cId="1962486014" sldId="405"/>
            <ac:spMk id="3" creationId="{791F1571-2E5F-C70C-F2B5-73346BDA22B7}"/>
          </ac:spMkLst>
        </pc:spChg>
        <pc:spChg chg="add del">
          <ac:chgData name="Antonely Villalona" userId="26acd9b0-757c-45d2-bdf1-b43b683da2aa" providerId="ADAL" clId="{7B0469CB-2711-4ED7-949B-6C08E56E0017}" dt="2026-07-16T21:02:07.340" v="671" actId="26606"/>
          <ac:spMkLst>
            <pc:docMk/>
            <pc:sldMk cId="1962486014" sldId="405"/>
            <ac:spMk id="13" creationId="{1FE21981-771D-4A29-8D3A-D068BE54BFE9}"/>
          </ac:spMkLst>
        </pc:spChg>
        <pc:spChg chg="add del">
          <ac:chgData name="Antonely Villalona" userId="26acd9b0-757c-45d2-bdf1-b43b683da2aa" providerId="ADAL" clId="{7B0469CB-2711-4ED7-949B-6C08E56E0017}" dt="2026-07-16T21:02:15.090" v="673" actId="26606"/>
          <ac:spMkLst>
            <pc:docMk/>
            <pc:sldMk cId="1962486014" sldId="405"/>
            <ac:spMk id="15" creationId="{5F9CFCE6-877F-4858-B8BD-2C52CA8AFBC4}"/>
          </ac:spMkLst>
        </pc:spChg>
        <pc:spChg chg="add del">
          <ac:chgData name="Antonely Villalona" userId="26acd9b0-757c-45d2-bdf1-b43b683da2aa" providerId="ADAL" clId="{7B0469CB-2711-4ED7-949B-6C08E56E0017}" dt="2026-07-16T21:01:15.906" v="664" actId="26606"/>
          <ac:spMkLst>
            <pc:docMk/>
            <pc:sldMk cId="1962486014" sldId="405"/>
            <ac:spMk id="16" creationId="{22C6C9C9-83BF-4A6C-A1BF-C1735C61B4FF}"/>
          </ac:spMkLst>
        </pc:spChg>
        <pc:spChg chg="add del">
          <ac:chgData name="Antonely Villalona" userId="26acd9b0-757c-45d2-bdf1-b43b683da2aa" providerId="ADAL" clId="{7B0469CB-2711-4ED7-949B-6C08E56E0017}" dt="2026-07-16T21:02:15.090" v="673" actId="26606"/>
          <ac:spMkLst>
            <pc:docMk/>
            <pc:sldMk cId="1962486014" sldId="405"/>
            <ac:spMk id="18" creationId="{8213F8A0-12AE-4514-8372-0DD766EC28EE}"/>
          </ac:spMkLst>
        </pc:spChg>
        <pc:spChg chg="add del">
          <ac:chgData name="Antonely Villalona" userId="26acd9b0-757c-45d2-bdf1-b43b683da2aa" providerId="ADAL" clId="{7B0469CB-2711-4ED7-949B-6C08E56E0017}" dt="2026-07-16T21:02:15.090" v="673" actId="26606"/>
          <ac:spMkLst>
            <pc:docMk/>
            <pc:sldMk cId="1962486014" sldId="405"/>
            <ac:spMk id="20" creationId="{9EFF17D4-9A8C-4CE5-B096-D8CCD4400437}"/>
          </ac:spMkLst>
        </pc:spChg>
        <pc:spChg chg="add del">
          <ac:chgData name="Antonely Villalona" userId="26acd9b0-757c-45d2-bdf1-b43b683da2aa" providerId="ADAL" clId="{7B0469CB-2711-4ED7-949B-6C08E56E0017}" dt="2026-07-16T21:01:45.962" v="665" actId="26606"/>
          <ac:spMkLst>
            <pc:docMk/>
            <pc:sldMk cId="1962486014" sldId="405"/>
            <ac:spMk id="21" creationId="{F101B3CC-B49F-4CE0-B198-228D1D4285B1}"/>
          </ac:spMkLst>
        </pc:spChg>
        <pc:spChg chg="add">
          <ac:chgData name="Antonely Villalona" userId="26acd9b0-757c-45d2-bdf1-b43b683da2aa" providerId="ADAL" clId="{7B0469CB-2711-4ED7-949B-6C08E56E0017}" dt="2026-07-16T21:02:15.095" v="674" actId="26606"/>
          <ac:spMkLst>
            <pc:docMk/>
            <pc:sldMk cId="1962486014" sldId="405"/>
            <ac:spMk id="22" creationId="{42A4FC2C-047E-45A5-965D-8E1E3BF09BC6}"/>
          </ac:spMkLst>
        </pc:spChg>
        <pc:picChg chg="add mod ord">
          <ac:chgData name="Antonely Villalona" userId="26acd9b0-757c-45d2-bdf1-b43b683da2aa" providerId="ADAL" clId="{7B0469CB-2711-4ED7-949B-6C08E56E0017}" dt="2026-07-16T21:00:44.870" v="659" actId="26606"/>
          <ac:picMkLst>
            <pc:docMk/>
            <pc:sldMk cId="1962486014" sldId="405"/>
            <ac:picMk id="5" creationId="{70ED4EAA-99DF-6C1F-C829-E8332CEAFE14}"/>
          </ac:picMkLst>
        </pc:picChg>
        <pc:picChg chg="add mod ord">
          <ac:chgData name="Antonely Villalona" userId="26acd9b0-757c-45d2-bdf1-b43b683da2aa" providerId="ADAL" clId="{7B0469CB-2711-4ED7-949B-6C08E56E0017}" dt="2026-07-16T21:02:15.095" v="674" actId="26606"/>
          <ac:picMkLst>
            <pc:docMk/>
            <pc:sldMk cId="1962486014" sldId="405"/>
            <ac:picMk id="7" creationId="{3FD50673-2468-4B69-472D-C6D9CAF56DCF}"/>
          </ac:picMkLst>
        </pc:picChg>
        <pc:picChg chg="add del mod">
          <ac:chgData name="Antonely Villalona" userId="26acd9b0-757c-45d2-bdf1-b43b683da2aa" providerId="ADAL" clId="{7B0469CB-2711-4ED7-949B-6C08E56E0017}" dt="2026-07-16T21:00:08.910" v="657" actId="478"/>
          <ac:picMkLst>
            <pc:docMk/>
            <pc:sldMk cId="1962486014" sldId="405"/>
            <ac:picMk id="9" creationId="{0FD986D7-6563-2F86-C2CC-E60F2E93B146}"/>
          </ac:picMkLst>
        </pc:picChg>
        <pc:picChg chg="add mod ord">
          <ac:chgData name="Antonely Villalona" userId="26acd9b0-757c-45d2-bdf1-b43b683da2aa" providerId="ADAL" clId="{7B0469CB-2711-4ED7-949B-6C08E56E0017}" dt="2026-07-16T21:02:15.095" v="674" actId="26606"/>
          <ac:picMkLst>
            <pc:docMk/>
            <pc:sldMk cId="1962486014" sldId="405"/>
            <ac:picMk id="11" creationId="{FA49211E-646C-254C-8594-FDD16D3AD88B}"/>
          </ac:picMkLst>
        </pc:picChg>
      </pc:sldChg>
      <pc:sldChg chg="addSp modSp new mod">
        <pc:chgData name="Antonely Villalona" userId="26acd9b0-757c-45d2-bdf1-b43b683da2aa" providerId="ADAL" clId="{7B0469CB-2711-4ED7-949B-6C08E56E0017}" dt="2026-07-16T21:05:09.610" v="680"/>
        <pc:sldMkLst>
          <pc:docMk/>
          <pc:sldMk cId="3628077153" sldId="406"/>
        </pc:sldMkLst>
        <pc:picChg chg="add mod">
          <ac:chgData name="Antonely Villalona" userId="26acd9b0-757c-45d2-bdf1-b43b683da2aa" providerId="ADAL" clId="{7B0469CB-2711-4ED7-949B-6C08E56E0017}" dt="2026-07-16T21:05:09.610" v="680"/>
          <ac:picMkLst>
            <pc:docMk/>
            <pc:sldMk cId="3628077153" sldId="406"/>
            <ac:picMk id="5" creationId="{F3BF787D-597A-3CBB-3E6C-44027267C49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7117377380790294E-2"/>
          <c:y val="4.4215530406369455E-2"/>
          <c:w val="0.90074940476667187"/>
          <c:h val="0.7039577042117046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Operativo</c:v>
                </c:pt>
              </c:strCache>
            </c:strRef>
          </c:tx>
          <c:spPr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s-E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Sheet1!$A$2:$A$28</c:f>
              <c:strCache>
                <c:ptCount val="27"/>
                <c:pt idx="0">
                  <c:v>2025-06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  <c:pt idx="13">
                  <c:v>2026-07</c:v>
                </c:pt>
                <c:pt idx="14">
                  <c:v>2026-08</c:v>
                </c:pt>
                <c:pt idx="15">
                  <c:v>2026-09</c:v>
                </c:pt>
                <c:pt idx="16">
                  <c:v>2026-10</c:v>
                </c:pt>
                <c:pt idx="17">
                  <c:v>2026-11</c:v>
                </c:pt>
                <c:pt idx="18">
                  <c:v>2026-12</c:v>
                </c:pt>
                <c:pt idx="19">
                  <c:v>2027-01</c:v>
                </c:pt>
                <c:pt idx="20">
                  <c:v>2027-02</c:v>
                </c:pt>
                <c:pt idx="21">
                  <c:v>2027-03</c:v>
                </c:pt>
                <c:pt idx="22">
                  <c:v>2027-04</c:v>
                </c:pt>
                <c:pt idx="23">
                  <c:v>2027-05</c:v>
                </c:pt>
                <c:pt idx="24">
                  <c:v>2027-06</c:v>
                </c:pt>
                <c:pt idx="25">
                  <c:v>2027-07</c:v>
                </c:pt>
                <c:pt idx="26">
                  <c:v>2027-08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1">
                  <c:v>0.52</c:v>
                </c:pt>
                <c:pt idx="2">
                  <c:v>1.21</c:v>
                </c:pt>
                <c:pt idx="3">
                  <c:v>2.0699999999999998</c:v>
                </c:pt>
                <c:pt idx="4">
                  <c:v>2.76</c:v>
                </c:pt>
                <c:pt idx="5">
                  <c:v>3.7</c:v>
                </c:pt>
                <c:pt idx="6">
                  <c:v>4.1100000000000003</c:v>
                </c:pt>
                <c:pt idx="7">
                  <c:v>4.4800000000000004</c:v>
                </c:pt>
                <c:pt idx="8">
                  <c:v>4.97</c:v>
                </c:pt>
                <c:pt idx="9">
                  <c:v>6.72</c:v>
                </c:pt>
                <c:pt idx="10">
                  <c:v>11.07</c:v>
                </c:pt>
                <c:pt idx="11">
                  <c:v>16.670000000000002</c:v>
                </c:pt>
                <c:pt idx="12">
                  <c:v>23.29</c:v>
                </c:pt>
                <c:pt idx="13">
                  <c:v>31.41</c:v>
                </c:pt>
                <c:pt idx="14">
                  <c:v>40.78</c:v>
                </c:pt>
                <c:pt idx="15">
                  <c:v>52.44</c:v>
                </c:pt>
                <c:pt idx="16">
                  <c:v>62.97</c:v>
                </c:pt>
                <c:pt idx="17">
                  <c:v>74.739999999999995</c:v>
                </c:pt>
                <c:pt idx="18">
                  <c:v>80.900000000000006</c:v>
                </c:pt>
                <c:pt idx="19">
                  <c:v>83.02</c:v>
                </c:pt>
                <c:pt idx="20">
                  <c:v>87.9</c:v>
                </c:pt>
                <c:pt idx="21">
                  <c:v>92.75</c:v>
                </c:pt>
                <c:pt idx="22">
                  <c:v>95.32</c:v>
                </c:pt>
                <c:pt idx="23">
                  <c:v>97.31</c:v>
                </c:pt>
                <c:pt idx="24">
                  <c:v>98.75</c:v>
                </c:pt>
                <c:pt idx="25">
                  <c:v>99.56</c:v>
                </c:pt>
                <c:pt idx="2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4B-42FC-A106-50BB6B39AE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Ejecutado Real</c:v>
                </c:pt>
              </c:strCache>
            </c:strRef>
          </c:tx>
          <c:spPr>
            <a:ln w="31750" cap="flat">
              <a:solidFill>
                <a:srgbClr val="C9A9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961"/>
              </a:solidFill>
              <a:ln w="9525" cap="flat">
                <a:solidFill>
                  <a:srgbClr val="C9A961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s-E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Sheet1!$A$2:$A$28</c:f>
              <c:strCache>
                <c:ptCount val="27"/>
                <c:pt idx="0">
                  <c:v>2025-06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  <c:pt idx="13">
                  <c:v>2026-07</c:v>
                </c:pt>
                <c:pt idx="14">
                  <c:v>2026-08</c:v>
                </c:pt>
                <c:pt idx="15">
                  <c:v>2026-09</c:v>
                </c:pt>
                <c:pt idx="16">
                  <c:v>2026-10</c:v>
                </c:pt>
                <c:pt idx="17">
                  <c:v>2026-11</c:v>
                </c:pt>
                <c:pt idx="18">
                  <c:v>2026-12</c:v>
                </c:pt>
                <c:pt idx="19">
                  <c:v>2027-01</c:v>
                </c:pt>
                <c:pt idx="20">
                  <c:v>2027-02</c:v>
                </c:pt>
                <c:pt idx="21">
                  <c:v>2027-03</c:v>
                </c:pt>
                <c:pt idx="22">
                  <c:v>2027-04</c:v>
                </c:pt>
                <c:pt idx="23">
                  <c:v>2027-05</c:v>
                </c:pt>
                <c:pt idx="24">
                  <c:v>2027-06</c:v>
                </c:pt>
                <c:pt idx="25">
                  <c:v>2027-07</c:v>
                </c:pt>
                <c:pt idx="26">
                  <c:v>2027-08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1">
                  <c:v>0.31</c:v>
                </c:pt>
                <c:pt idx="2">
                  <c:v>0.94</c:v>
                </c:pt>
                <c:pt idx="3">
                  <c:v>1.88</c:v>
                </c:pt>
                <c:pt idx="4">
                  <c:v>2.5099999999999998</c:v>
                </c:pt>
                <c:pt idx="5">
                  <c:v>3.45</c:v>
                </c:pt>
                <c:pt idx="6">
                  <c:v>3.83</c:v>
                </c:pt>
                <c:pt idx="7">
                  <c:v>4.47</c:v>
                </c:pt>
                <c:pt idx="8">
                  <c:v>6.05</c:v>
                </c:pt>
                <c:pt idx="9">
                  <c:v>8.9600000000000009</c:v>
                </c:pt>
                <c:pt idx="10">
                  <c:v>11.59</c:v>
                </c:pt>
                <c:pt idx="11">
                  <c:v>16</c:v>
                </c:pt>
                <c:pt idx="12">
                  <c:v>18.23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4B-42FC-A106-50BB6B39AE9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0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% acumulado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32741"/>
    </a:solidFill>
    <a:ln>
      <a:noFill/>
    </a:ln>
    <a:effectLst/>
  </c:spPr>
  <c:txPr>
    <a:bodyPr/>
    <a:lstStyle/>
    <a:p>
      <a:pPr>
        <a:defR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a:defRPr>
      </a:pPr>
      <a:endParaRPr lang="es-E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atraso</c:v>
                </c:pt>
              </c:strCache>
            </c:strRef>
          </c:tx>
          <c:spPr>
            <a:solidFill>
              <a:srgbClr val="C9A961"/>
            </a:solidFill>
            <a:ln w="9525" cap="flat">
              <a:solidFill>
                <a:srgbClr val="13274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9B-448D-879F-10DA85B65A53}"/>
              </c:ext>
            </c:extLst>
          </c:dPt>
          <c:dPt>
            <c:idx val="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9B-448D-879F-10DA85B65A53}"/>
              </c:ext>
            </c:extLst>
          </c:dPt>
          <c:dPt>
            <c:idx val="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9B-448D-879F-10DA85B65A53}"/>
              </c:ext>
            </c:extLst>
          </c:dPt>
          <c:dPt>
            <c:idx val="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9B-448D-879F-10DA85B65A53}"/>
              </c:ext>
            </c:extLst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9B-448D-879F-10DA85B65A53}"/>
              </c:ext>
            </c:extLst>
          </c:dPt>
          <c:dPt>
            <c:idx val="5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99B-448D-879F-10DA85B65A53}"/>
              </c:ext>
            </c:extLst>
          </c:dPt>
          <c:dPt>
            <c:idx val="6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99B-448D-879F-10DA85B65A53}"/>
              </c:ext>
            </c:extLst>
          </c:dPt>
          <c:dPt>
            <c:idx val="7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99B-448D-879F-10DA85B65A53}"/>
              </c:ext>
            </c:extLst>
          </c:dPt>
          <c:dPt>
            <c:idx val="8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99B-448D-879F-10DA85B65A53}"/>
              </c:ext>
            </c:extLst>
          </c:dPt>
          <c:dPt>
            <c:idx val="9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99B-448D-879F-10DA85B65A53}"/>
              </c:ext>
            </c:extLst>
          </c:dPt>
          <c:dPt>
            <c:idx val="10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99B-448D-879F-10DA85B65A53}"/>
              </c:ext>
            </c:extLst>
          </c:dPt>
          <c:dPt>
            <c:idx val="1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399B-448D-879F-10DA85B65A53}"/>
              </c:ext>
            </c:extLst>
          </c:dPt>
          <c:dPt>
            <c:idx val="1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399B-448D-879F-10DA85B65A53}"/>
              </c:ext>
            </c:extLst>
          </c:dPt>
          <c:dPt>
            <c:idx val="1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399B-448D-879F-10DA85B65A53}"/>
              </c:ext>
            </c:extLst>
          </c:dPt>
          <c:dPt>
            <c:idx val="1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399B-448D-879F-10DA85B65A53}"/>
              </c:ext>
            </c:extLst>
          </c:dPt>
          <c:dPt>
            <c:idx val="15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399B-448D-879F-10DA85B65A53}"/>
              </c:ext>
            </c:extLst>
          </c:dPt>
          <c:dPt>
            <c:idx val="16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399B-448D-879F-10DA85B65A53}"/>
              </c:ext>
            </c:extLst>
          </c:dPt>
          <c:dPt>
            <c:idx val="17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399B-448D-879F-10DA85B65A53}"/>
              </c:ext>
            </c:extLst>
          </c:dPt>
          <c:dPt>
            <c:idx val="18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399B-448D-879F-10DA85B65A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E8</c:v>
                </c:pt>
                <c:pt idx="1">
                  <c:v>E7</c:v>
                </c:pt>
                <c:pt idx="2">
                  <c:v>E12</c:v>
                </c:pt>
                <c:pt idx="3">
                  <c:v>E11</c:v>
                </c:pt>
                <c:pt idx="4">
                  <c:v>E10</c:v>
                </c:pt>
                <c:pt idx="5">
                  <c:v>E15</c:v>
                </c:pt>
                <c:pt idx="6">
                  <c:v>E14</c:v>
                </c:pt>
                <c:pt idx="7">
                  <c:v>E13</c:v>
                </c:pt>
                <c:pt idx="8">
                  <c:v>E18</c:v>
                </c:pt>
                <c:pt idx="9">
                  <c:v>E17</c:v>
                </c:pt>
                <c:pt idx="10">
                  <c:v>E16</c:v>
                </c:pt>
                <c:pt idx="11">
                  <c:v>E71</c:v>
                </c:pt>
                <c:pt idx="12">
                  <c:v>E70</c:v>
                </c:pt>
                <c:pt idx="13">
                  <c:v>E73</c:v>
                </c:pt>
                <c:pt idx="14">
                  <c:v>E72</c:v>
                </c:pt>
                <c:pt idx="15">
                  <c:v>E75</c:v>
                </c:pt>
                <c:pt idx="16">
                  <c:v>E74</c:v>
                </c:pt>
                <c:pt idx="17">
                  <c:v>E77</c:v>
                </c:pt>
                <c:pt idx="18">
                  <c:v>E76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30</c:v>
                </c:pt>
                <c:pt idx="1">
                  <c:v>23</c:v>
                </c:pt>
                <c:pt idx="2">
                  <c:v>16</c:v>
                </c:pt>
                <c:pt idx="3">
                  <c:v>9</c:v>
                </c:pt>
                <c:pt idx="4">
                  <c:v>2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7</c:v>
                </c:pt>
                <c:pt idx="15">
                  <c:v>7</c:v>
                </c:pt>
                <c:pt idx="16">
                  <c:v>6</c:v>
                </c:pt>
                <c:pt idx="17">
                  <c:v>5</c:v>
                </c:pt>
                <c:pt idx="1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399B-448D-879F-10DA85B65A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s-ES" sz="1000" b="0" i="0" u="none" strike="noStrike">
                    <a:solidFill>
                      <a:srgbClr val="9CA3AF"/>
                    </a:solidFill>
                    <a:latin typeface="Arial"/>
                  </a:rPr>
                  <a:t>Días de atraso vs. línea base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avance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68-43CD-98CF-6732625F417F}"/>
              </c:ext>
            </c:extLst>
          </c:dPt>
          <c:dPt>
            <c:idx val="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68-43CD-98CF-6732625F417F}"/>
              </c:ext>
            </c:extLst>
          </c:dPt>
          <c:dPt>
            <c:idx val="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68-43CD-98CF-6732625F417F}"/>
              </c:ext>
            </c:extLst>
          </c:dPt>
          <c:dPt>
            <c:idx val="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68-43CD-98CF-6732625F417F}"/>
              </c:ext>
            </c:extLst>
          </c:dPt>
          <c:dPt>
            <c:idx val="4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68-43CD-98CF-6732625F417F}"/>
              </c:ext>
            </c:extLst>
          </c:dPt>
          <c:dPt>
            <c:idx val="5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68-43CD-98CF-6732625F417F}"/>
              </c:ext>
            </c:extLst>
          </c:dPt>
          <c:dPt>
            <c:idx val="6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68-43CD-98CF-6732625F417F}"/>
              </c:ext>
            </c:extLst>
          </c:dPt>
          <c:dPt>
            <c:idx val="7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68-43CD-98CF-6732625F417F}"/>
              </c:ext>
            </c:extLst>
          </c:dPt>
          <c:dPt>
            <c:idx val="8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68-43CD-98CF-6732625F417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Carpintería (puertas/closets)</c:v>
                </c:pt>
                <c:pt idx="1">
                  <c:v>Herrería</c:v>
                </c:pt>
                <c:pt idx="2">
                  <c:v>Misceláneos</c:v>
                </c:pt>
                <c:pt idx="3">
                  <c:v>Revestimientos / Cerámica</c:v>
                </c:pt>
                <c:pt idx="4">
                  <c:v>Pintura</c:v>
                </c:pt>
                <c:pt idx="5">
                  <c:v>Instalaciones (elec./sanit./gas)</c:v>
                </c:pt>
                <c:pt idx="6">
                  <c:v>Albañilería</c:v>
                </c:pt>
                <c:pt idx="7">
                  <c:v>Superestructura</c:v>
                </c:pt>
                <c:pt idx="8">
                  <c:v>Infraestructura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0.66</c:v>
                </c:pt>
                <c:pt idx="2">
                  <c:v>1.62</c:v>
                </c:pt>
                <c:pt idx="3">
                  <c:v>2.35</c:v>
                </c:pt>
                <c:pt idx="4">
                  <c:v>13.85</c:v>
                </c:pt>
                <c:pt idx="5">
                  <c:v>14.11</c:v>
                </c:pt>
                <c:pt idx="6">
                  <c:v>22.17</c:v>
                </c:pt>
                <c:pt idx="7">
                  <c:v>44.66</c:v>
                </c:pt>
                <c:pt idx="8">
                  <c:v>56.34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668-43CD-98CF-6732625F41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9CA3AF"/>
                    </a:solidFill>
                    <a:latin typeface="Arial"/>
                  </a:rPr>
                  <a:t>% ejecutado del presupuesto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Presupuestado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Dic-25</c:v>
                </c:pt>
                <c:pt idx="1">
                  <c:v>Ene-26</c:v>
                </c:pt>
                <c:pt idx="2">
                  <c:v>Feb-26</c:v>
                </c:pt>
                <c:pt idx="3">
                  <c:v>Mar-26</c:v>
                </c:pt>
                <c:pt idx="4">
                  <c:v>Abr-26</c:v>
                </c:pt>
                <c:pt idx="5">
                  <c:v>May-26</c:v>
                </c:pt>
                <c:pt idx="6">
                  <c:v>Jun-26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2508825.3244615383</c:v>
                </c:pt>
                <c:pt idx="1">
                  <c:v>1817025.8992615384</c:v>
                </c:pt>
                <c:pt idx="2">
                  <c:v>9597781.6134030186</c:v>
                </c:pt>
                <c:pt idx="3">
                  <c:v>12613658.177776922</c:v>
                </c:pt>
                <c:pt idx="4">
                  <c:v>31678657.241337843</c:v>
                </c:pt>
                <c:pt idx="5">
                  <c:v>43173658.600292608</c:v>
                </c:pt>
                <c:pt idx="6">
                  <c:v>79890966.365552694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5-4A6D-AD36-500DDE5437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Dic-25</c:v>
                </c:pt>
                <c:pt idx="1">
                  <c:v>Ene-26</c:v>
                </c:pt>
                <c:pt idx="2">
                  <c:v>Feb-26</c:v>
                </c:pt>
                <c:pt idx="3">
                  <c:v>Mar-26</c:v>
                </c:pt>
                <c:pt idx="4">
                  <c:v>Abr-26</c:v>
                </c:pt>
                <c:pt idx="5">
                  <c:v>May-26</c:v>
                </c:pt>
                <c:pt idx="6">
                  <c:v>Jun-26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16398543.68</c:v>
                </c:pt>
                <c:pt idx="1">
                  <c:v>2355501.36</c:v>
                </c:pt>
                <c:pt idx="2">
                  <c:v>8871467.2599999998</c:v>
                </c:pt>
                <c:pt idx="3">
                  <c:v>25457547.149999999</c:v>
                </c:pt>
                <c:pt idx="4">
                  <c:v>19895044.07</c:v>
                </c:pt>
                <c:pt idx="5">
                  <c:v>21384560.130000003</c:v>
                </c:pt>
                <c:pt idx="6">
                  <c:v>28809561.440000001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65-4A6D-AD36-500DDE5437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n-US" sz="900" b="0" i="0" u="none" strike="noStrike" dirty="0">
                    <a:solidFill>
                      <a:srgbClr val="9CA3AF"/>
                    </a:solidFill>
                    <a:latin typeface="Arial"/>
                  </a:rPr>
                  <a:t>RD$ (Urbanismo + Edificios)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2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49-42B0-8052-5CEF22F67D5E}"/>
              </c:ext>
            </c:extLst>
          </c:dPt>
          <c:dPt>
            <c:idx val="1"/>
            <c:bubble3D val="0"/>
            <c:spPr>
              <a:solidFill>
                <a:srgbClr val="B89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49-42B0-8052-5CEF22F67D5E}"/>
              </c:ext>
            </c:extLst>
          </c:dPt>
          <c:dPt>
            <c:idx val="2"/>
            <c:bubble3D val="0"/>
            <c:spPr>
              <a:solidFill>
                <a:srgbClr val="8A9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49-42B0-8052-5CEF22F67D5E}"/>
              </c:ext>
            </c:extLst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49-42B0-8052-5CEF22F67D5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49-42B0-8052-5CEF22F67D5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49-42B0-8052-5CEF22F67D5E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49-42B0-8052-5CEF22F67D5E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49-42B0-8052-5CEF22F67D5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Corriente 60.1%</c:v>
                </c:pt>
                <c:pt idx="1">
                  <c:v>&lt; 1 Mes 38.4%</c:v>
                </c:pt>
                <c:pt idx="2">
                  <c:v>1 Mes 0.8%</c:v>
                </c:pt>
                <c:pt idx="3">
                  <c:v>2 Meses 0.7%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11183</c:v>
                </c:pt>
                <c:pt idx="1">
                  <c:v>7140</c:v>
                </c:pt>
                <c:pt idx="2">
                  <c:v>148</c:v>
                </c:pt>
                <c:pt idx="3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49-42B0-8052-5CEF22F67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36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s-DO" dirty="0"/>
          </a:p>
        </p:txBody>
      </p:sp>
      <p:sp>
        <p:nvSpPr>
          <p:cNvPr id="5" name="Marcador de encabezado 4">
            <a:extLst>
              <a:ext uri="{FF2B5EF4-FFF2-40B4-BE49-F238E27FC236}">
                <a16:creationId xmlns:a16="http://schemas.microsoft.com/office/drawing/2014/main" id="{1F4CDD9E-96A6-576F-D495-6CC5BA2FD86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 lIns="108265" tIns="54132" rIns="108265" bIns="54132"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88285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5C6E-8139-A966-0933-57B39FB2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0BB8C-4019-E1BB-47BD-B4A348BB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60972-6CC3-6318-558C-AF3C7B384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5F8D0-FF94-055A-52BF-6B9EFBDC7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108265" tIns="54132" rIns="108265" bIns="54132"/>
          <a:lstStyle/>
          <a:p>
            <a:pPr algn="r" defTabSz="1082650">
              <a:defRPr/>
            </a:pPr>
            <a:fld id="{D5E46515-30C5-F64D-B2AF-070179D2C920}" type="slidenum">
              <a:rPr lang="es-ES_tradnl" sz="1400" kern="0">
                <a:solidFill>
                  <a:sysClr val="windowText" lastClr="000000"/>
                </a:solidFill>
              </a:rPr>
              <a:pPr algn="r" defTabSz="1082650">
                <a:defRPr/>
              </a:pPr>
              <a:t>12</a:t>
            </a:fld>
            <a:endParaRPr lang="es-ES_tradnl" sz="1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439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108265" tIns="54132" rIns="108265" bIns="54132"/>
          <a:lstStyle/>
          <a:p>
            <a:pPr algn="r" defTabSz="1082650">
              <a:defRPr/>
            </a:pPr>
            <a:fld id="{D5E46515-30C5-F64D-B2AF-070179D2C920}" type="slidenum">
              <a:rPr lang="es-ES_tradnl" sz="1400" kern="0">
                <a:solidFill>
                  <a:sysClr val="windowText" lastClr="000000"/>
                </a:solidFill>
              </a:rPr>
              <a:pPr algn="r" defTabSz="1082650">
                <a:defRPr/>
              </a:pPr>
              <a:t>13</a:t>
            </a:fld>
            <a:endParaRPr lang="es-ES_tradnl" sz="1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47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7E82-99DB-F3B9-3D05-74B2370F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12559-A2A0-B27E-50CA-CBFB5463B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92D13-2D6B-123F-CD03-0756D930E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s-ES_tradnl" dirty="0"/>
          </a:p>
        </p:txBody>
      </p:sp>
      <p:sp>
        <p:nvSpPr>
          <p:cNvPr id="5" name="Marcador de encabezado 4">
            <a:extLst>
              <a:ext uri="{FF2B5EF4-FFF2-40B4-BE49-F238E27FC236}">
                <a16:creationId xmlns:a16="http://schemas.microsoft.com/office/drawing/2014/main" id="{3137CFD7-CA3D-FAA1-6834-56430E1C32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 lIns="108265" tIns="54132" rIns="108265" bIns="54132"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06125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E3369-49B0-1A91-3C71-B93972BE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E3B4F-498C-9DD5-95C9-B9CBB265A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108265" tIns="54132" rIns="108265" bIns="54132"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F36D4-43D1-0ABD-AF72-AA1C5924E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s-ES_tradnl" dirty="0"/>
          </a:p>
        </p:txBody>
      </p:sp>
      <p:sp>
        <p:nvSpPr>
          <p:cNvPr id="5" name="Marcador de encabezado 4">
            <a:extLst>
              <a:ext uri="{FF2B5EF4-FFF2-40B4-BE49-F238E27FC236}">
                <a16:creationId xmlns:a16="http://schemas.microsoft.com/office/drawing/2014/main" id="{CD6B3D93-2E9A-0DA8-23AE-0778393135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 lIns="108265" tIns="54132" rIns="108265" bIns="54132"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1957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380B6-1538-B10A-4EA9-D0A9FB4F7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769F7-0F43-AE93-B90B-C6952BB3B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3C413-9A2E-329A-AE14-CE6C07DC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3E4FD4-D897-0886-0B16-C0FB0842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F7F163-F4E7-C8A3-A887-9033AA7A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1818-22B2-4403-AAAB-55E7499F0A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343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105BF-B7D8-3036-E6BD-054A647F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88EE74-C299-7830-9E9F-70FB01A9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D3CBD9-8608-A9D1-B34D-E81D4328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30B0E9-3506-E47B-754F-9B104B74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5476C9-AB71-FF20-C6AA-D47E9EB3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1818-22B2-4403-AAAB-55E7499F0A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18196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73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055" y="2857"/>
            <a:ext cx="412289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35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658368" cy="658368"/>
          </a:xfrm>
          <a:prstGeom prst="ellipse">
            <a:avLst/>
          </a:prstGeom>
          <a:solidFill>
            <a:srgbClr val="0E2040"/>
          </a:solidFill>
          <a:ln w="1651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438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BRICKET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Residencial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ARAYA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73152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N°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/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8912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al 30 de junio,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 Gerencia Financiera del Fideicomiso  |  Uso confidencial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20">
                <a:solidFill>
                  <a:srgbClr val="C9A961"/>
                </a:solidFill>
                <a:latin typeface="Calibri"/>
              </a:rPr>
              <a:t>PROYECTO ARAYA  ·  PRIMERA ETAPA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05256"/>
            <a:ext cx="365760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4837176"/>
            <a:ext cx="8430768" cy="12801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4940212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60" dirty="0">
                <a:solidFill>
                  <a:srgbClr val="6B7280"/>
                </a:solidFill>
                <a:latin typeface="Calibri"/>
              </a:rPr>
              <a:t>PROYECTO ARAYA    ·    Informe General    ·    </a:t>
            </a:r>
            <a:r>
              <a:rPr lang="es-DO" sz="800" b="0" i="0" spc="60" dirty="0">
                <a:solidFill>
                  <a:srgbClr val="6B7280"/>
                </a:solidFill>
                <a:latin typeface="Calibri"/>
              </a:rPr>
              <a:t>Junio</a:t>
            </a:r>
            <a:r>
              <a:rPr sz="800" b="0" i="0" spc="60" dirty="0">
                <a:solidFill>
                  <a:srgbClr val="6B7280"/>
                </a:solidFill>
                <a:latin typeface="Calibri"/>
              </a:rPr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9844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Estatus de Terrenos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3337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3337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Estatus de Permisos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6829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68296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Gestiones Comerciales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0322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90322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Informe de Ventas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438144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Informe de Obras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306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97306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Avance de Obras — Edificios y Urbanismo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2984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29844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Informe Financiero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83337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183337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Control Presupuestal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36829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68296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Flujo y Requerimientos de Recursos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0322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290322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Cuentas por Pagar Comerciales y Financieras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3814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3438144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Gestiones Financieras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97306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C9A961"/>
                </a:solidFill>
                <a:latin typeface="Georgia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97306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Puntos para Aprobación</a:t>
            </a:r>
          </a:p>
        </p:txBody>
      </p:sp>
    </p:spTree>
    <p:extLst>
      <p:ext uri="{BB962C8B-B14F-4D97-AF65-F5344CB8AC3E}">
        <p14:creationId xmlns:p14="http://schemas.microsoft.com/office/powerpoint/2010/main" val="103592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20">
                <a:solidFill>
                  <a:srgbClr val="C9A961"/>
                </a:solidFill>
                <a:latin typeface="Calibri"/>
              </a:rPr>
              <a:t>GESTIÓN  ·  ESTATUS DE PERMISOS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0B1F3A"/>
                </a:solidFill>
                <a:latin typeface="Georgia"/>
              </a:rPr>
              <a:t>Estatus de Permisos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05256"/>
            <a:ext cx="365760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4837176"/>
            <a:ext cx="8430768" cy="12801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4940212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60" dirty="0">
                <a:solidFill>
                  <a:srgbClr val="6B7280"/>
                </a:solidFill>
                <a:latin typeface="Calibri"/>
              </a:rPr>
              <a:t>PROYECTO ARAYA    ·    Informe General    ·    </a:t>
            </a:r>
            <a:r>
              <a:rPr lang="es-DO" sz="800" b="0" i="0" spc="60" dirty="0">
                <a:solidFill>
                  <a:srgbClr val="6B7280"/>
                </a:solidFill>
                <a:latin typeface="Calibri"/>
              </a:rPr>
              <a:t>Junio</a:t>
            </a:r>
            <a:r>
              <a:rPr sz="800" b="0" i="0" spc="60" dirty="0">
                <a:solidFill>
                  <a:srgbClr val="6B7280"/>
                </a:solidFill>
                <a:latin typeface="Calibri"/>
              </a:rPr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070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1">
                <a:solidFill>
                  <a:srgbClr val="374151"/>
                </a:solidFill>
                <a:latin typeface="Calibri"/>
              </a:rPr>
              <a:t>CONFOTUR: concluida la evaluación técnica; a la espera de la reunión de consejo.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8638"/>
              </p:ext>
            </p:extLst>
          </p:nvPr>
        </p:nvGraphicFramePr>
        <p:xfrm>
          <a:off x="365760" y="1389889"/>
          <a:ext cx="8412480" cy="22509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749">
                <a:tc>
                  <a:txBody>
                    <a:bodyPr/>
                    <a:lstStyle/>
                    <a:p>
                      <a:pPr algn="l"/>
                      <a:r>
                        <a:rPr sz="900" b="1" spc="60" dirty="0">
                          <a:solidFill>
                            <a:srgbClr val="FFFFFF"/>
                          </a:solidFill>
                          <a:latin typeface="Calibri"/>
                        </a:rPr>
                        <a:t>TRÁMITE</a:t>
                      </a:r>
                    </a:p>
                  </a:txBody>
                  <a:tcPr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spc="60">
                          <a:solidFill>
                            <a:srgbClr val="FFFFFF"/>
                          </a:solidFill>
                          <a:latin typeface="Calibri"/>
                        </a:rPr>
                        <a:t>N° EXPEDIENTE</a:t>
                      </a:r>
                    </a:p>
                  </a:txBody>
                  <a:tcPr marR="45720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spc="60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R="45720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spc="60">
                          <a:solidFill>
                            <a:srgbClr val="FFFFFF"/>
                          </a:solidFill>
                          <a:latin typeface="Calibri"/>
                        </a:rPr>
                        <a:t>ESTATUS</a:t>
                      </a:r>
                    </a:p>
                  </a:txBody>
                  <a:tcPr marR="45720" marT="18288" marB="182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No objeción Ayuntamiento Higüey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dirty="0">
                          <a:solidFill>
                            <a:srgbClr val="374151"/>
                          </a:solidFill>
                          <a:latin typeface="Calibri"/>
                        </a:rPr>
                        <a:t>S/N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15/01/24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No objeción Ayuntamiento Verón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S/N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19/02/24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F2937"/>
                          </a:solidFill>
                          <a:latin typeface="Calibri"/>
                        </a:rPr>
                        <a:t>No </a:t>
                      </a:r>
                      <a:r>
                        <a:rPr sz="850" dirty="0" err="1">
                          <a:solidFill>
                            <a:srgbClr val="1F2937"/>
                          </a:solidFill>
                          <a:latin typeface="Calibri"/>
                        </a:rPr>
                        <a:t>objeción</a:t>
                      </a:r>
                      <a:r>
                        <a:rPr sz="850" dirty="0">
                          <a:solidFill>
                            <a:srgbClr val="1F2937"/>
                          </a:solidFill>
                          <a:latin typeface="Calibri"/>
                        </a:rPr>
                        <a:t> </a:t>
                      </a:r>
                      <a:r>
                        <a:rPr sz="850" dirty="0" err="1">
                          <a:solidFill>
                            <a:srgbClr val="1F2937"/>
                          </a:solidFill>
                          <a:latin typeface="Calibri"/>
                        </a:rPr>
                        <a:t>Ministerio</a:t>
                      </a:r>
                      <a:r>
                        <a:rPr sz="850" dirty="0">
                          <a:solidFill>
                            <a:srgbClr val="1F2937"/>
                          </a:solidFill>
                          <a:latin typeface="Calibri"/>
                        </a:rPr>
                        <a:t> de Medio </a:t>
                      </a:r>
                      <a:r>
                        <a:rPr sz="850" dirty="0" err="1">
                          <a:solidFill>
                            <a:srgbClr val="1F2937"/>
                          </a:solidFill>
                          <a:latin typeface="Calibri"/>
                        </a:rPr>
                        <a:t>Ambiente</a:t>
                      </a:r>
                      <a:endParaRPr sz="850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DEIA-3249-2023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22/10/23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No objeción Turismo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DPPP01-01611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19/04/24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Permiso CPEM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9078286-ARAYA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Permiso INAPA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S/N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30/11/23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 dirty="0" err="1">
                          <a:solidFill>
                            <a:srgbClr val="1F2937"/>
                          </a:solidFill>
                          <a:latin typeface="Calibri"/>
                        </a:rPr>
                        <a:t>Licencia</a:t>
                      </a:r>
                      <a:r>
                        <a:rPr sz="850" dirty="0">
                          <a:solidFill>
                            <a:srgbClr val="1F2937"/>
                          </a:solidFill>
                          <a:latin typeface="Calibri"/>
                        </a:rPr>
                        <a:t> Construcción MIVED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VUC0255-2024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dirty="0">
                          <a:solidFill>
                            <a:srgbClr val="374151"/>
                          </a:solidFill>
                          <a:latin typeface="Calibri"/>
                        </a:rPr>
                        <a:t>12/02/24</a:t>
                      </a:r>
                    </a:p>
                  </a:txBody>
                  <a:tcPr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800" b="1" dirty="0">
                          <a:solidFill>
                            <a:srgbClr val="16A34A"/>
                          </a:solidFill>
                          <a:latin typeface="+mn-lt"/>
                        </a:rPr>
                        <a:t>APROBADO</a:t>
                      </a:r>
                      <a:endParaRPr sz="800" b="1" dirty="0">
                        <a:solidFill>
                          <a:srgbClr val="EAB308"/>
                        </a:solidFill>
                        <a:latin typeface="Calibri"/>
                      </a:endParaRP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Clasificación provisional CONFOTUR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NÚM. 61-2025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10/10/24</a:t>
                      </a:r>
                    </a:p>
                  </a:txBody>
                  <a:tcPr marR="45720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6A34A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13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F2937"/>
                          </a:solidFill>
                          <a:latin typeface="Calibri"/>
                        </a:rPr>
                        <a:t>Clasificación definitiva CONFOTUR</a:t>
                      </a:r>
                    </a:p>
                  </a:txBody>
                  <a:tcPr marR="45720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CONFOTUR01-01201</a:t>
                      </a:r>
                    </a:p>
                  </a:txBody>
                  <a:tcPr marR="45720"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R="45720"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3B6BB0"/>
                          </a:solidFill>
                          <a:latin typeface="Calibri"/>
                        </a:rPr>
                        <a:t>EN PROCESO</a:t>
                      </a:r>
                    </a:p>
                  </a:txBody>
                  <a:tcPr marR="45720"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87130"/>
            <a:ext cx="841248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 </a:t>
            </a:r>
            <a:r>
              <a:rPr sz="11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Clasificación</a:t>
            </a:r>
            <a:r>
              <a:rPr sz="11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definitiva</a:t>
            </a:r>
            <a:r>
              <a:rPr sz="11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 CONFOTUR</a:t>
            </a:r>
            <a:r>
              <a:rPr sz="11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: en </a:t>
            </a:r>
            <a:r>
              <a:rPr sz="11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proceso</a:t>
            </a:r>
            <a:r>
              <a:rPr sz="11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475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plant with the sun shining through it&#10;&#10;AI-generated content may be incorrect.">
            <a:extLst>
              <a:ext uri="{FF2B5EF4-FFF2-40B4-BE49-F238E27FC236}">
                <a16:creationId xmlns:a16="http://schemas.microsoft.com/office/drawing/2014/main" id="{65016879-291A-20D1-A128-67F555D04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>
            <a:fillRect/>
          </a:stretch>
        </p:blipFill>
        <p:spPr>
          <a:xfrm>
            <a:off x="-2285" y="7"/>
            <a:ext cx="9143999" cy="51434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46640" y="3414251"/>
            <a:ext cx="4878765" cy="1443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68580" tIns="34290" rIns="68580" bIns="34290" rtlCol="0" anchor="b">
            <a:normAutofit/>
          </a:bodyPr>
          <a:lstStyle/>
          <a:p>
            <a:pPr marL="9525"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s-DO" sz="3900" spc="-68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Informe</a:t>
            </a:r>
            <a:r>
              <a:rPr lang="es-DO" sz="3900" spc="-143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 </a:t>
            </a:r>
            <a:r>
              <a:rPr lang="es-DO" sz="3900" spc="38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de</a:t>
            </a:r>
            <a:r>
              <a:rPr lang="es-DO" sz="3900" spc="-143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 </a:t>
            </a:r>
            <a:r>
              <a:rPr lang="es-DO" sz="3900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Ventas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4FB8B37-EA80-921F-87A6-E552C541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8" t="5151" r="7182" b="4430"/>
          <a:stretch>
            <a:fillRect/>
          </a:stretch>
        </p:blipFill>
        <p:spPr>
          <a:xfrm>
            <a:off x="267414" y="545358"/>
            <a:ext cx="2537799" cy="1914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38212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 algn="l">
              <a:spcBef>
                <a:spcPts val="98"/>
              </a:spcBef>
            </a:pPr>
            <a:r>
              <a:rPr lang="en-US" sz="2400" dirty="0" err="1">
                <a:solidFill>
                  <a:srgbClr val="FF6063"/>
                </a:solidFill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z="2400" dirty="0">
                <a:solidFill>
                  <a:srgbClr val="FF6063"/>
                </a:solidFill>
                <a:latin typeface="Fahkwang" pitchFamily="2" charset="-34"/>
                <a:cs typeface="Fahkwang" pitchFamily="2" charset="-34"/>
              </a:rPr>
              <a:t> </a:t>
            </a:r>
            <a:r>
              <a:rPr lang="en-US" sz="2400" dirty="0" err="1">
                <a:solidFill>
                  <a:srgbClr val="FF6063"/>
                </a:solidFill>
                <a:latin typeface="Fahkwang" pitchFamily="2" charset="-34"/>
                <a:cs typeface="Fahkwang" pitchFamily="2" charset="-34"/>
              </a:rPr>
              <a:t>Totales</a:t>
            </a:r>
            <a:endParaRPr lang="en-US" sz="2400" dirty="0">
              <a:solidFill>
                <a:srgbClr val="FF6063"/>
              </a:solidFill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9BD3D-4223-76EF-6B4B-25131A18512A}"/>
              </a:ext>
            </a:extLst>
          </p:cNvPr>
          <p:cNvSpPr txBox="1"/>
          <p:nvPr/>
        </p:nvSpPr>
        <p:spPr>
          <a:xfrm>
            <a:off x="2436358" y="545357"/>
            <a:ext cx="14137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Ariel Grasso</a:t>
            </a:r>
            <a:endParaRPr lang="es-ES_tradnl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A9D43-F4C5-EDA6-7957-3FBF5809B15E}"/>
              </a:ext>
            </a:extLst>
          </p:cNvPr>
          <p:cNvSpPr txBox="1"/>
          <p:nvPr/>
        </p:nvSpPr>
        <p:spPr>
          <a:xfrm>
            <a:off x="1903633" y="2521615"/>
            <a:ext cx="14287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Punta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Cana </a:t>
            </a:r>
            <a:r>
              <a:rPr lang="pt-BR" sz="900" dirty="0" err="1">
                <a:latin typeface="Fahkwang" pitchFamily="2" charset="-34"/>
                <a:cs typeface="Fahkwang" pitchFamily="2" charset="-34"/>
              </a:rPr>
              <a:t>Solution</a:t>
            </a:r>
            <a:endParaRPr lang="es-ES_tradnl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B4636-F47A-36CE-47F4-B056C72EDE28}"/>
              </a:ext>
            </a:extLst>
          </p:cNvPr>
          <p:cNvSpPr txBox="1"/>
          <p:nvPr/>
        </p:nvSpPr>
        <p:spPr>
          <a:xfrm>
            <a:off x="-129852" y="2199486"/>
            <a:ext cx="14287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Plusval</a:t>
            </a:r>
            <a:endParaRPr lang="es-ES_tradnl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E5376-9C5F-05DB-7A5A-05929922A6D5}"/>
              </a:ext>
            </a:extLst>
          </p:cNvPr>
          <p:cNvSpPr txBox="1"/>
          <p:nvPr/>
        </p:nvSpPr>
        <p:spPr>
          <a:xfrm>
            <a:off x="1" y="627794"/>
            <a:ext cx="102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>
                <a:latin typeface="Fahkwang" pitchFamily="2" charset="-34"/>
                <a:cs typeface="Fahkwang" pitchFamily="2" charset="-34"/>
              </a:rPr>
              <a:t>Equipo ARAYA</a:t>
            </a:r>
            <a:endParaRPr lang="es-ES_tradnl" sz="900" dirty="0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5B7A5A7-4B8B-AB9D-AD1F-1FA1FAA8C8CC}"/>
              </a:ext>
            </a:extLst>
          </p:cNvPr>
          <p:cNvSpPr txBox="1"/>
          <p:nvPr/>
        </p:nvSpPr>
        <p:spPr>
          <a:xfrm>
            <a:off x="2524040" y="1839280"/>
            <a:ext cx="14287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900" dirty="0" err="1">
                <a:latin typeface="Fahkwang" pitchFamily="2" charset="-34"/>
                <a:cs typeface="Fahkwang" pitchFamily="2" charset="-34"/>
              </a:rPr>
              <a:t>Cumbre</a:t>
            </a:r>
            <a:endParaRPr lang="es-ES_tradnl" sz="9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CD28AD-305F-8E50-2B7F-ECFF7E041FD6}"/>
              </a:ext>
            </a:extLst>
          </p:cNvPr>
          <p:cNvSpPr txBox="1"/>
          <p:nvPr/>
        </p:nvSpPr>
        <p:spPr>
          <a:xfrm>
            <a:off x="6000750" y="725910"/>
            <a:ext cx="2817446" cy="87908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r">
              <a:spcBef>
                <a:spcPts val="75"/>
              </a:spcBef>
            </a:pPr>
            <a:r>
              <a:rPr lang="pt-BR" sz="1200" spc="41" dirty="0">
                <a:latin typeface="Fahkwang" pitchFamily="2" charset="-34"/>
                <a:cs typeface="Fahkwang" pitchFamily="2" charset="-34"/>
              </a:rPr>
              <a:t>279</a:t>
            </a:r>
            <a:r>
              <a:rPr lang="pt-BR" sz="1200" spc="-38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Reservadas</a:t>
            </a:r>
          </a:p>
          <a:p>
            <a:pPr marL="9525" algn="r">
              <a:spcBef>
                <a:spcPts val="75"/>
              </a:spcBef>
            </a:pPr>
            <a:r>
              <a:rPr lang="pt-BR" sz="1200" dirty="0">
                <a:latin typeface="Fahkwang" pitchFamily="2" charset="-34"/>
                <a:cs typeface="Fahkwang" pitchFamily="2" charset="-34"/>
              </a:rPr>
              <a:t>16.5 por Mes.</a:t>
            </a:r>
          </a:p>
          <a:p>
            <a:pPr marL="9525" algn="r">
              <a:spcBef>
                <a:spcPts val="75"/>
              </a:spcBef>
            </a:pPr>
            <a:r>
              <a:rPr lang="pt-BR" b="1" spc="41" dirty="0">
                <a:latin typeface="Fahkwang" pitchFamily="2" charset="-34"/>
                <a:cs typeface="Fahkwang" pitchFamily="2" charset="-34"/>
              </a:rPr>
              <a:t>228 </a:t>
            </a:r>
            <a:r>
              <a:rPr lang="pt-BR" b="1" spc="41" dirty="0" err="1">
                <a:latin typeface="Fahkwang" pitchFamily="2" charset="-34"/>
                <a:cs typeface="Fahkwang" pitchFamily="2" charset="-34"/>
              </a:rPr>
              <a:t>Activas</a:t>
            </a:r>
            <a:endParaRPr lang="pt-BR" b="1" spc="41" dirty="0">
              <a:latin typeface="Fahkwang" pitchFamily="2" charset="-34"/>
              <a:cs typeface="Fahkwang" pitchFamily="2" charset="-34"/>
            </a:endParaRPr>
          </a:p>
          <a:p>
            <a:pPr marL="9525" algn="r">
              <a:spcBef>
                <a:spcPts val="75"/>
              </a:spcBef>
            </a:pPr>
            <a:r>
              <a:rPr lang="pt-BR" sz="1200" b="1" dirty="0">
                <a:latin typeface="Fahkwang" pitchFamily="2" charset="-34"/>
                <a:cs typeface="Fahkwang" pitchFamily="2" charset="-34"/>
              </a:rPr>
              <a:t>14.25 por Mes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CD837D-DCF3-B9F0-4ECB-9818348ED1D0}"/>
              </a:ext>
            </a:extLst>
          </p:cNvPr>
          <p:cNvSpPr txBox="1"/>
          <p:nvPr/>
        </p:nvSpPr>
        <p:spPr>
          <a:xfrm>
            <a:off x="2612327" y="1652093"/>
            <a:ext cx="18027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Lacig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900" dirty="0" err="1">
                <a:latin typeface="Fahkwang" pitchFamily="2" charset="-34"/>
                <a:cs typeface="Fahkwang" pitchFamily="2" charset="-34"/>
              </a:rPr>
              <a:t>By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Keller Williams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0E8B30B-11AA-CB25-28AD-E08D7F31F805}"/>
              </a:ext>
            </a:extLst>
          </p:cNvPr>
          <p:cNvSpPr txBox="1"/>
          <p:nvPr/>
        </p:nvSpPr>
        <p:spPr>
          <a:xfrm>
            <a:off x="2559947" y="2086686"/>
            <a:ext cx="20120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>
                <a:latin typeface="Fahkwang" pitchFamily="2" charset="-34"/>
                <a:cs typeface="Fahkwang" pitchFamily="2" charset="-34"/>
              </a:rPr>
              <a:t>Mundo </a:t>
            </a:r>
            <a:r>
              <a:rPr lang="pt-BR" sz="900" dirty="0" err="1">
                <a:latin typeface="Fahkwang" pitchFamily="2" charset="-34"/>
                <a:cs typeface="Fahkwang" pitchFamily="2" charset="-34"/>
              </a:rPr>
              <a:t>Inmobiliario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del Caribe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E106BE2-0C0E-DC1B-AA2E-D74281D217CC}"/>
              </a:ext>
            </a:extLst>
          </p:cNvPr>
          <p:cNvSpPr txBox="1"/>
          <p:nvPr/>
        </p:nvSpPr>
        <p:spPr>
          <a:xfrm>
            <a:off x="2286000" y="2305337"/>
            <a:ext cx="14287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900" dirty="0">
                <a:latin typeface="Fahkwang" pitchFamily="2" charset="-34"/>
                <a:cs typeface="Fahkwang" pitchFamily="2" charset="-34"/>
              </a:rPr>
              <a:t> Paradise</a:t>
            </a:r>
            <a:endParaRPr lang="es-ES_tradnl" sz="9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AD12BC-BDDF-288B-5BEE-025D4369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757" y="566738"/>
            <a:ext cx="1887881" cy="217071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D79E8E0-A5CE-768C-9609-2B288FD62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8" y="3095304"/>
            <a:ext cx="8946944" cy="18334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4300" y="625692"/>
            <a:ext cx="4686300" cy="161005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latin typeface="Fahkwang" pitchFamily="2" charset="-34"/>
                <a:cs typeface="Fahkwang" pitchFamily="2" charset="-34"/>
              </a:rPr>
              <a:t>Meta</a:t>
            </a:r>
            <a:r>
              <a:rPr lang="en-US" sz="1500" dirty="0">
                <a:latin typeface="Fahkwang" pitchFamily="2" charset="-34"/>
                <a:cs typeface="Fahkwang" pitchFamily="2" charset="-34"/>
              </a:rPr>
              <a:t>s</a:t>
            </a:r>
            <a:r>
              <a:rPr sz="1500" spc="-98" dirty="0">
                <a:latin typeface="Fahkwang" pitchFamily="2" charset="-34"/>
                <a:cs typeface="Fahkwang" pitchFamily="2" charset="-34"/>
              </a:rPr>
              <a:t> </a:t>
            </a:r>
            <a:r>
              <a:rPr sz="1500" spc="38" dirty="0">
                <a:latin typeface="Fahkwang" pitchFamily="2" charset="-34"/>
                <a:cs typeface="Fahkwang" pitchFamily="2" charset="-34"/>
              </a:rPr>
              <a:t>de</a:t>
            </a:r>
            <a:r>
              <a:rPr sz="1500" spc="-53" dirty="0">
                <a:latin typeface="Fahkwang" pitchFamily="2" charset="-34"/>
                <a:cs typeface="Fahkwang" pitchFamily="2" charset="-34"/>
              </a:rPr>
              <a:t> </a:t>
            </a:r>
            <a:r>
              <a:rPr sz="1500" dirty="0" err="1">
                <a:latin typeface="Fahkwang" pitchFamily="2" charset="-34"/>
                <a:cs typeface="Fahkwang" pitchFamily="2" charset="-34"/>
              </a:rPr>
              <a:t>Recaudación</a:t>
            </a:r>
            <a:r>
              <a:rPr sz="1500" spc="-10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1500" spc="-105" dirty="0">
                <a:latin typeface="Fahkwang" pitchFamily="2" charset="-34"/>
                <a:cs typeface="Fahkwang" pitchFamily="2" charset="-34"/>
              </a:rPr>
              <a:t>  </a:t>
            </a:r>
            <a:r>
              <a:rPr sz="1500" b="1" spc="86" dirty="0">
                <a:latin typeface="Fahkwang" pitchFamily="2" charset="-34"/>
                <a:cs typeface="Fahkwang" pitchFamily="2" charset="-34"/>
              </a:rPr>
              <a:t>FASE</a:t>
            </a:r>
            <a:r>
              <a:rPr sz="1500" b="1" spc="-90" dirty="0">
                <a:latin typeface="Fahkwang" pitchFamily="2" charset="-34"/>
                <a:cs typeface="Fahkwang" pitchFamily="2" charset="-34"/>
              </a:rPr>
              <a:t> </a:t>
            </a:r>
            <a:r>
              <a:rPr sz="1500" b="1" spc="-153" dirty="0">
                <a:latin typeface="Fahkwang" pitchFamily="2" charset="-34"/>
                <a:cs typeface="Fahkwang" pitchFamily="2" charset="-34"/>
              </a:rPr>
              <a:t>I</a:t>
            </a:r>
            <a:r>
              <a:rPr lang="es-ES" sz="1500" b="1" spc="-53" dirty="0">
                <a:latin typeface="Fahkwang" pitchFamily="2" charset="-34"/>
                <a:cs typeface="Fahkwang" pitchFamily="2" charset="-34"/>
              </a:rPr>
              <a:t>     </a:t>
            </a:r>
            <a:r>
              <a:rPr sz="1500" b="1" spc="64" dirty="0">
                <a:latin typeface="Fahkwang" pitchFamily="2" charset="-34"/>
                <a:cs typeface="Fahkwang" pitchFamily="2" charset="-34"/>
              </a:rPr>
              <a:t>US</a:t>
            </a:r>
            <a:r>
              <a:rPr lang="es-ES" sz="1500" b="1" spc="64" dirty="0">
                <a:latin typeface="Fahkwang" pitchFamily="2" charset="-34"/>
                <a:cs typeface="Fahkwang" pitchFamily="2" charset="-34"/>
              </a:rPr>
              <a:t>$</a:t>
            </a:r>
            <a:r>
              <a:rPr sz="1500" b="1" spc="64" dirty="0">
                <a:latin typeface="Fahkwang" pitchFamily="2" charset="-34"/>
                <a:cs typeface="Fahkwang" pitchFamily="2" charset="-34"/>
              </a:rPr>
              <a:t>22</a:t>
            </a:r>
            <a:r>
              <a:rPr lang="es-ES" sz="1500" b="1" spc="64" dirty="0">
                <a:latin typeface="Fahkwang" pitchFamily="2" charset="-34"/>
                <a:cs typeface="Fahkwang" pitchFamily="2" charset="-34"/>
              </a:rPr>
              <a:t>.1</a:t>
            </a:r>
            <a:r>
              <a:rPr sz="1500" b="1" spc="64" dirty="0">
                <a:latin typeface="Fahkwang" pitchFamily="2" charset="-34"/>
                <a:cs typeface="Fahkwang" pitchFamily="2" charset="-34"/>
              </a:rPr>
              <a:t>M</a:t>
            </a:r>
            <a:endParaRPr lang="en-US" sz="1500" b="1" spc="64" dirty="0">
              <a:latin typeface="Fahkwang" pitchFamily="2" charset="-34"/>
              <a:cs typeface="Fahkwang" pitchFamily="2" charset="-34"/>
            </a:endParaRPr>
          </a:p>
          <a:p>
            <a:pPr marL="9525">
              <a:spcBef>
                <a:spcPts val="75"/>
              </a:spcBef>
            </a:pPr>
            <a:r>
              <a:rPr lang="en-US" sz="1500" b="1" spc="64" dirty="0">
                <a:latin typeface="Fahkwang" pitchFamily="2" charset="-34"/>
                <a:cs typeface="Fahkwang" pitchFamily="2" charset="-34"/>
              </a:rPr>
              <a:t>                                     FASE II  US$25.2M</a:t>
            </a:r>
          </a:p>
          <a:p>
            <a:pPr marL="9525">
              <a:spcBef>
                <a:spcPts val="75"/>
              </a:spcBef>
            </a:pPr>
            <a:endParaRPr lang="en-US" sz="1500" spc="64" dirty="0">
              <a:latin typeface="Fahkwang" pitchFamily="2" charset="-34"/>
              <a:cs typeface="Fahkwang" pitchFamily="2" charset="-34"/>
            </a:endParaRPr>
          </a:p>
          <a:p>
            <a:pPr marL="9525">
              <a:spcBef>
                <a:spcPts val="75"/>
              </a:spcBef>
            </a:pPr>
            <a:r>
              <a:rPr lang="en-US" sz="1350" b="1" spc="64" dirty="0">
                <a:latin typeface="Fahkwang" pitchFamily="2" charset="-34"/>
                <a:cs typeface="Fahkwang" pitchFamily="2" charset="-34"/>
              </a:rPr>
              <a:t>228 Activas </a:t>
            </a:r>
          </a:p>
          <a:p>
            <a:pPr marL="9525">
              <a:spcBef>
                <a:spcPts val="75"/>
              </a:spcBef>
            </a:pPr>
            <a:r>
              <a:rPr lang="en-US" sz="1350" spc="64" dirty="0">
                <a:latin typeface="Fahkwang" pitchFamily="2" charset="-34"/>
                <a:cs typeface="Fahkwang" pitchFamily="2" charset="-34"/>
              </a:rPr>
              <a:t>136 Activas - 87% Fase I</a:t>
            </a:r>
          </a:p>
          <a:p>
            <a:pPr marL="9525">
              <a:spcBef>
                <a:spcPts val="75"/>
              </a:spcBef>
            </a:pPr>
            <a:r>
              <a:rPr lang="en-US" sz="1350" spc="64" dirty="0">
                <a:latin typeface="Fahkwang" pitchFamily="2" charset="-34"/>
                <a:cs typeface="Fahkwang" pitchFamily="2" charset="-34"/>
              </a:rPr>
              <a:t>  92 Activas - 54% Fase II</a:t>
            </a:r>
          </a:p>
          <a:p>
            <a:pPr marL="9525">
              <a:spcBef>
                <a:spcPts val="75"/>
              </a:spcBef>
            </a:pPr>
            <a:r>
              <a:rPr lang="en-US" sz="1350" spc="64" dirty="0">
                <a:latin typeface="Fahkwang" pitchFamily="2" charset="-34"/>
                <a:cs typeface="Fahkwang" pitchFamily="2" charset="-34"/>
              </a:rPr>
              <a:t> *51</a:t>
            </a:r>
            <a:r>
              <a:rPr lang="en-US" sz="1050" i="1" spc="64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1050" i="1" spc="64" dirty="0" err="1">
                <a:latin typeface="Fahkwang" pitchFamily="2" charset="-34"/>
                <a:cs typeface="Fahkwang" pitchFamily="2" charset="-34"/>
              </a:rPr>
              <a:t>Desistidas</a:t>
            </a:r>
            <a:r>
              <a:rPr lang="en-US" sz="1050" b="1" i="1" spc="64" dirty="0">
                <a:latin typeface="Fahkwang" pitchFamily="2" charset="-34"/>
                <a:cs typeface="Fahkwang" pitchFamily="2" charset="-34"/>
              </a:rPr>
              <a:t> – </a:t>
            </a:r>
            <a:r>
              <a:rPr lang="en-US" sz="1050" i="1" spc="64" dirty="0">
                <a:latin typeface="Fahkwang" pitchFamily="2" charset="-34"/>
                <a:cs typeface="Fahkwang" pitchFamily="2" charset="-34"/>
              </a:rPr>
              <a:t>18% de las Reservas.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16B643E-4C26-DBE2-32CE-8BC640838BD5}"/>
              </a:ext>
            </a:extLst>
          </p:cNvPr>
          <p:cNvSpPr txBox="1"/>
          <p:nvPr/>
        </p:nvSpPr>
        <p:spPr>
          <a:xfrm>
            <a:off x="371475" y="4517808"/>
            <a:ext cx="8401050" cy="4379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s-ES" sz="1350" i="1" dirty="0">
                <a:latin typeface="Fahkwang" pitchFamily="2" charset="-34"/>
                <a:cs typeface="Fahkwang" pitchFamily="2" charset="-34"/>
              </a:rPr>
              <a:t>Para el mes de mayo teníamos 217 Unidades Activas.</a:t>
            </a:r>
          </a:p>
          <a:p>
            <a:pPr marL="9525">
              <a:spcBef>
                <a:spcPts val="75"/>
              </a:spcBef>
            </a:pPr>
            <a:r>
              <a:rPr lang="es-ES" sz="1350" i="1" dirty="0">
                <a:latin typeface="Fahkwang" pitchFamily="2" charset="-34"/>
                <a:cs typeface="Fahkwang" pitchFamily="2" charset="-34"/>
              </a:rPr>
              <a:t>De la Fase II se han reservado 92 Unidades (28 Garden, 32 Sunset y 32 </a:t>
            </a:r>
            <a:r>
              <a:rPr lang="es-ES" sz="1350" i="1" dirty="0" err="1">
                <a:latin typeface="Fahkwang" pitchFamily="2" charset="-34"/>
                <a:cs typeface="Fahkwang" pitchFamily="2" charset="-34"/>
              </a:rPr>
              <a:t>Balcony</a:t>
            </a:r>
            <a:r>
              <a:rPr lang="es-ES" sz="1350" i="1" dirty="0">
                <a:latin typeface="Fahkwang" pitchFamily="2" charset="-34"/>
                <a:cs typeface="Fahkwang" pitchFamily="2" charset="-34"/>
              </a:rPr>
              <a:t> Flex). </a:t>
            </a:r>
            <a:endParaRPr sz="1350" i="1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A072BD7-91DB-9E8C-3D5D-A6451F18B5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81A86F3-1D6F-CD6C-75FF-D0A943B8D8C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3638212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 dirty="0" err="1">
                <a:latin typeface="Fahkwang" pitchFamily="2" charset="-34"/>
                <a:cs typeface="Fahkwang" pitchFamily="2" charset="-34"/>
              </a:rPr>
              <a:t>Situación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2400" dirty="0" err="1">
                <a:latin typeface="Fahkwang" pitchFamily="2" charset="-34"/>
                <a:cs typeface="Fahkwang" pitchFamily="2" charset="-34"/>
              </a:rPr>
              <a:t>Inventario</a:t>
            </a:r>
            <a:endParaRPr lang="en-US" sz="2400" spc="-8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0FFAC479-6387-1AB6-BAB0-98634AA12D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B3CCA8F-2E88-C567-D51E-487E5790C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52" y="2229417"/>
            <a:ext cx="7372350" cy="21907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ED71B59-D1D9-4C93-6E86-89D9D58BC95A}"/>
              </a:ext>
            </a:extLst>
          </p:cNvPr>
          <p:cNvSpPr txBox="1"/>
          <p:nvPr/>
        </p:nvSpPr>
        <p:spPr>
          <a:xfrm>
            <a:off x="400050" y="3829050"/>
            <a:ext cx="828675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just">
              <a:spcBef>
                <a:spcPts val="75"/>
              </a:spcBef>
            </a:pPr>
            <a:r>
              <a:rPr lang="es-ES_tradnl" sz="1350" i="1" spc="34" dirty="0">
                <a:latin typeface="Fahkwang" pitchFamily="2" charset="-34"/>
                <a:cs typeface="Fahkwang" pitchFamily="2" charset="-34"/>
              </a:rPr>
              <a:t> 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ED297FC1-29F2-61E7-EF07-E2EC403B0E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97F6135E-A1E8-7DFE-1691-2B380280E7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5600700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sz="2400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</a:t>
            </a:r>
            <a:endParaRPr lang="en-US" sz="2400" spc="-8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794E2448-FB5E-F803-E411-C7BA9D4B7D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6D1536-7656-584B-C936-6CEE2CFFD7CE}"/>
              </a:ext>
            </a:extLst>
          </p:cNvPr>
          <p:cNvSpPr txBox="1"/>
          <p:nvPr/>
        </p:nvSpPr>
        <p:spPr>
          <a:xfrm>
            <a:off x="200721" y="4457340"/>
            <a:ext cx="8881809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just">
              <a:spcBef>
                <a:spcPts val="75"/>
              </a:spcBef>
            </a:pPr>
            <a:endParaRPr lang="es-ES" sz="1200" i="1" spc="34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  <a:p>
            <a:pPr marL="9525" algn="just">
              <a:spcBef>
                <a:spcPts val="75"/>
              </a:spcBef>
            </a:pPr>
            <a:r>
              <a:rPr lang="es-ES" sz="1200" i="1" spc="34" dirty="0">
                <a:latin typeface="Fahkwang" pitchFamily="2" charset="-34"/>
                <a:cs typeface="Fahkwang" pitchFamily="2" charset="-34"/>
              </a:rPr>
              <a:t>De las 18 Reservas, se destaca que </a:t>
            </a:r>
            <a:r>
              <a:rPr lang="pt-BR" sz="1200" i="1" spc="41" dirty="0">
                <a:latin typeface="Fahkwang" pitchFamily="2" charset="-34"/>
                <a:cs typeface="Fahkwang" pitchFamily="2" charset="-34"/>
              </a:rPr>
              <a:t>4 fueron del equipo interno ARAYA 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y 4 fueron de Punta Cana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024C6-FBDC-EF6D-413D-7CE62DBF6FC3}"/>
              </a:ext>
            </a:extLst>
          </p:cNvPr>
          <p:cNvSpPr txBox="1"/>
          <p:nvPr/>
        </p:nvSpPr>
        <p:spPr>
          <a:xfrm>
            <a:off x="580136" y="66157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50" i="1" spc="34" dirty="0" err="1">
                <a:latin typeface="Fahkwang" pitchFamily="2" charset="-34"/>
                <a:cs typeface="Fahkwang" pitchFamily="2" charset="-34"/>
              </a:rPr>
              <a:t>Balcony</a:t>
            </a:r>
            <a:r>
              <a:rPr lang="es-ES" sz="1350" i="1" spc="34" dirty="0">
                <a:latin typeface="Fahkwang" pitchFamily="2" charset="-34"/>
                <a:cs typeface="Fahkwang" pitchFamily="2" charset="-34"/>
              </a:rPr>
              <a:t> – 6.3 Unidades / Mes</a:t>
            </a:r>
          </a:p>
          <a:p>
            <a:r>
              <a:rPr lang="es-ES" sz="1350" i="1" spc="34" dirty="0">
                <a:latin typeface="Fahkwang" pitchFamily="2" charset="-34"/>
                <a:cs typeface="Fahkwang" pitchFamily="2" charset="-34"/>
              </a:rPr>
              <a:t>Garden – 5.6 Unidades / Mes</a:t>
            </a:r>
          </a:p>
          <a:p>
            <a:r>
              <a:rPr lang="es-ES" sz="1350" i="1" spc="34" dirty="0">
                <a:latin typeface="Fahkwang" pitchFamily="2" charset="-34"/>
                <a:cs typeface="Fahkwang" pitchFamily="2" charset="-34"/>
              </a:rPr>
              <a:t>Sunset – 5.2 Unidades / Mes</a:t>
            </a:r>
          </a:p>
          <a:p>
            <a:r>
              <a:rPr lang="es-ES" sz="1350" i="1" spc="34" dirty="0">
                <a:latin typeface="Fahkwang" pitchFamily="2" charset="-34"/>
                <a:cs typeface="Fahkwang" pitchFamily="2" charset="-34"/>
              </a:rPr>
              <a:t>Flex -  3.8 Unidades / Mes</a:t>
            </a:r>
            <a:endParaRPr lang="es-ES_tradnl" sz="13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536556D-BED9-1678-44DD-2C78215EF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774" y="614500"/>
            <a:ext cx="1164594" cy="13003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09A184E-8197-5D63-28E8-51D8E5D5C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207" y="618345"/>
            <a:ext cx="1228897" cy="112887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E0B778A-24CA-321F-C11C-34022C501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603" y="649238"/>
            <a:ext cx="1250331" cy="11574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346A1AF-2611-AA2A-F616-775C3F3AF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735" y="2020279"/>
            <a:ext cx="8459381" cy="25220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E3E85C-9E3D-9831-4A3F-9FC73A3B4A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4582" y="650506"/>
            <a:ext cx="1236041" cy="1171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D453-68C7-5486-2AED-68CEAE7E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02F68-D07B-DA4F-AABD-F4E94AA60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851" y="1376711"/>
            <a:ext cx="6858000" cy="17907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23A55-5926-920C-2574-33A6FE303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1851" y="3236467"/>
            <a:ext cx="6858000" cy="124182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EBBAFE2B-EC05-8FC7-6B25-A63529BAEC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0BB224D3-2EA8-7C21-D5E3-E1396CD507A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5600700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sz="2400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</a:t>
            </a:r>
            <a:endParaRPr lang="en-US" sz="2400" spc="-8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442CF-FA7C-2ED7-24CB-B66EDFE7A258}"/>
              </a:ext>
            </a:extLst>
          </p:cNvPr>
          <p:cNvSpPr txBox="1"/>
          <p:nvPr/>
        </p:nvSpPr>
        <p:spPr>
          <a:xfrm>
            <a:off x="-2799" y="498212"/>
            <a:ext cx="18774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i="1" dirty="0">
                <a:latin typeface="Fahkwang" pitchFamily="2" charset="-34"/>
                <a:cs typeface="Fahkwang" pitchFamily="2" charset="-34"/>
              </a:rPr>
              <a:t>Actualizado 30JUN2026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FF5C1B15-09F2-B4FA-5220-E1548927D1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C0815A-EDFC-0AA2-CD14-AFC5D749C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1" y="2259157"/>
            <a:ext cx="8216459" cy="262926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2211EE-EFC4-8FF1-B823-C5A0C0488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51" y="851303"/>
            <a:ext cx="1736174" cy="130034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14BE335-7E64-BC09-182F-346086F12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409" y="851303"/>
            <a:ext cx="1721884" cy="130034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D301C14-41E5-CB8C-21E3-781A666C7D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587" y="851303"/>
            <a:ext cx="1729029" cy="127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72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2D20-CE4B-B57A-1E94-BC0FD7F4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141FC-7AF6-5635-E257-2A0C1FE39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84722"/>
            <a:ext cx="6858000" cy="17907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ECC8D0-0E3C-AD94-D9AF-6953C4744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444478"/>
            <a:ext cx="6858000" cy="124182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E27AED8-A95A-DD62-983F-9FC5171E49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5600700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sz="2400" dirty="0" err="1">
                <a:latin typeface="Fahkwang" pitchFamily="2" charset="-34"/>
                <a:cs typeface="Fahkwang" pitchFamily="2" charset="-34"/>
              </a:rPr>
              <a:t>Ubicacion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</a:t>
            </a:r>
            <a:endParaRPr lang="en-US" sz="2400" spc="-8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7AB0CB1-8798-A630-4647-40350A3CEA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4272" y="-93570"/>
            <a:ext cx="4571999" cy="729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69C69-449E-DC78-A82F-18CD1BBDDE00}"/>
              </a:ext>
            </a:extLst>
          </p:cNvPr>
          <p:cNvSpPr txBox="1"/>
          <p:nvPr/>
        </p:nvSpPr>
        <p:spPr>
          <a:xfrm>
            <a:off x="-2799" y="498212"/>
            <a:ext cx="18774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i="1" dirty="0">
                <a:latin typeface="Fahkwang" pitchFamily="2" charset="-34"/>
                <a:cs typeface="Fahkwang" pitchFamily="2" charset="-34"/>
              </a:rPr>
              <a:t>Actualizado 30JUN2026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088B373-272A-2DAB-A9FC-0BFA97EB7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448E94-9FDB-6748-530E-4E703C6B4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68" y="2228850"/>
            <a:ext cx="8345065" cy="257925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4573B7B-DAAC-0FF9-B2F1-C387DDD48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1" y="955128"/>
            <a:ext cx="1286054" cy="115744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0F8D59C-6527-95F8-9460-307FB6EFC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651" y="951231"/>
            <a:ext cx="1407515" cy="112887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A450BA-3F4B-9F03-57CF-408F727EBB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5699" y="951231"/>
            <a:ext cx="1236041" cy="112887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1A0DE88-C753-151E-884C-3E7593510E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8050" y="951231"/>
            <a:ext cx="1207463" cy="11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5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6581F11C-2702-5684-CE94-E21E3F80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4" t="4387" r="5713" b="3092"/>
          <a:stretch>
            <a:fillRect/>
          </a:stretch>
        </p:blipFill>
        <p:spPr>
          <a:xfrm>
            <a:off x="228600" y="672406"/>
            <a:ext cx="2421814" cy="18023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71900" y="765597"/>
            <a:ext cx="3657601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s-ES_tradnl" sz="1500" b="1" spc="41" dirty="0">
                <a:latin typeface="Fahkwang" pitchFamily="2" charset="-34"/>
                <a:cs typeface="Fahkwang" pitchFamily="2" charset="-34"/>
              </a:rPr>
              <a:t>198</a:t>
            </a:r>
            <a:r>
              <a:rPr lang="es-ES_tradnl" sz="1500" spc="-26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1500" dirty="0">
                <a:latin typeface="Fahkwang" pitchFamily="2" charset="-34"/>
                <a:cs typeface="Fahkwang" pitchFamily="2" charset="-34"/>
              </a:rPr>
              <a:t>Unidades</a:t>
            </a:r>
            <a:r>
              <a:rPr lang="es-ES_tradnl" sz="1500" spc="-56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1500" spc="-8" dirty="0">
                <a:latin typeface="Fahkwang" pitchFamily="2" charset="-34"/>
                <a:cs typeface="Fahkwang" pitchFamily="2" charset="-34"/>
              </a:rPr>
              <a:t>Depuradas</a:t>
            </a:r>
          </a:p>
          <a:p>
            <a:pPr marL="9525">
              <a:spcBef>
                <a:spcPts val="75"/>
              </a:spcBef>
            </a:pPr>
            <a:r>
              <a:rPr lang="es-ES_tradnl" sz="1500" b="1" spc="-8" dirty="0">
                <a:latin typeface="Fahkwang" pitchFamily="2" charset="-34"/>
                <a:cs typeface="Fahkwang" pitchFamily="2" charset="-34"/>
              </a:rPr>
              <a:t>   30</a:t>
            </a:r>
            <a:r>
              <a:rPr lang="es-ES_tradnl" sz="1500" spc="-8" dirty="0">
                <a:latin typeface="Fahkwang" pitchFamily="2" charset="-34"/>
                <a:cs typeface="Fahkwang" pitchFamily="2" charset="-34"/>
              </a:rPr>
              <a:t>  Unidades por Depurar</a:t>
            </a:r>
            <a:endParaRPr lang="es-ES_tradnl" sz="150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70E92D1-1CC1-01C4-17D7-35B46C517376}"/>
              </a:ext>
            </a:extLst>
          </p:cNvPr>
          <p:cNvSpPr txBox="1"/>
          <p:nvPr/>
        </p:nvSpPr>
        <p:spPr>
          <a:xfrm>
            <a:off x="3771901" y="1416577"/>
            <a:ext cx="5029199" cy="95859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just">
              <a:spcBef>
                <a:spcPts val="75"/>
              </a:spcBef>
            </a:pPr>
            <a:r>
              <a:rPr lang="es-ES_tradnl" sz="1200" b="1" i="1" spc="41" noProof="1">
                <a:latin typeface="Fahkwang" pitchFamily="2" charset="-34"/>
                <a:cs typeface="Fahkwang" pitchFamily="2" charset="-34"/>
              </a:rPr>
              <a:t>161 unidades vinculadas al 30 de junio</a:t>
            </a:r>
            <a:r>
              <a:rPr lang="es-ES_tradnl" sz="1200" i="1" spc="41" noProof="1">
                <a:latin typeface="Fahkwang" pitchFamily="2" charset="-34"/>
                <a:cs typeface="Fahkwang" pitchFamily="2" charset="-34"/>
              </a:rPr>
              <a:t>, 11 en proceso de vinculacion y 26 en proceso de firma del contrato. </a:t>
            </a:r>
          </a:p>
          <a:p>
            <a:pPr marL="9525" algn="just">
              <a:spcBef>
                <a:spcPts val="75"/>
              </a:spcBef>
            </a:pPr>
            <a:endParaRPr lang="es-ES_tradnl" sz="1200" i="1" spc="41" noProof="1">
              <a:latin typeface="Fahkwang" pitchFamily="2" charset="-34"/>
              <a:cs typeface="Fahkwang" pitchFamily="2" charset="-34"/>
            </a:endParaRPr>
          </a:p>
          <a:p>
            <a:pPr marL="9525" algn="just">
              <a:spcBef>
                <a:spcPts val="75"/>
              </a:spcBef>
            </a:pPr>
            <a:r>
              <a:rPr lang="es-ES_tradnl" sz="1200" i="1" spc="41" noProof="1">
                <a:latin typeface="Fahkwang" pitchFamily="2" charset="-34"/>
                <a:cs typeface="Fahkwang" pitchFamily="2" charset="-34"/>
              </a:rPr>
              <a:t>Al cierre de mes hay 6 cliente en proceso de depuración y 24 clientes a la espera de documentos. </a:t>
            </a:r>
            <a:endParaRPr lang="es-ES_tradnl" sz="1200" i="1" noProof="1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7B2DA690-B4F8-3031-5EF6-C6AA30B6F6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0129D04D-6FF8-F61F-3A67-53697D9FB68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3638212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sz="2400" err="1">
                <a:latin typeface="Fahkwang" pitchFamily="2" charset="-34"/>
                <a:cs typeface="Fahkwang" pitchFamily="2" charset="-34"/>
              </a:rPr>
              <a:t>Depuradas</a:t>
            </a:r>
            <a:endParaRPr lang="en-US" sz="2400" spc="-8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7" name="object 5">
            <a:extLst>
              <a:ext uri="{FF2B5EF4-FFF2-40B4-BE49-F238E27FC236}">
                <a16:creationId xmlns:a16="http://schemas.microsoft.com/office/drawing/2014/main" id="{208AB7B6-89B9-B6A7-738E-6EBC4F77451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2" name="Imagen 10">
            <a:extLst>
              <a:ext uri="{FF2B5EF4-FFF2-40B4-BE49-F238E27FC236}">
                <a16:creationId xmlns:a16="http://schemas.microsoft.com/office/drawing/2014/main" id="{BF2C7BE4-9C8D-0CB2-D0D6-C6DFCB6A59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985"/>
          <a:stretch>
            <a:fillRect/>
          </a:stretch>
        </p:blipFill>
        <p:spPr>
          <a:xfrm>
            <a:off x="2224573" y="647233"/>
            <a:ext cx="1186028" cy="441883"/>
          </a:xfrm>
          <a:prstGeom prst="rect">
            <a:avLst/>
          </a:prstGeom>
        </p:spPr>
      </p:pic>
      <p:pic>
        <p:nvPicPr>
          <p:cNvPr id="4" name="Imagen 10">
            <a:extLst>
              <a:ext uri="{FF2B5EF4-FFF2-40B4-BE49-F238E27FC236}">
                <a16:creationId xmlns:a16="http://schemas.microsoft.com/office/drawing/2014/main" id="{5B43F179-14A4-17CD-63AF-4A2328A5B2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760" r="27721" b="67297"/>
          <a:stretch>
            <a:fillRect/>
          </a:stretch>
        </p:blipFill>
        <p:spPr>
          <a:xfrm>
            <a:off x="0" y="896837"/>
            <a:ext cx="857250" cy="285750"/>
          </a:xfrm>
          <a:prstGeom prst="rect">
            <a:avLst/>
          </a:prstGeom>
        </p:spPr>
      </p:pic>
      <p:pic>
        <p:nvPicPr>
          <p:cNvPr id="6" name="Imagen 10">
            <a:extLst>
              <a:ext uri="{FF2B5EF4-FFF2-40B4-BE49-F238E27FC236}">
                <a16:creationId xmlns:a16="http://schemas.microsoft.com/office/drawing/2014/main" id="{763F5D59-0E27-1162-BE58-B21B318ED7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652" r="33009" b="53405"/>
          <a:stretch>
            <a:fillRect/>
          </a:stretch>
        </p:blipFill>
        <p:spPr>
          <a:xfrm>
            <a:off x="428625" y="2527265"/>
            <a:ext cx="794534" cy="285750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7946C3FC-B22D-646C-4ADA-7C37BAC13D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184" r="28190" b="36924"/>
          <a:stretch>
            <a:fillRect/>
          </a:stretch>
        </p:blipFill>
        <p:spPr>
          <a:xfrm>
            <a:off x="1657350" y="2516789"/>
            <a:ext cx="851684" cy="3067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72171CB-7116-3DC7-A88B-78FA78B37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" y="2973925"/>
            <a:ext cx="8629650" cy="17988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2C2F-21F4-6556-276C-D0617891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E8F99B1-552C-5B08-8380-26FD8B03B083}"/>
              </a:ext>
            </a:extLst>
          </p:cNvPr>
          <p:cNvSpPr txBox="1"/>
          <p:nvPr/>
        </p:nvSpPr>
        <p:spPr>
          <a:xfrm>
            <a:off x="6256614" y="1133492"/>
            <a:ext cx="2506290" cy="48410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r">
              <a:spcBef>
                <a:spcPts val="75"/>
              </a:spcBef>
            </a:pPr>
            <a:r>
              <a:rPr lang="en-US" sz="1500" b="1" spc="41" dirty="0">
                <a:latin typeface="Fahkwang" pitchFamily="2" charset="-34"/>
                <a:cs typeface="Fahkwang" pitchFamily="2" charset="-34"/>
              </a:rPr>
              <a:t>164</a:t>
            </a:r>
            <a:r>
              <a:rPr sz="1500" spc="-79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1500" spc="-8" dirty="0">
                <a:latin typeface="Fahkwang" pitchFamily="2" charset="-34"/>
                <a:cs typeface="Fahkwang" pitchFamily="2" charset="-34"/>
              </a:rPr>
              <a:t>U</a:t>
            </a:r>
            <a:r>
              <a:rPr sz="1500" spc="-8" dirty="0" err="1">
                <a:latin typeface="Fahkwang" pitchFamily="2" charset="-34"/>
                <a:cs typeface="Fahkwang" pitchFamily="2" charset="-34"/>
              </a:rPr>
              <a:t>nidades</a:t>
            </a:r>
            <a:r>
              <a:rPr sz="1500" spc="-109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1500" spc="-109" dirty="0">
                <a:latin typeface="Fahkwang" pitchFamily="2" charset="-34"/>
                <a:cs typeface="Fahkwang" pitchFamily="2" charset="-34"/>
              </a:rPr>
              <a:t>Vinculadas</a:t>
            </a:r>
          </a:p>
          <a:p>
            <a:pPr marL="9525" algn="r">
              <a:spcBef>
                <a:spcPts val="75"/>
              </a:spcBef>
            </a:pPr>
            <a:r>
              <a:rPr lang="es-ES" sz="1500" b="1" spc="-109" dirty="0">
                <a:latin typeface="Fahkwang" pitchFamily="2" charset="-34"/>
                <a:cs typeface="Fahkwang" pitchFamily="2" charset="-34"/>
              </a:rPr>
              <a:t>       3</a:t>
            </a:r>
            <a:r>
              <a:rPr lang="es-ES" sz="1500" spc="-109" dirty="0">
                <a:latin typeface="Fahkwang" pitchFamily="2" charset="-34"/>
                <a:cs typeface="Fahkwang" pitchFamily="2" charset="-34"/>
              </a:rPr>
              <a:t>  Fueron desistidas</a:t>
            </a:r>
            <a:endParaRPr lang="en-US" sz="1500" spc="34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51356A2E-DA9B-97F0-4F60-6B8857E630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2244942C-8AB3-6604-0D68-45C3B609307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4400550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>
              <a:spcBef>
                <a:spcPts val="98"/>
              </a:spcBef>
            </a:pPr>
            <a:r>
              <a:rPr lang="en-US" sz="2400" dirty="0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sz="2400" dirty="0" err="1">
                <a:latin typeface="Fahkwang" pitchFamily="2" charset="-34"/>
                <a:cs typeface="Fahkwang" pitchFamily="2" charset="-34"/>
              </a:rPr>
              <a:t>Vinculadas</a:t>
            </a:r>
            <a:r>
              <a:rPr lang="en-US" sz="2400" dirty="0">
                <a:latin typeface="Fahkwang" pitchFamily="2" charset="-34"/>
                <a:cs typeface="Fahkwang" pitchFamily="2" charset="-34"/>
              </a:rPr>
              <a:t> por Mes</a:t>
            </a:r>
            <a:endParaRPr lang="en-US" sz="2400" spc="-8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F94D586C-7AB9-F71B-658B-9FFF5E0F24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11DBDD8-0890-3E67-DCE9-9BC30D808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43" y="1873473"/>
            <a:ext cx="8480815" cy="250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66B7-00BE-638B-5231-2F4C323D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583FB46-5080-C0B4-EF3E-7579BA86E8D8}"/>
              </a:ext>
            </a:extLst>
          </p:cNvPr>
          <p:cNvSpPr/>
          <p:nvPr/>
        </p:nvSpPr>
        <p:spPr>
          <a:xfrm>
            <a:off x="136415" y="4171463"/>
            <a:ext cx="4965559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just" defTabSz="685800">
              <a:spcBef>
                <a:spcPts val="75"/>
              </a:spcBef>
              <a:defRPr/>
            </a:pPr>
            <a:r>
              <a:rPr lang="es-DO" sz="1350" i="1" kern="0" spc="34" dirty="0">
                <a:solidFill>
                  <a:sysClr val="windowText" lastClr="000000"/>
                </a:solidFill>
                <a:latin typeface="Fahkwang" pitchFamily="2" charset="-34"/>
                <a:cs typeface="Fahkwang" pitchFamily="2" charset="-34"/>
              </a:rPr>
              <a:t>Debido a los pagos adelantados de los clientes al día, se ha logrado el recaudo mas del 97% de lo proyectado según las ventas formalizadas.</a:t>
            </a:r>
            <a:endParaRPr lang="en-US" sz="1350" i="1" kern="0" spc="34" dirty="0">
              <a:solidFill>
                <a:sysClr val="windowText" lastClr="000000"/>
              </a:solidFill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33574209-5BA4-0BE2-0B05-D08712C063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23B6EEA-8CA8-8086-C0E4-8CE0E4BF802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3638212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 defTabSz="685800">
              <a:spcBef>
                <a:spcPts val="98"/>
              </a:spcBef>
              <a:defRPr/>
            </a:pPr>
            <a:r>
              <a:rPr lang="en-US" sz="2400" kern="0" err="1">
                <a:latin typeface="Fahkwang" pitchFamily="2" charset="-34"/>
                <a:cs typeface="Fahkwang" pitchFamily="2" charset="-34"/>
              </a:rPr>
              <a:t>Estatus</a:t>
            </a:r>
            <a:r>
              <a:rPr lang="en-US" sz="2400" kern="0">
                <a:latin typeface="Fahkwang" pitchFamily="2" charset="-34"/>
                <a:cs typeface="Fahkwang" pitchFamily="2" charset="-34"/>
              </a:rPr>
              <a:t> de </a:t>
            </a:r>
            <a:r>
              <a:rPr lang="en-US" sz="2400" kern="0" err="1">
                <a:latin typeface="Fahkwang" pitchFamily="2" charset="-34"/>
                <a:cs typeface="Fahkwang" pitchFamily="2" charset="-34"/>
              </a:rPr>
              <a:t>Cobranza</a:t>
            </a:r>
            <a:endParaRPr lang="en-US" sz="2400" kern="0" spc="-8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7F2E8F14-F8EE-687C-980D-8A8C126F58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B4DD22-014D-DF08-447D-12CCDB2C0CD7}"/>
              </a:ext>
            </a:extLst>
          </p:cNvPr>
          <p:cNvSpPr txBox="1"/>
          <p:nvPr/>
        </p:nvSpPr>
        <p:spPr>
          <a:xfrm>
            <a:off x="136415" y="571500"/>
            <a:ext cx="4965559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>
              <a:defRPr/>
            </a:pPr>
            <a:r>
              <a:rPr lang="es-ES" sz="1350" i="1" kern="0" dirty="0">
                <a:solidFill>
                  <a:sysClr val="windowText" lastClr="000000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De los </a:t>
            </a:r>
            <a:r>
              <a:rPr lang="es-ES" sz="1350" i="1" dirty="0">
                <a:latin typeface="Fahkwang" panose="00000500000000000000" pitchFamily="2" charset="-34"/>
                <a:cs typeface="Fahkwang" panose="00000500000000000000" pitchFamily="2" charset="-34"/>
              </a:rPr>
              <a:t>172</a:t>
            </a:r>
            <a:r>
              <a:rPr lang="es-ES" sz="1350" i="1" kern="0" dirty="0">
                <a:solidFill>
                  <a:sysClr val="windowText" lastClr="000000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clientes con contratos al </a:t>
            </a:r>
            <a:r>
              <a:rPr lang="es-ES" sz="1350" i="1" dirty="0">
                <a:latin typeface="Fahkwang" panose="00000500000000000000" pitchFamily="2" charset="-34"/>
                <a:cs typeface="Fahkwang" panose="00000500000000000000" pitchFamily="2" charset="-34"/>
              </a:rPr>
              <a:t>06/07</a:t>
            </a:r>
            <a:r>
              <a:rPr lang="es-ES" sz="1350" i="1" kern="0" dirty="0">
                <a:solidFill>
                  <a:sysClr val="windowText" lastClr="000000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/2026, tenemos 106 clientes al día, </a:t>
            </a:r>
            <a:r>
              <a:rPr lang="es-ES" sz="1350" i="1" dirty="0">
                <a:latin typeface="Fahkwang" panose="00000500000000000000" pitchFamily="2" charset="-34"/>
                <a:cs typeface="Fahkwang" panose="00000500000000000000" pitchFamily="2" charset="-34"/>
              </a:rPr>
              <a:t>42</a:t>
            </a:r>
            <a:r>
              <a:rPr lang="es-ES" sz="1350" i="1" kern="0" dirty="0">
                <a:solidFill>
                  <a:sysClr val="windowText" lastClr="000000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clientes con cuotas pendientes y 24 clientes con cuotas vencidas </a:t>
            </a:r>
          </a:p>
        </p:txBody>
      </p:sp>
      <p:pic>
        <p:nvPicPr>
          <p:cNvPr id="3" name="Imagen 2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DFBF2476-3FA5-246F-D98F-A336AF2EFC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74"/>
          <a:stretch>
            <a:fillRect/>
          </a:stretch>
        </p:blipFill>
        <p:spPr>
          <a:xfrm>
            <a:off x="742950" y="3664249"/>
            <a:ext cx="3314700" cy="2937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C8C822-9CCD-F4C3-9A59-3A5A84DD2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129" y="1304464"/>
            <a:ext cx="2889521" cy="241021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33867F8-C797-2B9D-50CE-2B1CEB40B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386" y="514350"/>
            <a:ext cx="2752063" cy="41465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D4483BF-538E-3CB1-CBC8-7AB1474BA8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7512" y="931741"/>
            <a:ext cx="2752937" cy="5438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B7210EE-55ED-BB84-5F9A-357020C4BC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9842" y="1542931"/>
            <a:ext cx="2548484" cy="35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0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8975C7-3BC7-6025-15F5-2D2D621D1A38}"/>
              </a:ext>
            </a:extLst>
          </p:cNvPr>
          <p:cNvSpPr/>
          <p:nvPr/>
        </p:nvSpPr>
        <p:spPr>
          <a:xfrm>
            <a:off x="1143001" y="857251"/>
            <a:ext cx="3094592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es-DO" b="1" kern="0" dirty="0">
                <a:solidFill>
                  <a:sysClr val="windowText" lastClr="000000"/>
                </a:solidFill>
                <a:latin typeface="Fahkwang" pitchFamily="2" charset="-34"/>
                <a:cs typeface="Fahkwang" pitchFamily="2" charset="-34"/>
              </a:rPr>
              <a:t>Monto Total Vencido    US$ </a:t>
            </a:r>
            <a:r>
              <a:rPr lang="es-DO" b="1" dirty="0">
                <a:latin typeface="Fahkwang" pitchFamily="2" charset="-34"/>
                <a:cs typeface="Fahkwang" pitchFamily="2" charset="-34"/>
              </a:rPr>
              <a:t>136,840.39</a:t>
            </a:r>
            <a:endParaRPr lang="en-US" b="1" kern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CED3D41-2D36-E91C-114E-160D8DAD36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43478"/>
            <a:ext cx="4571999" cy="729278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CC387B98-B606-09FE-B365-A11B45FFC36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3638212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9525" defTabSz="685800">
              <a:spcBef>
                <a:spcPts val="98"/>
              </a:spcBef>
              <a:defRPr/>
            </a:pPr>
            <a:r>
              <a:rPr lang="en-US" sz="2400" kern="0" err="1">
                <a:latin typeface="Fahkwang" pitchFamily="2" charset="-34"/>
                <a:cs typeface="Fahkwang" pitchFamily="2" charset="-34"/>
              </a:rPr>
              <a:t>Estatus</a:t>
            </a:r>
            <a:r>
              <a:rPr lang="en-US" sz="2400" kern="0">
                <a:latin typeface="Fahkwang" pitchFamily="2" charset="-34"/>
                <a:cs typeface="Fahkwang" pitchFamily="2" charset="-34"/>
              </a:rPr>
              <a:t> de </a:t>
            </a:r>
            <a:r>
              <a:rPr lang="en-US" sz="2400" kern="0" err="1">
                <a:latin typeface="Fahkwang" pitchFamily="2" charset="-34"/>
                <a:cs typeface="Fahkwang" pitchFamily="2" charset="-34"/>
              </a:rPr>
              <a:t>Cobranza</a:t>
            </a:r>
            <a:endParaRPr lang="en-US" sz="2400" kern="0" spc="-8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C92470B5-9427-C01A-181C-780A51E5246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9759" y="36325"/>
            <a:ext cx="1582669" cy="4050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77F55-A89C-3B52-06D3-C3EB4CF280D3}"/>
              </a:ext>
            </a:extLst>
          </p:cNvPr>
          <p:cNvSpPr txBox="1"/>
          <p:nvPr/>
        </p:nvSpPr>
        <p:spPr>
          <a:xfrm>
            <a:off x="5657849" y="955296"/>
            <a:ext cx="32764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>
              <a:defRPr/>
            </a:pP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Al 06/07/2026 se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tienen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24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con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vencidas</a:t>
            </a:r>
            <a:endParaRPr lang="en-US" sz="1350" i="1" kern="0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algn="just" defTabSz="685800">
              <a:defRPr/>
            </a:pPr>
            <a:endParaRPr lang="en-US" sz="1350" i="1" kern="0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algn="just" defTabSz="685800">
              <a:defRPr/>
            </a:pP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US$ 50,864.87</a:t>
            </a:r>
            <a:r>
              <a:rPr lang="en-US" sz="1350" i="1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monto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separación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por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pagar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. (4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).</a:t>
            </a:r>
          </a:p>
          <a:p>
            <a:pPr algn="just" defTabSz="685800">
              <a:defRPr/>
            </a:pPr>
            <a:endParaRPr lang="en-US" sz="1350" i="1" kern="0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algn="just" defTabSz="685800">
              <a:defRPr/>
            </a:pP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US$ 54,163.38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pago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(15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).</a:t>
            </a:r>
          </a:p>
          <a:p>
            <a:pPr algn="just" defTabSz="685800">
              <a:defRPr/>
            </a:pPr>
            <a:endParaRPr lang="en-US" sz="1350" i="1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algn="just" defTabSz="685800">
              <a:defRPr/>
            </a:pP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US$ 31,812.19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de realtors (5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)</a:t>
            </a:r>
          </a:p>
          <a:p>
            <a:pPr algn="just" defTabSz="685800">
              <a:defRPr/>
            </a:pPr>
            <a:endParaRPr lang="en-US" sz="1350" i="1" kern="0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algn="just" defTabSz="685800">
              <a:defRPr/>
            </a:pP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La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morosidad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no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supera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lang="en-US" sz="1350" i="1" kern="0" dirty="0" err="1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el</a:t>
            </a:r>
            <a:r>
              <a:rPr lang="en-US" sz="1350" i="1" kern="0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 1%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2CE504-5F25-459B-C2B3-050448F5A0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11"/>
          <a:stretch>
            <a:fillRect/>
          </a:stretch>
        </p:blipFill>
        <p:spPr>
          <a:xfrm>
            <a:off x="285750" y="1943100"/>
            <a:ext cx="5252270" cy="186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8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9633"/>
            <a:ext cx="4571999" cy="6992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252" y="50285"/>
            <a:ext cx="4341496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marL="9525" algn="l">
              <a:spcBef>
                <a:spcPts val="98"/>
              </a:spcBef>
            </a:pPr>
            <a:r>
              <a:rPr sz="2400" kern="0" dirty="0" err="1">
                <a:solidFill>
                  <a:srgbClr val="FF6063"/>
                </a:solidFill>
                <a:latin typeface="Fahkwang" pitchFamily="2" charset="-34"/>
                <a:cs typeface="Fahkwang" pitchFamily="2" charset="-34"/>
              </a:rPr>
              <a:t>Comentarios</a:t>
            </a:r>
            <a:r>
              <a:rPr sz="2400" kern="0" dirty="0">
                <a:solidFill>
                  <a:srgbClr val="FF6063"/>
                </a:solidFill>
                <a:latin typeface="Fahkwang" pitchFamily="2" charset="-34"/>
                <a:cs typeface="Fahkwang" pitchFamily="2" charset="-34"/>
              </a:rPr>
              <a:t> Generales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4226" y="229588"/>
            <a:ext cx="1582669" cy="4050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47634-E5E7-CAF5-D104-F617B57635B2}"/>
              </a:ext>
            </a:extLst>
          </p:cNvPr>
          <p:cNvSpPr txBox="1"/>
          <p:nvPr/>
        </p:nvSpPr>
        <p:spPr>
          <a:xfrm>
            <a:off x="-1" y="711517"/>
            <a:ext cx="914400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_tradnl" sz="1050" dirty="0">
                <a:latin typeface="Fahkwang" pitchFamily="2" charset="-34"/>
                <a:cs typeface="Fahkwang" pitchFamily="2" charset="-34"/>
              </a:rPr>
              <a:t>En junio subimos el precio de las unidades Parque + Vista y Laterales: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r>
              <a:rPr lang="es-ES_tradnl" sz="1050" dirty="0">
                <a:latin typeface="Fahkwang" pitchFamily="2" charset="-34"/>
                <a:cs typeface="Fahkwang" pitchFamily="2" charset="-34"/>
              </a:rPr>
              <a:t>        De este aumento se vendieron este mes 2 Sunset Parque + Vista   y 1 Sunset Lateral </a:t>
            </a: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_tradnl" sz="1050" dirty="0">
                <a:latin typeface="Fahkwang" pitchFamily="2" charset="-34"/>
                <a:cs typeface="Fahkwang" pitchFamily="2" charset="-34"/>
              </a:rPr>
              <a:t>Visita de 20 empresarios de </a:t>
            </a:r>
            <a:r>
              <a:rPr lang="es-ES_tradnl" sz="1050" dirty="0" err="1">
                <a:latin typeface="Fahkwang" pitchFamily="2" charset="-34"/>
                <a:cs typeface="Fahkwang" pitchFamily="2" charset="-34"/>
              </a:rPr>
              <a:t>Shangai</a:t>
            </a:r>
            <a:r>
              <a:rPr lang="es-ES_tradnl" sz="1050" dirty="0">
                <a:latin typeface="Fahkwang" pitchFamily="2" charset="-34"/>
                <a:cs typeface="Fahkwang" pitchFamily="2" charset="-34"/>
              </a:rPr>
              <a:t>, coordinada por Keller Williams </a:t>
            </a:r>
            <a:r>
              <a:rPr lang="es-ES_tradnl" sz="1050" dirty="0" err="1">
                <a:latin typeface="Fahkwang" pitchFamily="2" charset="-34"/>
                <a:cs typeface="Fahkwang" pitchFamily="2" charset="-34"/>
              </a:rPr>
              <a:t>By</a:t>
            </a:r>
            <a:r>
              <a:rPr lang="es-ES_tradnl" sz="105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1050" dirty="0" err="1">
                <a:latin typeface="Fahkwang" pitchFamily="2" charset="-34"/>
                <a:cs typeface="Fahkwang" pitchFamily="2" charset="-34"/>
              </a:rPr>
              <a:t>Lacig</a:t>
            </a:r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r>
              <a:rPr lang="es-ES_tradnl" sz="1050" dirty="0">
                <a:latin typeface="Fahkwang" pitchFamily="2" charset="-34"/>
                <a:cs typeface="Fahkwang" pitchFamily="2" charset="-34"/>
              </a:rPr>
              <a:t>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_tradnl" sz="1050" dirty="0">
                <a:latin typeface="Fahkwang" pitchFamily="2" charset="-34"/>
                <a:cs typeface="Fahkwang" pitchFamily="2" charset="-34"/>
              </a:rPr>
              <a:t>Vista de la Inmobiliaria </a:t>
            </a:r>
            <a:r>
              <a:rPr lang="es-ES_tradnl" sz="1050" dirty="0" err="1">
                <a:latin typeface="Fahkwang" pitchFamily="2" charset="-34"/>
                <a:cs typeface="Fahkwang" pitchFamily="2" charset="-34"/>
              </a:rPr>
              <a:t>Exp</a:t>
            </a:r>
            <a:r>
              <a:rPr lang="es-ES_tradnl" sz="1050" dirty="0">
                <a:latin typeface="Fahkwang" pitchFamily="2" charset="-34"/>
                <a:cs typeface="Fahkwang" pitchFamily="2" charset="-34"/>
              </a:rPr>
              <a:t> Realty Pedro Reyes y  Eduardo Sánchez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0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35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350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_tradnl" sz="1350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8E03B-B9B1-D4D2-A094-2EC6142A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9" y="1314449"/>
            <a:ext cx="3715629" cy="7915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D50673-2468-4B69-472D-C6D9CAF5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94" r="20304"/>
          <a:stretch>
            <a:fillRect/>
          </a:stretch>
        </p:blipFill>
        <p:spPr>
          <a:xfrm>
            <a:off x="20" y="10"/>
            <a:ext cx="5998648" cy="514348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A49211E-646C-254C-8594-FDD16D3A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6" r="-2" b="-2"/>
          <a:stretch>
            <a:fillRect/>
          </a:stretch>
        </p:blipFill>
        <p:spPr>
          <a:xfrm>
            <a:off x="5998668" y="10"/>
            <a:ext cx="3145332" cy="51434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48C835-DE04-D6A7-F524-A7FC54A3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0ED4EAA-99DF-6C1F-C829-E8332CEAF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flipH="1">
            <a:off x="-1221811" y="373379"/>
            <a:ext cx="45719" cy="45719"/>
          </a:xfrm>
        </p:spPr>
      </p:pic>
    </p:spTree>
    <p:extLst>
      <p:ext uri="{BB962C8B-B14F-4D97-AF65-F5344CB8AC3E}">
        <p14:creationId xmlns:p14="http://schemas.microsoft.com/office/powerpoint/2010/main" val="196248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5BD8-CFE7-EE86-DFB4-5B248C91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plant with the sun shining through it&#10;&#10;AI-generated content may be incorrect.">
            <a:extLst>
              <a:ext uri="{FF2B5EF4-FFF2-40B4-BE49-F238E27FC236}">
                <a16:creationId xmlns:a16="http://schemas.microsoft.com/office/drawing/2014/main" id="{65E81917-D289-DF2A-E16B-ACAD2EB20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>
            <a:fillRect/>
          </a:stretch>
        </p:blipFill>
        <p:spPr>
          <a:xfrm>
            <a:off x="-2285" y="7"/>
            <a:ext cx="9143999" cy="51434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152B9C4-7D1B-4EA0-64F1-C4AFEA50125F}"/>
              </a:ext>
            </a:extLst>
          </p:cNvPr>
          <p:cNvSpPr txBox="1"/>
          <p:nvPr/>
        </p:nvSpPr>
        <p:spPr>
          <a:xfrm>
            <a:off x="4446640" y="3414251"/>
            <a:ext cx="4586747" cy="1443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68580" tIns="34290" rIns="68580" bIns="34290" rtlCol="0" anchor="b">
            <a:normAutofit/>
          </a:bodyPr>
          <a:lstStyle/>
          <a:p>
            <a:pPr marL="9525"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s-DO" sz="3900" spc="-68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Avance de Obra</a:t>
            </a:r>
            <a:endParaRPr lang="es-DO" sz="3900" dirty="0">
              <a:solidFill>
                <a:srgbClr val="FFFFFF"/>
              </a:solidFill>
              <a:latin typeface="Fahkwang" panose="00000500000000000000" pitchFamily="2" charset="-34"/>
              <a:ea typeface="+mj-ea"/>
              <a:cs typeface="Fahkwang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50179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consolidado del proyecto al corte 30/06/2026</a:t>
            </a:r>
            <a:endParaRPr lang="en-US" sz="1050" b="1" dirty="0"/>
          </a:p>
        </p:txBody>
      </p:sp>
      <p:sp>
        <p:nvSpPr>
          <p:cNvPr id="4" name="Shape 2"/>
          <p:cNvSpPr/>
          <p:nvPr/>
        </p:nvSpPr>
        <p:spPr>
          <a:xfrm>
            <a:off x="342900" y="1165860"/>
            <a:ext cx="1554023" cy="126873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5" name="Text 3"/>
          <p:cNvSpPr/>
          <p:nvPr/>
        </p:nvSpPr>
        <p:spPr>
          <a:xfrm>
            <a:off x="445770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18.23%</a:t>
            </a:r>
            <a:endParaRPr lang="en-US" sz="2100" b="1" dirty="0"/>
          </a:p>
        </p:txBody>
      </p:sp>
      <p:sp>
        <p:nvSpPr>
          <p:cNvPr id="6" name="Text 4"/>
          <p:cNvSpPr/>
          <p:nvPr/>
        </p:nvSpPr>
        <p:spPr>
          <a:xfrm>
            <a:off x="445770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ejecutado</a:t>
            </a:r>
            <a:endParaRPr lang="en-US" sz="900" b="1" dirty="0"/>
          </a:p>
        </p:txBody>
      </p:sp>
      <p:sp>
        <p:nvSpPr>
          <p:cNvPr id="7" name="Text 5"/>
          <p:cNvSpPr/>
          <p:nvPr/>
        </p:nvSpPr>
        <p:spPr>
          <a:xfrm>
            <a:off x="445770" y="220141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21.24% planificado</a:t>
            </a:r>
            <a:endParaRPr lang="en-US" sz="675" b="1" dirty="0"/>
          </a:p>
        </p:txBody>
      </p:sp>
      <p:sp>
        <p:nvSpPr>
          <p:cNvPr id="8" name="Shape 6"/>
          <p:cNvSpPr/>
          <p:nvPr/>
        </p:nvSpPr>
        <p:spPr>
          <a:xfrm>
            <a:off x="2068372" y="1165860"/>
            <a:ext cx="1554023" cy="126873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9" name="Text 7"/>
          <p:cNvSpPr/>
          <p:nvPr/>
        </p:nvSpPr>
        <p:spPr>
          <a:xfrm>
            <a:off x="2171242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-3.0 pp</a:t>
            </a:r>
            <a:endParaRPr lang="en-US" sz="2100" b="1" dirty="0"/>
          </a:p>
        </p:txBody>
      </p:sp>
      <p:sp>
        <p:nvSpPr>
          <p:cNvPr id="10" name="Text 8"/>
          <p:cNvSpPr/>
          <p:nvPr/>
        </p:nvSpPr>
        <p:spPr>
          <a:xfrm>
            <a:off x="2171242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vs. plan</a:t>
            </a:r>
            <a:endParaRPr lang="en-US" sz="900" b="1" dirty="0"/>
          </a:p>
        </p:txBody>
      </p:sp>
      <p:sp>
        <p:nvSpPr>
          <p:cNvPr id="11" name="Text 9"/>
          <p:cNvSpPr/>
          <p:nvPr/>
        </p:nvSpPr>
        <p:spPr>
          <a:xfrm>
            <a:off x="2171242" y="220141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Eficiencia: 86% del plan</a:t>
            </a:r>
            <a:endParaRPr lang="en-US" sz="675" b="1" dirty="0"/>
          </a:p>
        </p:txBody>
      </p:sp>
      <p:sp>
        <p:nvSpPr>
          <p:cNvPr id="12" name="Shape 10"/>
          <p:cNvSpPr/>
          <p:nvPr/>
        </p:nvSpPr>
        <p:spPr>
          <a:xfrm>
            <a:off x="3793846" y="1165860"/>
            <a:ext cx="1554023" cy="126873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13" name="Text 11"/>
          <p:cNvSpPr/>
          <p:nvPr/>
        </p:nvSpPr>
        <p:spPr>
          <a:xfrm>
            <a:off x="3896716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b="1" dirty="0"/>
          </a:p>
        </p:txBody>
      </p:sp>
      <p:sp>
        <p:nvSpPr>
          <p:cNvPr id="14" name="Text 12"/>
          <p:cNvSpPr/>
          <p:nvPr/>
        </p:nvSpPr>
        <p:spPr>
          <a:xfrm>
            <a:off x="3896716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con orden de materiales YA VENCIDA</a:t>
            </a:r>
            <a:endParaRPr lang="en-US" sz="900" b="1" dirty="0"/>
          </a:p>
        </p:txBody>
      </p:sp>
      <p:sp>
        <p:nvSpPr>
          <p:cNvPr id="15" name="Text 13"/>
          <p:cNvSpPr/>
          <p:nvPr/>
        </p:nvSpPr>
        <p:spPr>
          <a:xfrm>
            <a:off x="3896716" y="220141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26 (incl. 1, 2, 3, 4, 5, 6, 9)</a:t>
            </a:r>
            <a:endParaRPr lang="en-US" sz="675" b="1" dirty="0"/>
          </a:p>
        </p:txBody>
      </p:sp>
      <p:sp>
        <p:nvSpPr>
          <p:cNvPr id="16" name="Shape 14"/>
          <p:cNvSpPr/>
          <p:nvPr/>
        </p:nvSpPr>
        <p:spPr>
          <a:xfrm>
            <a:off x="5519318" y="1165860"/>
            <a:ext cx="1554023" cy="126873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17" name="Text 15"/>
          <p:cNvSpPr/>
          <p:nvPr/>
        </p:nvSpPr>
        <p:spPr>
          <a:xfrm>
            <a:off x="5622188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100" b="1" dirty="0"/>
          </a:p>
        </p:txBody>
      </p:sp>
      <p:sp>
        <p:nvSpPr>
          <p:cNvPr id="18" name="Text 16"/>
          <p:cNvSpPr/>
          <p:nvPr/>
        </p:nvSpPr>
        <p:spPr>
          <a:xfrm>
            <a:off x="5622188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carpintería, ventanas y piezas sanitarias</a:t>
            </a:r>
            <a:endParaRPr lang="en-US" sz="900" b="1" dirty="0"/>
          </a:p>
        </p:txBody>
      </p:sp>
      <p:sp>
        <p:nvSpPr>
          <p:cNvPr id="19" name="Text 17"/>
          <p:cNvSpPr/>
          <p:nvPr/>
        </p:nvSpPr>
        <p:spPr>
          <a:xfrm>
            <a:off x="5622188" y="220141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26 </a:t>
            </a:r>
            <a:r>
              <a:rPr lang="en-US" sz="675" b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excepción</a:t>
            </a:r>
            <a:endParaRPr lang="en-US" sz="675" b="1" dirty="0"/>
          </a:p>
        </p:txBody>
      </p:sp>
      <p:sp>
        <p:nvSpPr>
          <p:cNvPr id="20" name="Shape 18"/>
          <p:cNvSpPr/>
          <p:nvPr/>
        </p:nvSpPr>
        <p:spPr>
          <a:xfrm>
            <a:off x="7244791" y="1165860"/>
            <a:ext cx="1554023" cy="126873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21" name="Text 19"/>
          <p:cNvSpPr/>
          <p:nvPr/>
        </p:nvSpPr>
        <p:spPr>
          <a:xfrm>
            <a:off x="7347661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1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b="1" dirty="0"/>
          </a:p>
        </p:txBody>
      </p:sp>
      <p:sp>
        <p:nvSpPr>
          <p:cNvPr id="22" name="Text 20"/>
          <p:cNvSpPr/>
          <p:nvPr/>
        </p:nvSpPr>
        <p:spPr>
          <a:xfrm>
            <a:off x="7347661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retraso del proyecto (cronograma general)</a:t>
            </a:r>
            <a:endParaRPr lang="en-US" sz="900" b="1" dirty="0"/>
          </a:p>
        </p:txBody>
      </p:sp>
      <p:sp>
        <p:nvSpPr>
          <p:cNvPr id="23" name="Text 21"/>
          <p:cNvSpPr/>
          <p:nvPr/>
        </p:nvSpPr>
        <p:spPr>
          <a:xfrm>
            <a:off x="7347661" y="220141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75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línea base — corte 30/06/2026</a:t>
            </a:r>
            <a:endParaRPr lang="en-US" sz="675" b="1" dirty="0"/>
          </a:p>
        </p:txBody>
      </p:sp>
      <p:sp>
        <p:nvSpPr>
          <p:cNvPr id="24" name="Shape 22"/>
          <p:cNvSpPr/>
          <p:nvPr/>
        </p:nvSpPr>
        <p:spPr>
          <a:xfrm>
            <a:off x="342900" y="2640330"/>
            <a:ext cx="8455914" cy="2201418"/>
          </a:xfrm>
          <a:prstGeom prst="roundRect">
            <a:avLst>
              <a:gd name="adj" fmla="val 2105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b="1"/>
          </a:p>
        </p:txBody>
      </p:sp>
      <p:sp>
        <p:nvSpPr>
          <p:cNvPr id="25" name="Text 23"/>
          <p:cNvSpPr/>
          <p:nvPr/>
        </p:nvSpPr>
        <p:spPr>
          <a:xfrm>
            <a:off x="514350" y="2756916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kern="0" spc="75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CORTE</a:t>
            </a:r>
            <a:endParaRPr lang="en-US" sz="825" b="1" dirty="0"/>
          </a:p>
        </p:txBody>
      </p:sp>
      <p:sp>
        <p:nvSpPr>
          <p:cNvPr id="26" name="Text 24"/>
          <p:cNvSpPr/>
          <p:nvPr/>
        </p:nvSpPr>
        <p:spPr>
          <a:xfrm>
            <a:off x="514350" y="2983230"/>
            <a:ext cx="8113014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S: </a:t>
            </a: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ejecutó 18.23% del monto acumulado contra 21.24% planificado a junio 2026 — una eficiencia del 86% respecto al plan operativo.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(26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000" b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(1, 2, 3, 4, 5, 6, 9) tienen su estructura 100% terminada; 5 edificios (7, 8, 10, 11, 12) están en el tramo final (90% avance) con atrasos puntuales de 2 a 30 días, encabezados por el Edificio 8 (30 días) y Edificio 7 (23 días); los 14 edificios restantes (13 a 18 y 70 a 77) aún no inician estructura. A nivel de proyecto completo, la variación es de solo 5 días vs. línea base.</a:t>
            </a:r>
          </a:p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Acabados — el hallazgo crítico: </a:t>
            </a: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Edificios 1, 2, 3, 4, 5, 6 y 9 tienen su estructura 100% terminada desde marzo–mayo 2026, pero carpintería, herrería y ventanas siguen en 0% de avance físico. El pedido de estos materiales debió colocarse hace 60 a 90 días.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Urbanismo: </a:t>
            </a: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 avance general; 13 partidas de infraestructura ya debieron iniciar y no lo han hecho, con atrasos de hasta 14 días.</a:t>
            </a:r>
            <a:endParaRPr lang="en-US" sz="1000" b="1" dirty="0"/>
          </a:p>
        </p:txBody>
      </p:sp>
      <p:sp>
        <p:nvSpPr>
          <p:cNvPr id="27" name="Text 25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Curva S — Plan vs. Ejecutado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acumulado del proyecto (% del monto total) · jun-2025 a ago-2027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6044699"/>
              </p:ext>
            </p:extLst>
          </p:nvPr>
        </p:nvGraphicFramePr>
        <p:xfrm>
          <a:off x="200722" y="994410"/>
          <a:ext cx="8740270" cy="318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2900" y="4320540"/>
            <a:ext cx="8455914" cy="514350"/>
          </a:xfrm>
          <a:prstGeom prst="roundRect">
            <a:avLst>
              <a:gd name="adj" fmla="val 8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514350" y="4402836"/>
            <a:ext cx="8113014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corte (jun-2026):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18.23%  vs.  Plan 21.24%   →   brecha de 3.0 puntos porcentuales. El plan proyecta cierre en agosto-2027; sin corrección, la brecha actual se traduce en un desplazamiento equivalente en el cierre.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Cronograma de Estructura — 26 Edificios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atraso proyectados en el fin de estructura (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 vs. línea base)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42900" y="1062990"/>
          <a:ext cx="8455914" cy="2948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2900" y="4114800"/>
            <a:ext cx="123444" cy="123444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514350" y="4073652"/>
            <a:ext cx="2057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vencido / En riesgo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468880" y="4114800"/>
            <a:ext cx="123444" cy="12344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2640330" y="4073652"/>
            <a:ext cx="2057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(ruta crítica global)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594860" y="4114800"/>
            <a:ext cx="123444" cy="1234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4766310" y="4073652"/>
            <a:ext cx="2057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margen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42900" y="4423410"/>
            <a:ext cx="8455914" cy="411480"/>
          </a:xfrm>
          <a:prstGeom prst="roundRect">
            <a:avLst>
              <a:gd name="adj" fmla="val 10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342900" y="4457700"/>
            <a:ext cx="8455914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 26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continúan en construcción (5 en fase final de estructura, 14 sin iniciar). Los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 8, 11 y 12 (fase de transición) concentran los mayores atrasos absolutos (9–30 días); el proyecto completo acumula solo 5 días de atraso vs. línea base.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Avance Físico </a:t>
            </a:r>
            <a:r>
              <a:rPr lang="en-US" sz="225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por</a:t>
            </a:r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Capítulo</a:t>
            </a:r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— Los 26 Edificios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ejecutado del presupuesto contratado por disciplina, acumulado en todos los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(Cubicación Nº7)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42900" y="1062990"/>
          <a:ext cx="8455914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2900" y="4320540"/>
            <a:ext cx="8455914" cy="514350"/>
          </a:xfrm>
          <a:prstGeom prst="roundRect">
            <a:avLst>
              <a:gd name="adj" fmla="val 8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514350" y="4402836"/>
            <a:ext cx="8113014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Carpintería, Ventanas y Piezas Sanitarias: 0%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26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ningún pedido ni instalación registrada todavía. </a:t>
            </a: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Herrería (0.7%) y Revestimientos/Cerámica (2.4%)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iniciaron. Son las disciplinas que definirán si se sostiene la fecha de entrega, no la estructura.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Flujo de Obra — </a:t>
            </a:r>
            <a:r>
              <a:rPr lang="en-US" sz="225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Requerimiento</a:t>
            </a:r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vs. Real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y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a Junio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75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52797A83-4CCC-7EB4-6AA9-CC222CB4022B}"/>
              </a:ext>
            </a:extLst>
          </p:cNvPr>
          <p:cNvGraphicFramePr/>
          <p:nvPr/>
        </p:nvGraphicFramePr>
        <p:xfrm>
          <a:off x="342900" y="1028700"/>
          <a:ext cx="54178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">
            <a:extLst>
              <a:ext uri="{FF2B5EF4-FFF2-40B4-BE49-F238E27FC236}">
                <a16:creationId xmlns:a16="http://schemas.microsoft.com/office/drawing/2014/main" id="{24B9C2FE-0F7C-32E3-4324-A09E6F1E1A7E}"/>
              </a:ext>
            </a:extLst>
          </p:cNvPr>
          <p:cNvSpPr/>
          <p:nvPr/>
        </p:nvSpPr>
        <p:spPr>
          <a:xfrm>
            <a:off x="5932170" y="1028700"/>
            <a:ext cx="2866644" cy="925830"/>
          </a:xfrm>
          <a:prstGeom prst="roundRect">
            <a:avLst>
              <a:gd name="adj" fmla="val 592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2B34D4AF-231B-1FA9-21CC-4B7B524AD375}"/>
              </a:ext>
            </a:extLst>
          </p:cNvPr>
          <p:cNvSpPr/>
          <p:nvPr/>
        </p:nvSpPr>
        <p:spPr>
          <a:xfrm>
            <a:off x="6035040" y="1124712"/>
            <a:ext cx="2660904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$32.2M</a:t>
            </a:r>
            <a:endParaRPr lang="en-US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1F0478B-7F66-F711-7833-0A6BAC1B0A99}"/>
              </a:ext>
            </a:extLst>
          </p:cNvPr>
          <p:cNvSpPr/>
          <p:nvPr/>
        </p:nvSpPr>
        <p:spPr>
          <a:xfrm>
            <a:off x="6035040" y="1453157"/>
            <a:ext cx="2660904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— real</a:t>
            </a:r>
            <a:endParaRPr lang="en-US" sz="10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B307CC0D-07D2-6936-C3EB-B55CA3E11FC8}"/>
              </a:ext>
            </a:extLst>
          </p:cNvPr>
          <p:cNvSpPr/>
          <p:nvPr/>
        </p:nvSpPr>
        <p:spPr>
          <a:xfrm>
            <a:off x="6035040" y="1721358"/>
            <a:ext cx="2660904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$25.7M requerido</a:t>
            </a:r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75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2F55DE08-8B57-6C34-CD8C-06C26E9E1073}"/>
              </a:ext>
            </a:extLst>
          </p:cNvPr>
          <p:cNvSpPr/>
          <p:nvPr/>
        </p:nvSpPr>
        <p:spPr>
          <a:xfrm>
            <a:off x="5932170" y="2050542"/>
            <a:ext cx="2866644" cy="925830"/>
          </a:xfrm>
          <a:prstGeom prst="roundRect">
            <a:avLst>
              <a:gd name="adj" fmla="val 592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40BD16E-0067-EEBF-45B5-71A17A56BA89}"/>
              </a:ext>
            </a:extLst>
          </p:cNvPr>
          <p:cNvSpPr/>
          <p:nvPr/>
        </p:nvSpPr>
        <p:spPr>
          <a:xfrm>
            <a:off x="6035040" y="2153412"/>
            <a:ext cx="2660904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$91.0M</a:t>
            </a:r>
            <a:endParaRPr lang="en-US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C7D248D7-C497-AAFF-6A2B-5BF4E2600B04}"/>
              </a:ext>
            </a:extLst>
          </p:cNvPr>
          <p:cNvSpPr/>
          <p:nvPr/>
        </p:nvSpPr>
        <p:spPr>
          <a:xfrm>
            <a:off x="6035040" y="2551176"/>
            <a:ext cx="2660904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— real</a:t>
            </a:r>
            <a:endParaRPr lang="en-US" sz="9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DA0861F-8679-DEF1-376B-C6E96D22DDF0}"/>
              </a:ext>
            </a:extLst>
          </p:cNvPr>
          <p:cNvSpPr/>
          <p:nvPr/>
        </p:nvSpPr>
        <p:spPr>
          <a:xfrm>
            <a:off x="6035040" y="2750058"/>
            <a:ext cx="2660904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$155.5M requerido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E0C361B0-59A7-78BB-FED8-F3F97083FFCE}"/>
              </a:ext>
            </a:extLst>
          </p:cNvPr>
          <p:cNvSpPr/>
          <p:nvPr/>
        </p:nvSpPr>
        <p:spPr>
          <a:xfrm>
            <a:off x="342900" y="4217670"/>
            <a:ext cx="8455914" cy="617220"/>
          </a:xfrm>
          <a:prstGeom prst="roundRect">
            <a:avLst>
              <a:gd name="adj" fmla="val 6667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92ACD49B-A9F0-0C0A-56C9-8B9604CAD41B}"/>
              </a:ext>
            </a:extLst>
          </p:cNvPr>
          <p:cNvSpPr/>
          <p:nvPr/>
        </p:nvSpPr>
        <p:spPr>
          <a:xfrm>
            <a:off x="514350" y="4265676"/>
            <a:ext cx="8113014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sobregiró $6.4M frente al plan (pago adelantado del contrato de Movimiento de Tierra en dic-2025); en junio, sin embargo, quedó $5.7M por debajo de lo requerido. 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$64.5M sin ejecutar (de los cuales $45.3M corresponden solo a junio), reflejando los atrasos de estructura y acabados ya identificados. 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Seguridad y Salud en el Trabajo — Resumen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2900" y="1165860"/>
            <a:ext cx="1554023" cy="120015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45770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45770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registrados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5770" y="213283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 y 4 de junio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68372" y="1165860"/>
            <a:ext cx="1554023" cy="120015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171242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71242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 obra (última semana)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71242" y="213283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80 en la semana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3846" y="1165860"/>
            <a:ext cx="1554023" cy="120015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896716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96716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acumuladas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96716" y="2132838"/>
            <a:ext cx="134828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a 4 de junio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19318" y="1165860"/>
            <a:ext cx="1554023" cy="120015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622188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8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2188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observación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2188" y="2132838"/>
            <a:ext cx="145115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reuniones de seguridad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44791" y="1165860"/>
            <a:ext cx="1554023" cy="120015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7347661" y="1261872"/>
            <a:ext cx="1348283" cy="3771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47661" y="1659636"/>
            <a:ext cx="1348283" cy="42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 en proceso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47661" y="2132838"/>
            <a:ext cx="1451153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seguimiento detallado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" y="2571750"/>
            <a:ext cx="8455914" cy="2023110"/>
          </a:xfrm>
          <a:prstGeom prst="roundRect">
            <a:avLst>
              <a:gd name="adj" fmla="val 203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514350" y="2688336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kern="0" spc="75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PERIODO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4350" y="2914650"/>
            <a:ext cx="8284464" cy="1611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accidentes: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eventos registrables, incidentes ambientales/sociales ni días perdidos en las dos semanas reportadas (S3 y S4 de jun-26).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 crecimiento: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dotación pasó de 80 (semana 1) a 120 personas (semana 4), con incorporación de nuevos oficios (maestro, excavadores, formaletas, eléctricos) acorde al avance de obra.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preventiva activa: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inspecciones, 22 reportes de observación y 21 reuniones de seguridad en el periodo — sin auditorías ni capacitaciones formales registradas aún.
</a:t>
            </a:r>
          </a:p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recibieron los reportes de las semanas 3 y 4 de junio; el de la semana 2 no fue proporcionado y no se incluye en este resumen.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Actos, Condiciones Inseguras y Buenas Prácticas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campo y seguimiento a acciones correctivas ·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2900" y="1028700"/>
            <a:ext cx="4457700" cy="2091690"/>
          </a:xfrm>
          <a:prstGeom prst="roundRect">
            <a:avLst>
              <a:gd name="adj" fmla="val 1967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80060" y="1110996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75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ACTOS Y CONDICIONES INSEGURAS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0060" y="1371600"/>
            <a:ext cx="4183380" cy="1680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Personal sin EPP</a:t>
            </a:r>
            <a:endParaRPr lang="en-US" sz="1050" dirty="0"/>
          </a:p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Escombros acumulados</a:t>
            </a:r>
            <a:endParaRPr lang="en-US" sz="1050" dirty="0"/>
          </a:p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Metal incrustado</a:t>
            </a:r>
            <a:endParaRPr lang="en-US" sz="1050" dirty="0"/>
          </a:p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Desechos en obra</a:t>
            </a:r>
            <a:endParaRPr lang="en-US" sz="1050" dirty="0"/>
          </a:p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Exceso de clavos en áreas de encofrado (S3)</a:t>
            </a:r>
            <a:endParaRPr lang="en-US" sz="1050" dirty="0"/>
          </a:p>
          <a:p>
            <a:pPr marL="257175" indent="-257175">
              <a:lnSpc>
                <a:spcPct val="110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</a:rPr>
              <a:t>Uso de extensiones eléctricas en mal estado (S4)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" y="3223260"/>
            <a:ext cx="4457700" cy="1474470"/>
          </a:xfrm>
          <a:prstGeom prst="roundRect">
            <a:avLst>
              <a:gd name="adj" fmla="val 279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80060" y="3305556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75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" y="3483864"/>
            <a:ext cx="4183380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Designar contratistas para la eliminación de escombros acumulados.</a:t>
            </a:r>
            <a:endParaRPr lang="en-US" sz="900" dirty="0"/>
          </a:p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Buenas respuestas ante las solicitudes de seguridad.</a:t>
            </a:r>
            <a:endParaRPr lang="en-US" sz="900" dirty="0"/>
          </a:p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Cerrar </a:t>
            </a:r>
            <a:r>
              <a:rPr lang="en-US" sz="1000" dirty="0">
                <a:solidFill>
                  <a:srgbClr val="FFFFFF"/>
                </a:solidFill>
              </a:rPr>
              <a:t>excavaciones</a:t>
            </a:r>
            <a:r>
              <a:rPr lang="en-US" sz="900" dirty="0">
                <a:solidFill>
                  <a:srgbClr val="FFFFFF"/>
                </a:solidFill>
              </a:rPr>
              <a:t> y terminar delimitación y señalización (S3).</a:t>
            </a:r>
            <a:endParaRPr lang="en-US" sz="900" dirty="0"/>
          </a:p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Suplir al personal con EPP adecuados (S3).</a:t>
            </a:r>
            <a:endParaRPr lang="en-US" sz="900" dirty="0"/>
          </a:p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Eliminación de extensiones eléctricas en mal estado (S4).</a:t>
            </a:r>
            <a:endParaRPr lang="en-US" sz="900" dirty="0"/>
          </a:p>
          <a:p>
            <a:pPr marL="257175" indent="-257175">
              <a:lnSpc>
                <a:spcPct val="105000"/>
              </a:lnSpc>
              <a:spcAft>
                <a:spcPts val="375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Operativo de entrega de calzado de seguridad al personal de obra (S4).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06340" y="1028700"/>
            <a:ext cx="3792474" cy="3669030"/>
          </a:xfrm>
          <a:prstGeom prst="roundRect">
            <a:avLst>
              <a:gd name="adj" fmla="val 112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43500" y="1110996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75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ACCIONES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0" y="1525905"/>
            <a:ext cx="3518154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Escombros acumulados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43500" y="1748790"/>
            <a:ext cx="3518154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Designar contratista para eliminación de gran cantidad de escombros acumulados. (EN PROCESO)</a:t>
            </a:r>
            <a:endParaRPr lang="en-US" sz="1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43500" y="2417445"/>
            <a:ext cx="3518154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mecánica de carga de materiales con escombros, violando el perímetro delimitado.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43500" y="2811780"/>
            <a:ext cx="3518154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 del área mecánica de izaje de carga para mantenerla libre de escombros y desperfectos mecánicos.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PROCESO</a:t>
            </a: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43500" y="3686175"/>
            <a:ext cx="3518154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sin EPP adecuados (tenis, sin casco, sin protección auditiva/facial, sin arnés).</a:t>
            </a:r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43500" y="3874770"/>
            <a:ext cx="3518154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sumistro los EPP a todo el personal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Alternativas para Recuperar Plazo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evaluadas para cerrar la brecha de 3.0 puntos porcentuales y los atrasos por edificio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2900" y="1131570"/>
            <a:ext cx="1581455" cy="315468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45770" y="1234440"/>
            <a:ext cx="13757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45770" y="1645920"/>
            <a:ext cx="137571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frentes de trabajo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5770" y="2160270"/>
            <a:ext cx="1375715" cy="1474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cuadrilla en paralelo en Edificios 13–18 y 70–77 (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insfraestructura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trabajar  ambos frentes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5770" y="3737610"/>
            <a:ext cx="1375715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45770" y="3806190"/>
            <a:ext cx="1375715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días/edificio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61514" y="1131570"/>
            <a:ext cx="1581455" cy="315468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2164384" y="1234440"/>
            <a:ext cx="13757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64384" y="1645920"/>
            <a:ext cx="137571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extendidos / sábados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4384" y="2160270"/>
            <a:ext cx="1375715" cy="1474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jornada a 10h y habilitar sábados en los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mayor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(10, 11, 12,13,14,15) hasta emparejar con línea base.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64384" y="3737610"/>
            <a:ext cx="1375715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2164384" y="3806190"/>
            <a:ext cx="1375715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días/edificio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80130" y="1131570"/>
            <a:ext cx="1581455" cy="315468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3883000" y="1234440"/>
            <a:ext cx="13757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83000" y="1645920"/>
            <a:ext cx="137571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Adelantar compras críticas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83000" y="2160270"/>
            <a:ext cx="1375715" cy="1474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de inmediato las órdenes de carpintería, ventanas, pisos y piezas sanitarias de los 14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fecha ya vencida, priorizando 1–9 (0% de avance pese a estructura terminada).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3000" y="3737610"/>
            <a:ext cx="1375715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3883000" y="3806190"/>
            <a:ext cx="1375715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60–90 días de espera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98744" y="1131570"/>
            <a:ext cx="1581455" cy="315468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5601614" y="1234440"/>
            <a:ext cx="13757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01614" y="1645920"/>
            <a:ext cx="137571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Urbanismo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01614" y="2160270"/>
            <a:ext cx="1375715" cy="1474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avenidas y calles de acceso a los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entrarán primero en fase de acabados (10, 11, 12) antes que las de fase tardía (70–77).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01614" y="3737610"/>
            <a:ext cx="1375715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601614" y="3806190"/>
            <a:ext cx="1375715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cuello de botella logístico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17359" y="1131570"/>
            <a:ext cx="1581455" cy="315468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7320229" y="1234440"/>
            <a:ext cx="13757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20229" y="1645920"/>
            <a:ext cx="137571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de subcontratistas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20229" y="2160270"/>
            <a:ext cx="1375715" cy="1474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1–2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subcontratistas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liberando presión sobre las cuadrillas actuales.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20229" y="3737610"/>
            <a:ext cx="1375715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7320229" y="3806190"/>
            <a:ext cx="1375715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días acumulados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Plan de Acción Recomendado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90 días — acciones concretas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tiempo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2900" y="1131570"/>
            <a:ext cx="2681478" cy="3429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80060" y="1303020"/>
            <a:ext cx="240715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(0–15 días)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" y="1680210"/>
            <a:ext cx="2407158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pedido de carpintería, ventanas, pisos y piezas sanitarias para los 14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fecha ya vencida — empezando por 1, 2, 3, 4, 5, 6 y 9 (vencidos hace 60 a 90 días) y 7, 8, 12.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segundo frente de trabajo en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12,11,10,15,14,13 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correspondiente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revestimientos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 y 23 días de atraso).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disponibilidad de cuadrillas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zona.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30118" y="1131570"/>
            <a:ext cx="2681478" cy="3429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367278" y="1303020"/>
            <a:ext cx="240715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 (15–45 días)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67278" y="1680210"/>
            <a:ext cx="2407158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carpintería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sanitarias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10,11,13,14,15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secuencia de Urbanismo: priorizar avenidas/calles y servicios 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cuadrilla de herrería para fabricación de balcones de Edificios 7–15.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17336" y="1131570"/>
            <a:ext cx="2681478" cy="3429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254496" y="1303020"/>
            <a:ext cx="240715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 (45–90 días)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1680210"/>
            <a:ext cx="2407158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pedido de materiales para Edificios 16,17,18,77,76 conforme se acerque su fecha límite.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 la curva de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cierre de estructura  para medir efectividad de las medidas de recuperación.</a:t>
            </a:r>
            <a:endParaRPr lang="en-US" sz="1000" dirty="0"/>
          </a:p>
          <a:p>
            <a:pPr marL="257175" indent="-257175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para observer  si la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240030"/>
            <a:ext cx="845591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Riesgos Clave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2900" y="720090"/>
            <a:ext cx="84559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2900" y="1165860"/>
            <a:ext cx="4125087" cy="3360420"/>
          </a:xfrm>
          <a:prstGeom prst="roundRect">
            <a:avLst>
              <a:gd name="adj" fmla="val 1633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514350" y="1303020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14350" y="1611630"/>
            <a:ext cx="3782187" cy="281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El proyecto ejecuta al 86% de eficiencia respecto al plan operativo (18.2% vs. 21.2%).</a:t>
            </a:r>
            <a:endParaRPr lang="en-US" sz="900" dirty="0"/>
          </a:p>
          <a:p>
            <a:pPr marL="257175" indent="-257175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El cronograma general acumula solo 5 días de atraso vs. línea base; los </a:t>
            </a:r>
            <a:r>
              <a:rPr lang="en-US" sz="900" dirty="0" err="1">
                <a:solidFill>
                  <a:srgbClr val="FFFFFF"/>
                </a:solidFill>
              </a:rPr>
              <a:t>edificios</a:t>
            </a:r>
            <a:r>
              <a:rPr lang="en-US" sz="900" dirty="0">
                <a:solidFill>
                  <a:srgbClr val="FFFFFF"/>
                </a:solidFill>
              </a:rPr>
              <a:t> 7, 8, 11 y 12 (fase de transición) concentran los mayores atrasos puntuales (9 a 30 días).</a:t>
            </a:r>
            <a:endParaRPr lang="en-US" sz="900" dirty="0"/>
          </a:p>
          <a:p>
            <a:pPr marL="257175" indent="-257175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Hallazgo crítico: los Edificios 1–6 y 9 tienen estructura 100% terminada desde marzo–mayo 2026, pero carpintería, herrería y ventanas siguen en 0% — 14 de los 26 </a:t>
            </a:r>
            <a:r>
              <a:rPr lang="en-US" sz="900" dirty="0" err="1">
                <a:solidFill>
                  <a:srgbClr val="FFFFFF"/>
                </a:solidFill>
              </a:rPr>
              <a:t>edificios</a:t>
            </a:r>
            <a:r>
              <a:rPr lang="en-US" sz="900" dirty="0">
                <a:solidFill>
                  <a:srgbClr val="FFFFFF"/>
                </a:solidFill>
              </a:rPr>
              <a:t> ya superaron su fecha límite de pedido.</a:t>
            </a:r>
            <a:endParaRPr lang="en-US" sz="900" dirty="0"/>
          </a:p>
          <a:p>
            <a:pPr marL="257175" indent="-257175">
              <a:lnSpc>
                <a:spcPct val="112000"/>
              </a:lnSpc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</a:rPr>
              <a:t>Urbanismo avanza solo 4%; las obras de acceso a Edificios 70–77 acumulan hasta 70 días sin iniciar.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73727" y="1165860"/>
            <a:ext cx="4125087" cy="3360420"/>
          </a:xfrm>
          <a:prstGeom prst="roundRect">
            <a:avLst>
              <a:gd name="adj" fmla="val 1633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4845177" y="1303020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25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 para el hito de mayo 2027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45177" y="1680210"/>
            <a:ext cx="3782187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938" dirty="0">
                <a:solidFill>
                  <a:srgbClr val="FFFFFF"/>
                </a:solidFill>
              </a:rPr>
              <a:t>Sin corrección, el atraso actual en estructura se traslada directamente a acabados por el efecto de los tiempos de materiales — el margen de 60–90 días que hoy existe se agota si las órdenes no se colocan de inmediato.
</a:t>
            </a:r>
            <a:r>
              <a:rPr lang="en-US" sz="938" b="1" dirty="0">
                <a:solidFill>
                  <a:srgbClr val="C9A961"/>
                </a:solidFill>
              </a:rPr>
              <a:t>Recomendación: </a:t>
            </a:r>
            <a:r>
              <a:rPr lang="en-US" sz="938" dirty="0">
                <a:solidFill>
                  <a:srgbClr val="FFFFFF"/>
                </a:solidFill>
              </a:rPr>
              <a:t>colocar de inmediato el pedido de carpintería, herrería y ventanas para los Edificios 1–9 (estructura ya terminada, 0% de avance en acabados) y activar doble frente en Edif. 7, 8, 10, 11 y 12, para preservar la fecha de cierre y sostener el caso ante el proceso de crédito IFC.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455914" y="4869180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ECD2E-7E6A-CDBD-3145-805216513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34455E-73DF-DA04-FDFE-913C5F2D2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BF787D-597A-3CBB-3E6C-44027267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77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F81F-CC8E-03EA-58D6-3BF4DA3B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plant with the sun shining through it&#10;&#10;AI-generated content may be incorrect.">
            <a:extLst>
              <a:ext uri="{FF2B5EF4-FFF2-40B4-BE49-F238E27FC236}">
                <a16:creationId xmlns:a16="http://schemas.microsoft.com/office/drawing/2014/main" id="{7EAFE88A-6D79-B1C4-2390-17C9B476C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>
            <a:fillRect/>
          </a:stretch>
        </p:blipFill>
        <p:spPr>
          <a:xfrm>
            <a:off x="-2285" y="7"/>
            <a:ext cx="9143999" cy="51434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C35537E-452B-5384-BE46-C7D0F032EF3B}"/>
              </a:ext>
            </a:extLst>
          </p:cNvPr>
          <p:cNvSpPr txBox="1"/>
          <p:nvPr/>
        </p:nvSpPr>
        <p:spPr>
          <a:xfrm>
            <a:off x="3974124" y="3414251"/>
            <a:ext cx="5059264" cy="1443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68580" tIns="34290" rIns="68580" bIns="34290" rtlCol="0" anchor="b">
            <a:normAutofit/>
          </a:bodyPr>
          <a:lstStyle/>
          <a:p>
            <a:pPr marL="9525"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s-DO" sz="3900" spc="-68" dirty="0">
                <a:solidFill>
                  <a:srgbClr val="FFFFFF"/>
                </a:solidFill>
                <a:latin typeface="Fahkwang" panose="00000500000000000000" pitchFamily="2" charset="-34"/>
                <a:ea typeface="+mj-ea"/>
                <a:cs typeface="Fahkwang" panose="00000500000000000000" pitchFamily="2" charset="-34"/>
              </a:rPr>
              <a:t>Informe Financiero</a:t>
            </a:r>
          </a:p>
        </p:txBody>
      </p:sp>
    </p:spTree>
    <p:extLst>
      <p:ext uri="{BB962C8B-B14F-4D97-AF65-F5344CB8AC3E}">
        <p14:creationId xmlns:p14="http://schemas.microsoft.com/office/powerpoint/2010/main" val="3365914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RESUMEN EJECUTIVO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80059"/>
            <a:ext cx="411480" cy="68927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5" name="Shape 3"/>
          <p:cNvSpPr/>
          <p:nvPr/>
        </p:nvSpPr>
        <p:spPr>
          <a:xfrm>
            <a:off x="365760" y="589788"/>
            <a:ext cx="8412480" cy="909828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6" name="Shape 4"/>
          <p:cNvSpPr/>
          <p:nvPr/>
        </p:nvSpPr>
        <p:spPr>
          <a:xfrm>
            <a:off x="365760" y="589788"/>
            <a:ext cx="54864" cy="90982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7" name="Text 5"/>
          <p:cNvSpPr/>
          <p:nvPr/>
        </p:nvSpPr>
        <p:spPr>
          <a:xfrm>
            <a:off x="530352" y="626363"/>
            <a:ext cx="8046720" cy="220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A DIRECCIÓN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781811"/>
            <a:ext cx="8046720" cy="71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unidades vinculadas por USD 21.9M.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acum. RD$746.4M vs Costos RD$712.3M. Liquidez RD$48.2M. Jun-26 ejecutó RD$49.0M.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Alaver RD$40M recibido.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69748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00" b="1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RD$3,428.5M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475488" y="24414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proyecto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3182112" y="1737360"/>
            <a:ext cx="269748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ACUM. JUN-26</a:t>
            </a:r>
            <a:endParaRPr lang="en-US" sz="900" b="1" dirty="0"/>
          </a:p>
        </p:txBody>
      </p:sp>
      <p:sp>
        <p:nvSpPr>
          <p:cNvPr id="15" name="Text 13"/>
          <p:cNvSpPr/>
          <p:nvPr/>
        </p:nvSpPr>
        <p:spPr>
          <a:xfrm>
            <a:off x="3273552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RD$712.3M</a:t>
            </a:r>
            <a:endParaRPr lang="en-US" sz="2400" b="1" dirty="0"/>
          </a:p>
        </p:txBody>
      </p:sp>
      <p:sp>
        <p:nvSpPr>
          <p:cNvPr id="16" name="Text 14"/>
          <p:cNvSpPr/>
          <p:nvPr/>
        </p:nvSpPr>
        <p:spPr>
          <a:xfrm>
            <a:off x="3291840" y="24414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del presupuesto</a:t>
            </a:r>
            <a:endParaRPr lang="en-US" sz="900" b="1" dirty="0"/>
          </a:p>
        </p:txBody>
      </p:sp>
      <p:sp>
        <p:nvSpPr>
          <p:cNvPr id="17" name="Shape 15"/>
          <p:cNvSpPr/>
          <p:nvPr/>
        </p:nvSpPr>
        <p:spPr>
          <a:xfrm>
            <a:off x="5998464" y="1737360"/>
            <a:ext cx="269748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18" name="Text 16"/>
          <p:cNvSpPr/>
          <p:nvPr/>
        </p:nvSpPr>
        <p:spPr>
          <a:xfrm>
            <a:off x="6108192" y="18288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ACUM. JUN-26</a:t>
            </a:r>
            <a:endParaRPr lang="en-US" sz="900" b="1" dirty="0"/>
          </a:p>
        </p:txBody>
      </p:sp>
      <p:sp>
        <p:nvSpPr>
          <p:cNvPr id="19" name="Text 17"/>
          <p:cNvSpPr/>
          <p:nvPr/>
        </p:nvSpPr>
        <p:spPr>
          <a:xfrm>
            <a:off x="6089904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RD$746.4M</a:t>
            </a:r>
            <a:endParaRPr lang="en-US" sz="2400" b="1" dirty="0"/>
          </a:p>
        </p:txBody>
      </p:sp>
      <p:sp>
        <p:nvSpPr>
          <p:cNvPr id="20" name="Text 18"/>
          <p:cNvSpPr/>
          <p:nvPr/>
        </p:nvSpPr>
        <p:spPr>
          <a:xfrm>
            <a:off x="6108192" y="244144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Cltes · AFI · Préstamos · Int.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365760" y="27980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</a:t>
            </a:r>
            <a:endParaRPr lang="en-US" sz="1000" b="1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146304" cy="146304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3" name="Text 21"/>
          <p:cNvSpPr/>
          <p:nvPr/>
        </p:nvSpPr>
        <p:spPr>
          <a:xfrm>
            <a:off x="585216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presup.</a:t>
            </a:r>
            <a:endParaRPr lang="en-US" sz="1000" b="1" dirty="0"/>
          </a:p>
        </p:txBody>
      </p:sp>
      <p:sp>
        <p:nvSpPr>
          <p:cNvPr id="24" name="Text 22"/>
          <p:cNvSpPr/>
          <p:nvPr/>
        </p:nvSpPr>
        <p:spPr>
          <a:xfrm>
            <a:off x="2066544" y="30723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000" b="1" dirty="0"/>
          </a:p>
        </p:txBody>
      </p:sp>
      <p:sp>
        <p:nvSpPr>
          <p:cNvPr id="25" name="Shape 23"/>
          <p:cNvSpPr/>
          <p:nvPr/>
        </p:nvSpPr>
        <p:spPr>
          <a:xfrm>
            <a:off x="3182112" y="3090672"/>
            <a:ext cx="146304" cy="146304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6" name="Text 24"/>
          <p:cNvSpPr/>
          <p:nvPr/>
        </p:nvSpPr>
        <p:spPr>
          <a:xfrm>
            <a:off x="3401568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jun-26</a:t>
            </a:r>
            <a:endParaRPr lang="en-US" sz="1000" b="1" dirty="0"/>
          </a:p>
        </p:txBody>
      </p:sp>
      <p:sp>
        <p:nvSpPr>
          <p:cNvPr id="27" name="Text 25"/>
          <p:cNvSpPr/>
          <p:nvPr/>
        </p:nvSpPr>
        <p:spPr>
          <a:xfrm>
            <a:off x="4882896" y="30723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RD$49.0M</a:t>
            </a:r>
            <a:endParaRPr lang="en-US" sz="1000" b="1" dirty="0"/>
          </a:p>
        </p:txBody>
      </p:sp>
      <p:sp>
        <p:nvSpPr>
          <p:cNvPr id="28" name="Shape 26"/>
          <p:cNvSpPr/>
          <p:nvPr/>
        </p:nvSpPr>
        <p:spPr>
          <a:xfrm>
            <a:off x="5998464" y="30906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9" name="Text 27"/>
          <p:cNvSpPr/>
          <p:nvPr/>
        </p:nvSpPr>
        <p:spPr>
          <a:xfrm>
            <a:off x="6217920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CXP al corte</a:t>
            </a:r>
            <a:endParaRPr lang="en-US" sz="1000" b="1" dirty="0"/>
          </a:p>
        </p:txBody>
      </p:sp>
      <p:sp>
        <p:nvSpPr>
          <p:cNvPr id="30" name="Text 28"/>
          <p:cNvSpPr/>
          <p:nvPr/>
        </p:nvSpPr>
        <p:spPr>
          <a:xfrm>
            <a:off x="7699248" y="30723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RD$18.6M</a:t>
            </a:r>
            <a:endParaRPr lang="en-US" sz="1000" b="1" dirty="0"/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146304" cy="146304"/>
          </a:xfrm>
          <a:prstGeom prst="ellipse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2" name="Text 30"/>
          <p:cNvSpPr/>
          <p:nvPr/>
        </p:nvSpPr>
        <p:spPr>
          <a:xfrm>
            <a:off x="585216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Anticipos vigentes</a:t>
            </a:r>
            <a:endParaRPr lang="en-US" sz="1000" b="1" dirty="0"/>
          </a:p>
        </p:txBody>
      </p:sp>
      <p:sp>
        <p:nvSpPr>
          <p:cNvPr id="33" name="Text 31"/>
          <p:cNvSpPr/>
          <p:nvPr/>
        </p:nvSpPr>
        <p:spPr>
          <a:xfrm>
            <a:off x="2066544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RD$9.2M</a:t>
            </a:r>
            <a:endParaRPr lang="en-US" sz="1000" b="1" dirty="0"/>
          </a:p>
        </p:txBody>
      </p:sp>
      <p:sp>
        <p:nvSpPr>
          <p:cNvPr id="34" name="Shape 32"/>
          <p:cNvSpPr/>
          <p:nvPr/>
        </p:nvSpPr>
        <p:spPr>
          <a:xfrm>
            <a:off x="3182112" y="3383280"/>
            <a:ext cx="146304" cy="14630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5" name="Text 33"/>
          <p:cNvSpPr/>
          <p:nvPr/>
        </p:nvSpPr>
        <p:spPr>
          <a:xfrm>
            <a:off x="3401568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uds vinculadas</a:t>
            </a:r>
            <a:endParaRPr lang="en-US" sz="1000" b="1" dirty="0"/>
          </a:p>
        </p:txBody>
      </p:sp>
      <p:sp>
        <p:nvSpPr>
          <p:cNvPr id="36" name="Text 34"/>
          <p:cNvSpPr/>
          <p:nvPr/>
        </p:nvSpPr>
        <p:spPr>
          <a:xfrm>
            <a:off x="4882896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21.9M</a:t>
            </a:r>
            <a:endParaRPr lang="en-US" sz="1000" b="1" dirty="0"/>
          </a:p>
        </p:txBody>
      </p:sp>
      <p:sp>
        <p:nvSpPr>
          <p:cNvPr id="37" name="Shape 35"/>
          <p:cNvSpPr/>
          <p:nvPr/>
        </p:nvSpPr>
        <p:spPr>
          <a:xfrm>
            <a:off x="5998464" y="3383280"/>
            <a:ext cx="146304" cy="14630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8" name="Text 36"/>
          <p:cNvSpPr/>
          <p:nvPr/>
        </p:nvSpPr>
        <p:spPr>
          <a:xfrm>
            <a:off x="6217920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bancaria</a:t>
            </a:r>
            <a:endParaRPr lang="en-US" sz="1000" b="1" dirty="0"/>
          </a:p>
        </p:txBody>
      </p:sp>
      <p:sp>
        <p:nvSpPr>
          <p:cNvPr id="39" name="Text 37"/>
          <p:cNvSpPr/>
          <p:nvPr/>
        </p:nvSpPr>
        <p:spPr>
          <a:xfrm>
            <a:off x="7699248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RD$48.2M</a:t>
            </a:r>
            <a:endParaRPr lang="en-US" sz="1000" b="1" dirty="0"/>
          </a:p>
        </p:txBody>
      </p:sp>
      <p:sp>
        <p:nvSpPr>
          <p:cNvPr id="40" name="Shape 38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6576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Junio 2026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CONTROL PRESUPUESTAL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2946" y="432511"/>
            <a:ext cx="411480" cy="4572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47472" y="519379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610819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</a:t>
            </a:r>
            <a:endParaRPr lang="en-US" sz="800" b="1" dirty="0"/>
          </a:p>
        </p:txBody>
      </p:sp>
      <p:sp>
        <p:nvSpPr>
          <p:cNvPr id="7" name="Text 5"/>
          <p:cNvSpPr/>
          <p:nvPr/>
        </p:nvSpPr>
        <p:spPr>
          <a:xfrm>
            <a:off x="438912" y="766267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RD$3,591.3M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457200" y="1223467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 proyecto</a:t>
            </a:r>
            <a:endParaRPr lang="en-US" sz="900" b="1" dirty="0"/>
          </a:p>
        </p:txBody>
      </p:sp>
      <p:sp>
        <p:nvSpPr>
          <p:cNvPr id="9" name="Shape 7"/>
          <p:cNvSpPr/>
          <p:nvPr/>
        </p:nvSpPr>
        <p:spPr>
          <a:xfrm>
            <a:off x="2432304" y="519379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42032" y="610819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ACUM.</a:t>
            </a:r>
            <a:endParaRPr lang="en-US" sz="800" b="1" dirty="0"/>
          </a:p>
        </p:txBody>
      </p:sp>
      <p:sp>
        <p:nvSpPr>
          <p:cNvPr id="11" name="Text 9"/>
          <p:cNvSpPr/>
          <p:nvPr/>
        </p:nvSpPr>
        <p:spPr>
          <a:xfrm>
            <a:off x="2523744" y="766267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RD$712.3M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2542032" y="1223467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del presupuesto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4517136" y="519379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26864" y="610819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EJECUTAR</a:t>
            </a:r>
            <a:endParaRPr lang="en-US" sz="800" b="1" dirty="0"/>
          </a:p>
        </p:txBody>
      </p:sp>
      <p:sp>
        <p:nvSpPr>
          <p:cNvPr id="15" name="Text 13"/>
          <p:cNvSpPr/>
          <p:nvPr/>
        </p:nvSpPr>
        <p:spPr>
          <a:xfrm>
            <a:off x="4608576" y="766267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</a:t>
            </a: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$2,878.0M</a:t>
            </a:r>
            <a:endParaRPr lang="en-US" sz="2000" b="1" dirty="0"/>
          </a:p>
        </p:txBody>
      </p:sp>
      <p:sp>
        <p:nvSpPr>
          <p:cNvPr id="16" name="Text 14"/>
          <p:cNvSpPr/>
          <p:nvPr/>
        </p:nvSpPr>
        <p:spPr>
          <a:xfrm>
            <a:off x="4626864" y="1223467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 pendiente</a:t>
            </a:r>
            <a:endParaRPr lang="en-US" sz="900" b="1" dirty="0"/>
          </a:p>
        </p:txBody>
      </p:sp>
      <p:sp>
        <p:nvSpPr>
          <p:cNvPr id="17" name="Shape 15"/>
          <p:cNvSpPr/>
          <p:nvPr/>
        </p:nvSpPr>
        <p:spPr>
          <a:xfrm>
            <a:off x="6601968" y="519379"/>
            <a:ext cx="1993392" cy="914400"/>
          </a:xfrm>
          <a:prstGeom prst="rect">
            <a:avLst/>
          </a:prstGeom>
          <a:solidFill>
            <a:srgbClr val="122348"/>
          </a:solidFill>
          <a:ln w="12700">
            <a:solidFill>
              <a:srgbClr val="12234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711696" y="610819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ACUMULADOS</a:t>
            </a:r>
            <a:endParaRPr lang="en-US" sz="800" b="1" dirty="0"/>
          </a:p>
        </p:txBody>
      </p:sp>
      <p:sp>
        <p:nvSpPr>
          <p:cNvPr id="19" name="Text 17"/>
          <p:cNvSpPr/>
          <p:nvPr/>
        </p:nvSpPr>
        <p:spPr>
          <a:xfrm>
            <a:off x="6693408" y="766267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RD$703.0M</a:t>
            </a: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6711696" y="1223467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de lo ejecutado</a:t>
            </a:r>
            <a:endParaRPr lang="en-US" sz="900" b="1" dirty="0"/>
          </a:p>
        </p:txBody>
      </p:sp>
      <p:sp>
        <p:nvSpPr>
          <p:cNvPr id="21" name="Shape 19"/>
          <p:cNvSpPr/>
          <p:nvPr/>
        </p:nvSpPr>
        <p:spPr>
          <a:xfrm>
            <a:off x="843932" y="1567746"/>
            <a:ext cx="7202788" cy="273331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22" name="Text 20"/>
          <p:cNvSpPr/>
          <p:nvPr/>
        </p:nvSpPr>
        <p:spPr>
          <a:xfrm>
            <a:off x="1051560" y="1603333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COSTO</a:t>
            </a:r>
            <a:endParaRPr lang="en-US" sz="900" b="1" dirty="0"/>
          </a:p>
        </p:txBody>
      </p:sp>
      <p:sp>
        <p:nvSpPr>
          <p:cNvPr id="23" name="Text 21"/>
          <p:cNvSpPr/>
          <p:nvPr/>
        </p:nvSpPr>
        <p:spPr>
          <a:xfrm>
            <a:off x="2377440" y="1603333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00" b="1" dirty="0"/>
          </a:p>
        </p:txBody>
      </p:sp>
      <p:sp>
        <p:nvSpPr>
          <p:cNvPr id="24" name="Text 22"/>
          <p:cNvSpPr/>
          <p:nvPr/>
        </p:nvSpPr>
        <p:spPr>
          <a:xfrm>
            <a:off x="3456432" y="1603333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900" b="1" dirty="0"/>
          </a:p>
        </p:txBody>
      </p:sp>
      <p:sp>
        <p:nvSpPr>
          <p:cNvPr id="25" name="Text 23"/>
          <p:cNvSpPr/>
          <p:nvPr/>
        </p:nvSpPr>
        <p:spPr>
          <a:xfrm>
            <a:off x="4535424" y="1603333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EJECUTAR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5614416" y="1603333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PAGADO</a:t>
            </a:r>
            <a:endParaRPr lang="en-US" sz="900" b="1" dirty="0"/>
          </a:p>
        </p:txBody>
      </p:sp>
      <p:sp>
        <p:nvSpPr>
          <p:cNvPr id="27" name="Text 25"/>
          <p:cNvSpPr/>
          <p:nvPr/>
        </p:nvSpPr>
        <p:spPr>
          <a:xfrm>
            <a:off x="6839712" y="1603333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EJEC.</a:t>
            </a:r>
            <a:endParaRPr lang="en-US" sz="900" b="1" dirty="0"/>
          </a:p>
        </p:txBody>
      </p:sp>
      <p:sp>
        <p:nvSpPr>
          <p:cNvPr id="28" name="Text 26"/>
          <p:cNvSpPr/>
          <p:nvPr/>
        </p:nvSpPr>
        <p:spPr>
          <a:xfrm>
            <a:off x="7360920" y="1603333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</a:t>
            </a:r>
            <a:endParaRPr lang="en-US" sz="900" b="1" dirty="0"/>
          </a:p>
        </p:txBody>
      </p:sp>
      <p:sp>
        <p:nvSpPr>
          <p:cNvPr id="29" name="Shape 27"/>
          <p:cNvSpPr/>
          <p:nvPr/>
        </p:nvSpPr>
        <p:spPr>
          <a:xfrm>
            <a:off x="843932" y="1850221"/>
            <a:ext cx="7202788" cy="144475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0" name="Text 28"/>
          <p:cNvSpPr/>
          <p:nvPr/>
        </p:nvSpPr>
        <p:spPr>
          <a:xfrm>
            <a:off x="1051560" y="1835801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◆  CONSTRUCCIÓN</a:t>
            </a:r>
            <a:endParaRPr lang="en-US" sz="900" b="1" dirty="0"/>
          </a:p>
        </p:txBody>
      </p:sp>
      <p:sp>
        <p:nvSpPr>
          <p:cNvPr id="31" name="Shape 29"/>
          <p:cNvSpPr/>
          <p:nvPr/>
        </p:nvSpPr>
        <p:spPr>
          <a:xfrm>
            <a:off x="843932" y="1985552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2" name="Text 30"/>
          <p:cNvSpPr/>
          <p:nvPr/>
        </p:nvSpPr>
        <p:spPr>
          <a:xfrm>
            <a:off x="1051560" y="2003840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1-1 Terreno</a:t>
            </a:r>
            <a:endParaRPr lang="en-US" sz="900" b="1" dirty="0"/>
          </a:p>
        </p:txBody>
      </p:sp>
      <p:sp>
        <p:nvSpPr>
          <p:cNvPr id="33" name="Text 31"/>
          <p:cNvSpPr/>
          <p:nvPr/>
        </p:nvSpPr>
        <p:spPr>
          <a:xfrm>
            <a:off x="2377440" y="200384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269.7M</a:t>
            </a:r>
            <a:endParaRPr lang="en-US" sz="900" b="1" dirty="0"/>
          </a:p>
        </p:txBody>
      </p:sp>
      <p:sp>
        <p:nvSpPr>
          <p:cNvPr id="34" name="Text 32"/>
          <p:cNvSpPr/>
          <p:nvPr/>
        </p:nvSpPr>
        <p:spPr>
          <a:xfrm>
            <a:off x="3456432" y="200384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266.8M</a:t>
            </a:r>
            <a:endParaRPr lang="en-US" sz="900" b="1" dirty="0"/>
          </a:p>
        </p:txBody>
      </p:sp>
      <p:sp>
        <p:nvSpPr>
          <p:cNvPr id="35" name="Text 33"/>
          <p:cNvSpPr/>
          <p:nvPr/>
        </p:nvSpPr>
        <p:spPr>
          <a:xfrm>
            <a:off x="4535424" y="200384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</a:t>
            </a:r>
          </a:p>
        </p:txBody>
      </p:sp>
      <p:sp>
        <p:nvSpPr>
          <p:cNvPr id="36" name="Text 34"/>
          <p:cNvSpPr/>
          <p:nvPr/>
        </p:nvSpPr>
        <p:spPr>
          <a:xfrm>
            <a:off x="5614416" y="200384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266.8M</a:t>
            </a:r>
            <a:endParaRPr lang="en-US" sz="900" b="1" dirty="0"/>
          </a:p>
        </p:txBody>
      </p:sp>
      <p:sp>
        <p:nvSpPr>
          <p:cNvPr id="37" name="Text 35"/>
          <p:cNvSpPr/>
          <p:nvPr/>
        </p:nvSpPr>
        <p:spPr>
          <a:xfrm>
            <a:off x="6839712" y="2003840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900" b="1" dirty="0"/>
          </a:p>
        </p:txBody>
      </p:sp>
      <p:sp>
        <p:nvSpPr>
          <p:cNvPr id="38" name="Text 36"/>
          <p:cNvSpPr/>
          <p:nvPr/>
        </p:nvSpPr>
        <p:spPr>
          <a:xfrm>
            <a:off x="7360920" y="2003840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9" name="Shape 37"/>
          <p:cNvSpPr/>
          <p:nvPr/>
        </p:nvSpPr>
        <p:spPr>
          <a:xfrm>
            <a:off x="843932" y="2120883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0" name="Text 38"/>
          <p:cNvSpPr/>
          <p:nvPr/>
        </p:nvSpPr>
        <p:spPr>
          <a:xfrm>
            <a:off x="1051560" y="2139171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1-2 Diseño y Proyecto</a:t>
            </a:r>
            <a:endParaRPr lang="en-US" sz="900" b="1" dirty="0"/>
          </a:p>
        </p:txBody>
      </p:sp>
      <p:sp>
        <p:nvSpPr>
          <p:cNvPr id="41" name="Text 39"/>
          <p:cNvSpPr/>
          <p:nvPr/>
        </p:nvSpPr>
        <p:spPr>
          <a:xfrm>
            <a:off x="2377440" y="21391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25.0M</a:t>
            </a:r>
            <a:endParaRPr lang="en-US" sz="900" b="1" dirty="0"/>
          </a:p>
        </p:txBody>
      </p:sp>
      <p:sp>
        <p:nvSpPr>
          <p:cNvPr id="42" name="Text 40"/>
          <p:cNvSpPr/>
          <p:nvPr/>
        </p:nvSpPr>
        <p:spPr>
          <a:xfrm>
            <a:off x="3456432" y="21391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24.2M</a:t>
            </a:r>
            <a:endParaRPr lang="en-US" sz="900" b="1" dirty="0"/>
          </a:p>
        </p:txBody>
      </p:sp>
      <p:sp>
        <p:nvSpPr>
          <p:cNvPr id="43" name="Text 41"/>
          <p:cNvSpPr/>
          <p:nvPr/>
        </p:nvSpPr>
        <p:spPr>
          <a:xfrm>
            <a:off x="4535424" y="21391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</a:t>
            </a:r>
            <a:endParaRPr lang="en-US" sz="900" b="1" dirty="0"/>
          </a:p>
        </p:txBody>
      </p:sp>
      <p:sp>
        <p:nvSpPr>
          <p:cNvPr id="44" name="Text 42"/>
          <p:cNvSpPr/>
          <p:nvPr/>
        </p:nvSpPr>
        <p:spPr>
          <a:xfrm>
            <a:off x="5614416" y="21391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24.4M</a:t>
            </a:r>
            <a:endParaRPr lang="en-US" sz="900" b="1" dirty="0"/>
          </a:p>
        </p:txBody>
      </p:sp>
      <p:sp>
        <p:nvSpPr>
          <p:cNvPr id="45" name="Text 43"/>
          <p:cNvSpPr/>
          <p:nvPr/>
        </p:nvSpPr>
        <p:spPr>
          <a:xfrm>
            <a:off x="6839712" y="2139171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96.6%</a:t>
            </a:r>
            <a:endParaRPr lang="en-US" sz="900" b="1" dirty="0"/>
          </a:p>
        </p:txBody>
      </p:sp>
      <p:sp>
        <p:nvSpPr>
          <p:cNvPr id="46" name="Text 44"/>
          <p:cNvSpPr/>
          <p:nvPr/>
        </p:nvSpPr>
        <p:spPr>
          <a:xfrm>
            <a:off x="7360920" y="2139171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7" name="Shape 45"/>
          <p:cNvSpPr/>
          <p:nvPr/>
        </p:nvSpPr>
        <p:spPr>
          <a:xfrm>
            <a:off x="843932" y="2256215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8" name="Text 46"/>
          <p:cNvSpPr/>
          <p:nvPr/>
        </p:nvSpPr>
        <p:spPr>
          <a:xfrm>
            <a:off x="1051560" y="2274503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1-4 Urbanismo</a:t>
            </a:r>
            <a:endParaRPr lang="en-US" sz="900" b="1" dirty="0"/>
          </a:p>
        </p:txBody>
      </p:sp>
      <p:sp>
        <p:nvSpPr>
          <p:cNvPr id="49" name="Text 47"/>
          <p:cNvSpPr/>
          <p:nvPr/>
        </p:nvSpPr>
        <p:spPr>
          <a:xfrm>
            <a:off x="2377440" y="227450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469.2M</a:t>
            </a:r>
            <a:endParaRPr lang="en-US" sz="900" b="1" dirty="0"/>
          </a:p>
        </p:txBody>
      </p:sp>
      <p:sp>
        <p:nvSpPr>
          <p:cNvPr id="50" name="Text 48"/>
          <p:cNvSpPr/>
          <p:nvPr/>
        </p:nvSpPr>
        <p:spPr>
          <a:xfrm>
            <a:off x="3456432" y="227450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50.8M</a:t>
            </a:r>
            <a:endParaRPr lang="en-US" sz="900" b="1" dirty="0"/>
          </a:p>
        </p:txBody>
      </p:sp>
      <p:sp>
        <p:nvSpPr>
          <p:cNvPr id="51" name="Text 49"/>
          <p:cNvSpPr/>
          <p:nvPr/>
        </p:nvSpPr>
        <p:spPr>
          <a:xfrm>
            <a:off x="4535424" y="227450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418.4M</a:t>
            </a:r>
            <a:endParaRPr lang="en-US" sz="900" b="1" dirty="0"/>
          </a:p>
        </p:txBody>
      </p:sp>
      <p:sp>
        <p:nvSpPr>
          <p:cNvPr id="52" name="Text 50"/>
          <p:cNvSpPr/>
          <p:nvPr/>
        </p:nvSpPr>
        <p:spPr>
          <a:xfrm>
            <a:off x="5614416" y="227450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51.5M</a:t>
            </a:r>
            <a:endParaRPr lang="en-US" sz="900" b="1" dirty="0"/>
          </a:p>
        </p:txBody>
      </p:sp>
      <p:sp>
        <p:nvSpPr>
          <p:cNvPr id="53" name="Text 51"/>
          <p:cNvSpPr/>
          <p:nvPr/>
        </p:nvSpPr>
        <p:spPr>
          <a:xfrm>
            <a:off x="6839712" y="2274503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900" b="1" dirty="0"/>
          </a:p>
        </p:txBody>
      </p:sp>
      <p:sp>
        <p:nvSpPr>
          <p:cNvPr id="54" name="Text 52"/>
          <p:cNvSpPr/>
          <p:nvPr/>
        </p:nvSpPr>
        <p:spPr>
          <a:xfrm>
            <a:off x="7360920" y="2274503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5.5M</a:t>
            </a:r>
            <a:endParaRPr lang="en-US" sz="800" b="1" dirty="0"/>
          </a:p>
        </p:txBody>
      </p:sp>
      <p:sp>
        <p:nvSpPr>
          <p:cNvPr id="55" name="Shape 53"/>
          <p:cNvSpPr/>
          <p:nvPr/>
        </p:nvSpPr>
        <p:spPr>
          <a:xfrm>
            <a:off x="843932" y="2391546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56" name="Text 54"/>
          <p:cNvSpPr/>
          <p:nvPr/>
        </p:nvSpPr>
        <p:spPr>
          <a:xfrm>
            <a:off x="1051560" y="2409834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1-5 Edificaciones</a:t>
            </a:r>
            <a:endParaRPr lang="en-US" sz="900" b="1" dirty="0"/>
          </a:p>
        </p:txBody>
      </p:sp>
      <p:sp>
        <p:nvSpPr>
          <p:cNvPr id="57" name="Text 55"/>
          <p:cNvSpPr/>
          <p:nvPr/>
        </p:nvSpPr>
        <p:spPr>
          <a:xfrm>
            <a:off x="2377440" y="2409834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1,517.2M</a:t>
            </a:r>
            <a:endParaRPr lang="en-US" sz="900" b="1" dirty="0"/>
          </a:p>
        </p:txBody>
      </p:sp>
      <p:sp>
        <p:nvSpPr>
          <p:cNvPr id="58" name="Text 56"/>
          <p:cNvSpPr/>
          <p:nvPr/>
        </p:nvSpPr>
        <p:spPr>
          <a:xfrm>
            <a:off x="3456432" y="2409834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91.0M</a:t>
            </a:r>
            <a:endParaRPr lang="en-US" sz="900" b="1" dirty="0"/>
          </a:p>
        </p:txBody>
      </p:sp>
      <p:sp>
        <p:nvSpPr>
          <p:cNvPr id="59" name="Text 57"/>
          <p:cNvSpPr/>
          <p:nvPr/>
        </p:nvSpPr>
        <p:spPr>
          <a:xfrm>
            <a:off x="4535424" y="2409834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1,426.2M</a:t>
            </a:r>
            <a:endParaRPr lang="en-US" sz="900" b="1" dirty="0"/>
          </a:p>
        </p:txBody>
      </p:sp>
      <p:sp>
        <p:nvSpPr>
          <p:cNvPr id="60" name="Text 58"/>
          <p:cNvSpPr/>
          <p:nvPr/>
        </p:nvSpPr>
        <p:spPr>
          <a:xfrm>
            <a:off x="5614416" y="2409834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86.0M</a:t>
            </a:r>
            <a:endParaRPr lang="en-US" sz="900" b="1" dirty="0"/>
          </a:p>
        </p:txBody>
      </p:sp>
      <p:sp>
        <p:nvSpPr>
          <p:cNvPr id="61" name="Text 59"/>
          <p:cNvSpPr/>
          <p:nvPr/>
        </p:nvSpPr>
        <p:spPr>
          <a:xfrm>
            <a:off x="6839712" y="2409834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900" b="1" dirty="0"/>
          </a:p>
        </p:txBody>
      </p:sp>
      <p:sp>
        <p:nvSpPr>
          <p:cNvPr id="62" name="Text 60"/>
          <p:cNvSpPr/>
          <p:nvPr/>
        </p:nvSpPr>
        <p:spPr>
          <a:xfrm>
            <a:off x="7360920" y="2409834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23.3M</a:t>
            </a:r>
            <a:endParaRPr lang="en-US" sz="800" b="1" dirty="0"/>
          </a:p>
        </p:txBody>
      </p:sp>
      <p:sp>
        <p:nvSpPr>
          <p:cNvPr id="63" name="Shape 61"/>
          <p:cNvSpPr/>
          <p:nvPr/>
        </p:nvSpPr>
        <p:spPr>
          <a:xfrm>
            <a:off x="843932" y="2526877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64" name="Text 62"/>
          <p:cNvSpPr/>
          <p:nvPr/>
        </p:nvSpPr>
        <p:spPr>
          <a:xfrm>
            <a:off x="1051560" y="2545165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1-6 Gerencia de Construcción</a:t>
            </a:r>
            <a:endParaRPr lang="en-US" sz="900" b="1" dirty="0"/>
          </a:p>
        </p:txBody>
      </p:sp>
      <p:sp>
        <p:nvSpPr>
          <p:cNvPr id="65" name="Text 63"/>
          <p:cNvSpPr/>
          <p:nvPr/>
        </p:nvSpPr>
        <p:spPr>
          <a:xfrm>
            <a:off x="2377440" y="254516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234.4M</a:t>
            </a:r>
            <a:endParaRPr lang="en-US" sz="900" b="1" dirty="0"/>
          </a:p>
        </p:txBody>
      </p:sp>
      <p:sp>
        <p:nvSpPr>
          <p:cNvPr id="66" name="Text 64"/>
          <p:cNvSpPr/>
          <p:nvPr/>
        </p:nvSpPr>
        <p:spPr>
          <a:xfrm>
            <a:off x="3456432" y="254516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39.8M</a:t>
            </a:r>
            <a:endParaRPr lang="en-US" sz="900" b="1" dirty="0"/>
          </a:p>
        </p:txBody>
      </p:sp>
      <p:sp>
        <p:nvSpPr>
          <p:cNvPr id="67" name="Text 65"/>
          <p:cNvSpPr/>
          <p:nvPr/>
        </p:nvSpPr>
        <p:spPr>
          <a:xfrm>
            <a:off x="4535424" y="254516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194.6M</a:t>
            </a:r>
            <a:endParaRPr lang="en-US" sz="900" b="1" dirty="0"/>
          </a:p>
        </p:txBody>
      </p:sp>
      <p:sp>
        <p:nvSpPr>
          <p:cNvPr id="68" name="Text 66"/>
          <p:cNvSpPr/>
          <p:nvPr/>
        </p:nvSpPr>
        <p:spPr>
          <a:xfrm>
            <a:off x="5614416" y="254516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40.5M</a:t>
            </a:r>
            <a:endParaRPr lang="en-US" sz="900" b="1" dirty="0"/>
          </a:p>
        </p:txBody>
      </p:sp>
      <p:sp>
        <p:nvSpPr>
          <p:cNvPr id="69" name="Text 67"/>
          <p:cNvSpPr/>
          <p:nvPr/>
        </p:nvSpPr>
        <p:spPr>
          <a:xfrm>
            <a:off x="6839712" y="2545165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900" b="1" dirty="0"/>
          </a:p>
        </p:txBody>
      </p:sp>
      <p:sp>
        <p:nvSpPr>
          <p:cNvPr id="70" name="Text 68"/>
          <p:cNvSpPr/>
          <p:nvPr/>
        </p:nvSpPr>
        <p:spPr>
          <a:xfrm>
            <a:off x="7360920" y="2545165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</a:t>
            </a:r>
            <a:endParaRPr lang="en-US" sz="800" b="1" dirty="0"/>
          </a:p>
        </p:txBody>
      </p:sp>
      <p:sp>
        <p:nvSpPr>
          <p:cNvPr id="71" name="Shape 69"/>
          <p:cNvSpPr/>
          <p:nvPr/>
        </p:nvSpPr>
        <p:spPr>
          <a:xfrm>
            <a:off x="843932" y="2662208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72" name="Text 70"/>
          <p:cNvSpPr/>
          <p:nvPr/>
        </p:nvSpPr>
        <p:spPr>
          <a:xfrm>
            <a:off x="1051560" y="2680496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1-7 Indirectos de Obra</a:t>
            </a:r>
            <a:endParaRPr lang="en-US" sz="900" b="1" dirty="0"/>
          </a:p>
        </p:txBody>
      </p:sp>
      <p:sp>
        <p:nvSpPr>
          <p:cNvPr id="73" name="Text 71"/>
          <p:cNvSpPr/>
          <p:nvPr/>
        </p:nvSpPr>
        <p:spPr>
          <a:xfrm>
            <a:off x="2377440" y="268049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47.7M</a:t>
            </a:r>
            <a:endParaRPr lang="en-US" sz="900" b="1" dirty="0"/>
          </a:p>
        </p:txBody>
      </p:sp>
      <p:sp>
        <p:nvSpPr>
          <p:cNvPr id="74" name="Text 72"/>
          <p:cNvSpPr/>
          <p:nvPr/>
        </p:nvSpPr>
        <p:spPr>
          <a:xfrm>
            <a:off x="3456432" y="268049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8.3M</a:t>
            </a:r>
            <a:endParaRPr lang="en-US" sz="900" b="1" dirty="0"/>
          </a:p>
        </p:txBody>
      </p:sp>
      <p:sp>
        <p:nvSpPr>
          <p:cNvPr id="75" name="Text 73"/>
          <p:cNvSpPr/>
          <p:nvPr/>
        </p:nvSpPr>
        <p:spPr>
          <a:xfrm>
            <a:off x="4535424" y="268049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39.4M</a:t>
            </a:r>
            <a:endParaRPr lang="en-US" sz="900" b="1" dirty="0"/>
          </a:p>
        </p:txBody>
      </p:sp>
      <p:sp>
        <p:nvSpPr>
          <p:cNvPr id="76" name="Text 74"/>
          <p:cNvSpPr/>
          <p:nvPr/>
        </p:nvSpPr>
        <p:spPr>
          <a:xfrm>
            <a:off x="5614416" y="268049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</a:t>
            </a:r>
            <a:endParaRPr lang="en-US" sz="900" b="1" dirty="0"/>
          </a:p>
        </p:txBody>
      </p:sp>
      <p:sp>
        <p:nvSpPr>
          <p:cNvPr id="77" name="Text 75"/>
          <p:cNvSpPr/>
          <p:nvPr/>
        </p:nvSpPr>
        <p:spPr>
          <a:xfrm>
            <a:off x="6839712" y="2680496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900" b="1" dirty="0"/>
          </a:p>
        </p:txBody>
      </p:sp>
      <p:sp>
        <p:nvSpPr>
          <p:cNvPr id="78" name="Text 76"/>
          <p:cNvSpPr/>
          <p:nvPr/>
        </p:nvSpPr>
        <p:spPr>
          <a:xfrm>
            <a:off x="7360920" y="2680496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0.7M</a:t>
            </a:r>
            <a:endParaRPr lang="en-US" sz="800" b="1" dirty="0"/>
          </a:p>
        </p:txBody>
      </p:sp>
      <p:sp>
        <p:nvSpPr>
          <p:cNvPr id="79" name="Shape 77"/>
          <p:cNvSpPr/>
          <p:nvPr/>
        </p:nvSpPr>
        <p:spPr>
          <a:xfrm>
            <a:off x="843932" y="2797539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80" name="Text 78"/>
          <p:cNvSpPr/>
          <p:nvPr/>
        </p:nvSpPr>
        <p:spPr>
          <a:xfrm>
            <a:off x="1051560" y="2815827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1-8 Fondo de Contingencia</a:t>
            </a:r>
            <a:endParaRPr lang="en-US" sz="900" b="1" dirty="0"/>
          </a:p>
        </p:txBody>
      </p:sp>
      <p:sp>
        <p:nvSpPr>
          <p:cNvPr id="81" name="Text 79"/>
          <p:cNvSpPr/>
          <p:nvPr/>
        </p:nvSpPr>
        <p:spPr>
          <a:xfrm>
            <a:off x="2377440" y="2815827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39.7M</a:t>
            </a:r>
            <a:endParaRPr lang="en-US" sz="900" b="1" dirty="0"/>
          </a:p>
        </p:txBody>
      </p:sp>
      <p:sp>
        <p:nvSpPr>
          <p:cNvPr id="82" name="Text 80"/>
          <p:cNvSpPr/>
          <p:nvPr/>
        </p:nvSpPr>
        <p:spPr>
          <a:xfrm>
            <a:off x="3456432" y="2815827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b="1" dirty="0"/>
          </a:p>
        </p:txBody>
      </p:sp>
      <p:sp>
        <p:nvSpPr>
          <p:cNvPr id="83" name="Text 81"/>
          <p:cNvSpPr/>
          <p:nvPr/>
        </p:nvSpPr>
        <p:spPr>
          <a:xfrm>
            <a:off x="4535424" y="2815827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39.7M</a:t>
            </a:r>
            <a:endParaRPr lang="en-US" sz="900" b="1" dirty="0"/>
          </a:p>
        </p:txBody>
      </p:sp>
      <p:sp>
        <p:nvSpPr>
          <p:cNvPr id="84" name="Text 82"/>
          <p:cNvSpPr/>
          <p:nvPr/>
        </p:nvSpPr>
        <p:spPr>
          <a:xfrm>
            <a:off x="5614416" y="2815827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00" b="1" dirty="0"/>
          </a:p>
        </p:txBody>
      </p:sp>
      <p:sp>
        <p:nvSpPr>
          <p:cNvPr id="85" name="Text 83"/>
          <p:cNvSpPr/>
          <p:nvPr/>
        </p:nvSpPr>
        <p:spPr>
          <a:xfrm>
            <a:off x="6839712" y="2815827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b="1" dirty="0"/>
          </a:p>
        </p:txBody>
      </p:sp>
      <p:sp>
        <p:nvSpPr>
          <p:cNvPr id="86" name="Text 84"/>
          <p:cNvSpPr/>
          <p:nvPr/>
        </p:nvSpPr>
        <p:spPr>
          <a:xfrm>
            <a:off x="7360920" y="2815827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87" name="Shape 85"/>
          <p:cNvSpPr/>
          <p:nvPr/>
        </p:nvSpPr>
        <p:spPr>
          <a:xfrm>
            <a:off x="843932" y="2932871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88" name="Text 86"/>
          <p:cNvSpPr/>
          <p:nvPr/>
        </p:nvSpPr>
        <p:spPr>
          <a:xfrm>
            <a:off x="1051560" y="2951159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1-9 Inspección Técnica</a:t>
            </a:r>
            <a:endParaRPr lang="en-US" sz="900" b="1" dirty="0"/>
          </a:p>
        </p:txBody>
      </p:sp>
      <p:sp>
        <p:nvSpPr>
          <p:cNvPr id="89" name="Text 87"/>
          <p:cNvSpPr/>
          <p:nvPr/>
        </p:nvSpPr>
        <p:spPr>
          <a:xfrm>
            <a:off x="2377440" y="295115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19.3M</a:t>
            </a:r>
            <a:endParaRPr lang="en-US" sz="900" b="1" dirty="0"/>
          </a:p>
        </p:txBody>
      </p:sp>
      <p:sp>
        <p:nvSpPr>
          <p:cNvPr id="90" name="Text 88"/>
          <p:cNvSpPr/>
          <p:nvPr/>
        </p:nvSpPr>
        <p:spPr>
          <a:xfrm>
            <a:off x="3456432" y="295115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5.1M</a:t>
            </a:r>
            <a:endParaRPr lang="en-US" sz="900" b="1" dirty="0"/>
          </a:p>
        </p:txBody>
      </p:sp>
      <p:sp>
        <p:nvSpPr>
          <p:cNvPr id="91" name="Text 89"/>
          <p:cNvSpPr/>
          <p:nvPr/>
        </p:nvSpPr>
        <p:spPr>
          <a:xfrm>
            <a:off x="4535424" y="295115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14.2M</a:t>
            </a:r>
            <a:endParaRPr lang="en-US" sz="900" b="1" dirty="0"/>
          </a:p>
        </p:txBody>
      </p:sp>
      <p:sp>
        <p:nvSpPr>
          <p:cNvPr id="92" name="Text 90"/>
          <p:cNvSpPr/>
          <p:nvPr/>
        </p:nvSpPr>
        <p:spPr>
          <a:xfrm>
            <a:off x="5614416" y="295115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4.6M</a:t>
            </a:r>
            <a:endParaRPr lang="en-US" sz="900" b="1" dirty="0"/>
          </a:p>
        </p:txBody>
      </p:sp>
      <p:sp>
        <p:nvSpPr>
          <p:cNvPr id="93" name="Text 91"/>
          <p:cNvSpPr/>
          <p:nvPr/>
        </p:nvSpPr>
        <p:spPr>
          <a:xfrm>
            <a:off x="6839712" y="2951159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900" b="1" dirty="0"/>
          </a:p>
        </p:txBody>
      </p:sp>
      <p:sp>
        <p:nvSpPr>
          <p:cNvPr id="94" name="Text 92"/>
          <p:cNvSpPr/>
          <p:nvPr/>
        </p:nvSpPr>
        <p:spPr>
          <a:xfrm>
            <a:off x="7360920" y="2951159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</a:t>
            </a:r>
            <a:endParaRPr lang="en-US" sz="800" b="1" dirty="0"/>
          </a:p>
        </p:txBody>
      </p:sp>
      <p:sp>
        <p:nvSpPr>
          <p:cNvPr id="95" name="Shape 93"/>
          <p:cNvSpPr/>
          <p:nvPr/>
        </p:nvSpPr>
        <p:spPr>
          <a:xfrm>
            <a:off x="843932" y="3068202"/>
            <a:ext cx="7202788" cy="144475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96" name="Text 94"/>
          <p:cNvSpPr/>
          <p:nvPr/>
        </p:nvSpPr>
        <p:spPr>
          <a:xfrm>
            <a:off x="1051560" y="3086490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CONSTRUCCIÓN</a:t>
            </a:r>
            <a:endParaRPr lang="en-US" sz="900" b="1" dirty="0"/>
          </a:p>
        </p:txBody>
      </p:sp>
      <p:sp>
        <p:nvSpPr>
          <p:cNvPr id="97" name="Text 95"/>
          <p:cNvSpPr/>
          <p:nvPr/>
        </p:nvSpPr>
        <p:spPr>
          <a:xfrm>
            <a:off x="2377440" y="308649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2,622.1M</a:t>
            </a:r>
            <a:endParaRPr lang="en-US" sz="900" b="1" dirty="0"/>
          </a:p>
        </p:txBody>
      </p:sp>
      <p:sp>
        <p:nvSpPr>
          <p:cNvPr id="98" name="Text 96"/>
          <p:cNvSpPr/>
          <p:nvPr/>
        </p:nvSpPr>
        <p:spPr>
          <a:xfrm>
            <a:off x="3456432" y="308649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486.3M</a:t>
            </a:r>
            <a:endParaRPr lang="en-US" sz="900" b="1" dirty="0"/>
          </a:p>
        </p:txBody>
      </p:sp>
      <p:sp>
        <p:nvSpPr>
          <p:cNvPr id="99" name="Text 97"/>
          <p:cNvSpPr/>
          <p:nvPr/>
        </p:nvSpPr>
        <p:spPr>
          <a:xfrm>
            <a:off x="4535424" y="308649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2,135.7M</a:t>
            </a:r>
            <a:endParaRPr lang="en-US" sz="900" b="1" dirty="0"/>
          </a:p>
        </p:txBody>
      </p:sp>
      <p:sp>
        <p:nvSpPr>
          <p:cNvPr id="100" name="Text 98"/>
          <p:cNvSpPr/>
          <p:nvPr/>
        </p:nvSpPr>
        <p:spPr>
          <a:xfrm>
            <a:off x="5614416" y="3086490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481.0M</a:t>
            </a:r>
            <a:endParaRPr lang="en-US" sz="900" b="1" dirty="0"/>
          </a:p>
        </p:txBody>
      </p:sp>
      <p:sp>
        <p:nvSpPr>
          <p:cNvPr id="101" name="Text 99"/>
          <p:cNvSpPr/>
          <p:nvPr/>
        </p:nvSpPr>
        <p:spPr>
          <a:xfrm>
            <a:off x="6839712" y="3086490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900" b="1" dirty="0"/>
          </a:p>
        </p:txBody>
      </p:sp>
      <p:sp>
        <p:nvSpPr>
          <p:cNvPr id="102" name="Text 100"/>
          <p:cNvSpPr/>
          <p:nvPr/>
        </p:nvSpPr>
        <p:spPr>
          <a:xfrm>
            <a:off x="7360920" y="3086490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32.3M</a:t>
            </a:r>
            <a:endParaRPr lang="en-US" sz="800" b="1" dirty="0"/>
          </a:p>
        </p:txBody>
      </p:sp>
      <p:sp>
        <p:nvSpPr>
          <p:cNvPr id="103" name="Shape 101"/>
          <p:cNvSpPr/>
          <p:nvPr/>
        </p:nvSpPr>
        <p:spPr>
          <a:xfrm>
            <a:off x="843932" y="3203533"/>
            <a:ext cx="7202788" cy="144475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04" name="Text 102"/>
          <p:cNvSpPr/>
          <p:nvPr/>
        </p:nvSpPr>
        <p:spPr>
          <a:xfrm>
            <a:off x="1051560" y="3221821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◆  GASTOS OPERATIVOS</a:t>
            </a:r>
            <a:endParaRPr lang="en-US" sz="900" b="1" dirty="0"/>
          </a:p>
        </p:txBody>
      </p:sp>
      <p:sp>
        <p:nvSpPr>
          <p:cNvPr id="105" name="Shape 103"/>
          <p:cNvSpPr/>
          <p:nvPr/>
        </p:nvSpPr>
        <p:spPr>
          <a:xfrm>
            <a:off x="843932" y="3338864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06" name="Text 104"/>
          <p:cNvSpPr/>
          <p:nvPr/>
        </p:nvSpPr>
        <p:spPr>
          <a:xfrm>
            <a:off x="1051560" y="3357152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2-2 Gerencia de Ventas</a:t>
            </a:r>
            <a:endParaRPr lang="en-US" sz="900" b="1" dirty="0"/>
          </a:p>
        </p:txBody>
      </p:sp>
      <p:sp>
        <p:nvSpPr>
          <p:cNvPr id="107" name="Text 105"/>
          <p:cNvSpPr/>
          <p:nvPr/>
        </p:nvSpPr>
        <p:spPr>
          <a:xfrm>
            <a:off x="2377440" y="3357152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327.7M</a:t>
            </a:r>
            <a:endParaRPr lang="en-US" sz="900" b="1" dirty="0"/>
          </a:p>
        </p:txBody>
      </p:sp>
      <p:sp>
        <p:nvSpPr>
          <p:cNvPr id="108" name="Text 106"/>
          <p:cNvSpPr/>
          <p:nvPr/>
        </p:nvSpPr>
        <p:spPr>
          <a:xfrm>
            <a:off x="3456432" y="3357152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120.6M</a:t>
            </a:r>
            <a:endParaRPr lang="en-US" sz="900" b="1" dirty="0"/>
          </a:p>
        </p:txBody>
      </p:sp>
      <p:sp>
        <p:nvSpPr>
          <p:cNvPr id="109" name="Text 107"/>
          <p:cNvSpPr/>
          <p:nvPr/>
        </p:nvSpPr>
        <p:spPr>
          <a:xfrm>
            <a:off x="4535424" y="3357152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207.1M</a:t>
            </a:r>
            <a:endParaRPr lang="en-US" sz="900" b="1" dirty="0"/>
          </a:p>
        </p:txBody>
      </p:sp>
      <p:sp>
        <p:nvSpPr>
          <p:cNvPr id="110" name="Text 108"/>
          <p:cNvSpPr/>
          <p:nvPr/>
        </p:nvSpPr>
        <p:spPr>
          <a:xfrm>
            <a:off x="5614416" y="3357152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117.4M</a:t>
            </a:r>
            <a:endParaRPr lang="en-US" sz="900" b="1" dirty="0"/>
          </a:p>
        </p:txBody>
      </p:sp>
      <p:sp>
        <p:nvSpPr>
          <p:cNvPr id="111" name="Text 109"/>
          <p:cNvSpPr/>
          <p:nvPr/>
        </p:nvSpPr>
        <p:spPr>
          <a:xfrm>
            <a:off x="6839712" y="3357152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900" b="1" dirty="0"/>
          </a:p>
        </p:txBody>
      </p:sp>
      <p:sp>
        <p:nvSpPr>
          <p:cNvPr id="112" name="Text 110"/>
          <p:cNvSpPr/>
          <p:nvPr/>
        </p:nvSpPr>
        <p:spPr>
          <a:xfrm>
            <a:off x="7360920" y="3357152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9.5M</a:t>
            </a:r>
            <a:endParaRPr lang="en-US" sz="800" b="1" dirty="0"/>
          </a:p>
        </p:txBody>
      </p:sp>
      <p:sp>
        <p:nvSpPr>
          <p:cNvPr id="113" name="Shape 111"/>
          <p:cNvSpPr/>
          <p:nvPr/>
        </p:nvSpPr>
        <p:spPr>
          <a:xfrm>
            <a:off x="843932" y="3474195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14" name="Text 112"/>
          <p:cNvSpPr/>
          <p:nvPr/>
        </p:nvSpPr>
        <p:spPr>
          <a:xfrm>
            <a:off x="1051560" y="3492483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2-3 Administración Fiduciaria</a:t>
            </a:r>
            <a:endParaRPr lang="en-US" sz="900" b="1" dirty="0"/>
          </a:p>
        </p:txBody>
      </p:sp>
      <p:sp>
        <p:nvSpPr>
          <p:cNvPr id="115" name="Text 113"/>
          <p:cNvSpPr/>
          <p:nvPr/>
        </p:nvSpPr>
        <p:spPr>
          <a:xfrm>
            <a:off x="2377440" y="349248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81.5M</a:t>
            </a:r>
            <a:endParaRPr lang="en-US" sz="900" b="1" dirty="0"/>
          </a:p>
        </p:txBody>
      </p:sp>
      <p:sp>
        <p:nvSpPr>
          <p:cNvPr id="116" name="Text 114"/>
          <p:cNvSpPr/>
          <p:nvPr/>
        </p:nvSpPr>
        <p:spPr>
          <a:xfrm>
            <a:off x="3456432" y="349248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7.0M</a:t>
            </a:r>
            <a:endParaRPr lang="en-US" sz="900" b="1" dirty="0"/>
          </a:p>
        </p:txBody>
      </p:sp>
      <p:sp>
        <p:nvSpPr>
          <p:cNvPr id="117" name="Text 115"/>
          <p:cNvSpPr/>
          <p:nvPr/>
        </p:nvSpPr>
        <p:spPr>
          <a:xfrm>
            <a:off x="4535424" y="349248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74.5M</a:t>
            </a:r>
            <a:endParaRPr lang="en-US" sz="900" b="1" dirty="0"/>
          </a:p>
        </p:txBody>
      </p:sp>
      <p:sp>
        <p:nvSpPr>
          <p:cNvPr id="118" name="Text 116"/>
          <p:cNvSpPr/>
          <p:nvPr/>
        </p:nvSpPr>
        <p:spPr>
          <a:xfrm>
            <a:off x="5614416" y="3492483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7.0M</a:t>
            </a:r>
            <a:endParaRPr lang="en-US" sz="900" b="1" dirty="0"/>
          </a:p>
        </p:txBody>
      </p:sp>
      <p:sp>
        <p:nvSpPr>
          <p:cNvPr id="119" name="Text 117"/>
          <p:cNvSpPr/>
          <p:nvPr/>
        </p:nvSpPr>
        <p:spPr>
          <a:xfrm>
            <a:off x="6839712" y="3492483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00" b="1" dirty="0"/>
          </a:p>
        </p:txBody>
      </p:sp>
      <p:sp>
        <p:nvSpPr>
          <p:cNvPr id="120" name="Text 118"/>
          <p:cNvSpPr/>
          <p:nvPr/>
        </p:nvSpPr>
        <p:spPr>
          <a:xfrm>
            <a:off x="7360920" y="3492483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800" b="1" dirty="0"/>
          </a:p>
        </p:txBody>
      </p:sp>
      <p:sp>
        <p:nvSpPr>
          <p:cNvPr id="121" name="Shape 119"/>
          <p:cNvSpPr/>
          <p:nvPr/>
        </p:nvSpPr>
        <p:spPr>
          <a:xfrm>
            <a:off x="843932" y="3609527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22" name="Text 120"/>
          <p:cNvSpPr/>
          <p:nvPr/>
        </p:nvSpPr>
        <p:spPr>
          <a:xfrm>
            <a:off x="1051560" y="3627815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2-4 Promoción y Publicidad</a:t>
            </a:r>
            <a:endParaRPr lang="en-US" sz="900" b="1" dirty="0"/>
          </a:p>
        </p:txBody>
      </p:sp>
      <p:sp>
        <p:nvSpPr>
          <p:cNvPr id="123" name="Text 121"/>
          <p:cNvSpPr/>
          <p:nvPr/>
        </p:nvSpPr>
        <p:spPr>
          <a:xfrm>
            <a:off x="2377440" y="362781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69.5M</a:t>
            </a:r>
            <a:endParaRPr lang="en-US" sz="900" b="1" dirty="0"/>
          </a:p>
        </p:txBody>
      </p:sp>
      <p:sp>
        <p:nvSpPr>
          <p:cNvPr id="124" name="Text 122"/>
          <p:cNvSpPr/>
          <p:nvPr/>
        </p:nvSpPr>
        <p:spPr>
          <a:xfrm>
            <a:off x="3456432" y="362781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34.3M</a:t>
            </a:r>
            <a:endParaRPr lang="en-US" sz="900" b="1" dirty="0"/>
          </a:p>
        </p:txBody>
      </p:sp>
      <p:sp>
        <p:nvSpPr>
          <p:cNvPr id="125" name="Text 123"/>
          <p:cNvSpPr/>
          <p:nvPr/>
        </p:nvSpPr>
        <p:spPr>
          <a:xfrm>
            <a:off x="4535424" y="362781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35.2M</a:t>
            </a:r>
            <a:endParaRPr lang="en-US" sz="900" b="1" dirty="0"/>
          </a:p>
        </p:txBody>
      </p:sp>
      <p:sp>
        <p:nvSpPr>
          <p:cNvPr id="126" name="Text 124"/>
          <p:cNvSpPr/>
          <p:nvPr/>
        </p:nvSpPr>
        <p:spPr>
          <a:xfrm>
            <a:off x="5614416" y="3627815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33.3M</a:t>
            </a:r>
            <a:endParaRPr lang="en-US" sz="900" b="1" dirty="0"/>
          </a:p>
        </p:txBody>
      </p:sp>
      <p:sp>
        <p:nvSpPr>
          <p:cNvPr id="127" name="Text 125"/>
          <p:cNvSpPr/>
          <p:nvPr/>
        </p:nvSpPr>
        <p:spPr>
          <a:xfrm>
            <a:off x="6839712" y="3627815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49.3%</a:t>
            </a:r>
            <a:endParaRPr lang="en-US" sz="900" b="1" dirty="0"/>
          </a:p>
        </p:txBody>
      </p:sp>
      <p:sp>
        <p:nvSpPr>
          <p:cNvPr id="128" name="Text 126"/>
          <p:cNvSpPr/>
          <p:nvPr/>
        </p:nvSpPr>
        <p:spPr>
          <a:xfrm>
            <a:off x="7360920" y="3627815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800" b="1" dirty="0"/>
          </a:p>
        </p:txBody>
      </p:sp>
      <p:sp>
        <p:nvSpPr>
          <p:cNvPr id="129" name="Shape 127"/>
          <p:cNvSpPr/>
          <p:nvPr/>
        </p:nvSpPr>
        <p:spPr>
          <a:xfrm>
            <a:off x="843932" y="3744858"/>
            <a:ext cx="7202788" cy="144475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30" name="Text 128"/>
          <p:cNvSpPr/>
          <p:nvPr/>
        </p:nvSpPr>
        <p:spPr>
          <a:xfrm>
            <a:off x="1051560" y="3763146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GASTOS OPERATIVOS</a:t>
            </a:r>
            <a:endParaRPr lang="en-US" sz="900" b="1" dirty="0"/>
          </a:p>
        </p:txBody>
      </p:sp>
      <p:sp>
        <p:nvSpPr>
          <p:cNvPr id="131" name="Text 129"/>
          <p:cNvSpPr/>
          <p:nvPr/>
        </p:nvSpPr>
        <p:spPr>
          <a:xfrm>
            <a:off x="2377440" y="376314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686.1M</a:t>
            </a:r>
            <a:endParaRPr lang="en-US" sz="900" b="1" dirty="0"/>
          </a:p>
        </p:txBody>
      </p:sp>
      <p:sp>
        <p:nvSpPr>
          <p:cNvPr id="132" name="Text 130"/>
          <p:cNvSpPr/>
          <p:nvPr/>
        </p:nvSpPr>
        <p:spPr>
          <a:xfrm>
            <a:off x="3456432" y="376314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185.4M</a:t>
            </a:r>
            <a:endParaRPr lang="en-US" sz="900" b="1" dirty="0"/>
          </a:p>
        </p:txBody>
      </p:sp>
      <p:sp>
        <p:nvSpPr>
          <p:cNvPr id="133" name="Text 131"/>
          <p:cNvSpPr/>
          <p:nvPr/>
        </p:nvSpPr>
        <p:spPr>
          <a:xfrm>
            <a:off x="4535424" y="376314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500.7M</a:t>
            </a:r>
            <a:endParaRPr lang="en-US" sz="900" b="1" dirty="0"/>
          </a:p>
        </p:txBody>
      </p:sp>
      <p:sp>
        <p:nvSpPr>
          <p:cNvPr id="134" name="Text 132"/>
          <p:cNvSpPr/>
          <p:nvPr/>
        </p:nvSpPr>
        <p:spPr>
          <a:xfrm>
            <a:off x="5614416" y="3763146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180.0M</a:t>
            </a:r>
            <a:endParaRPr lang="en-US" sz="900" b="1" dirty="0"/>
          </a:p>
        </p:txBody>
      </p:sp>
      <p:sp>
        <p:nvSpPr>
          <p:cNvPr id="135" name="Text 133"/>
          <p:cNvSpPr/>
          <p:nvPr/>
        </p:nvSpPr>
        <p:spPr>
          <a:xfrm>
            <a:off x="6839712" y="3763146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900" b="1" dirty="0"/>
          </a:p>
        </p:txBody>
      </p:sp>
      <p:sp>
        <p:nvSpPr>
          <p:cNvPr id="136" name="Text 134"/>
          <p:cNvSpPr/>
          <p:nvPr/>
        </p:nvSpPr>
        <p:spPr>
          <a:xfrm>
            <a:off x="7360920" y="3763146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14.7M</a:t>
            </a:r>
            <a:endParaRPr lang="en-US" sz="800" b="1" dirty="0"/>
          </a:p>
        </p:txBody>
      </p:sp>
      <p:sp>
        <p:nvSpPr>
          <p:cNvPr id="137" name="Shape 135"/>
          <p:cNvSpPr/>
          <p:nvPr/>
        </p:nvSpPr>
        <p:spPr>
          <a:xfrm>
            <a:off x="843932" y="3880189"/>
            <a:ext cx="7202788" cy="144475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38" name="Text 136"/>
          <p:cNvSpPr/>
          <p:nvPr/>
        </p:nvSpPr>
        <p:spPr>
          <a:xfrm>
            <a:off x="1051560" y="3898477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◆  OTROS GASTOS</a:t>
            </a:r>
            <a:endParaRPr lang="en-US" sz="900" b="1" dirty="0"/>
          </a:p>
        </p:txBody>
      </p:sp>
      <p:sp>
        <p:nvSpPr>
          <p:cNvPr id="139" name="Shape 137"/>
          <p:cNvSpPr/>
          <p:nvPr/>
        </p:nvSpPr>
        <p:spPr>
          <a:xfrm>
            <a:off x="843932" y="4015520"/>
            <a:ext cx="7202788" cy="144475"/>
          </a:xfrm>
          <a:prstGeom prst="rect">
            <a:avLst/>
          </a:prstGeom>
          <a:solidFill>
            <a:srgbClr val="EAF1F8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40" name="Text 138"/>
          <p:cNvSpPr/>
          <p:nvPr/>
        </p:nvSpPr>
        <p:spPr>
          <a:xfrm>
            <a:off x="1051560" y="4033808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3-1 Permisos y Preliminares</a:t>
            </a:r>
            <a:endParaRPr lang="en-US" sz="900" b="1" dirty="0"/>
          </a:p>
        </p:txBody>
      </p:sp>
      <p:sp>
        <p:nvSpPr>
          <p:cNvPr id="141" name="Text 139"/>
          <p:cNvSpPr/>
          <p:nvPr/>
        </p:nvSpPr>
        <p:spPr>
          <a:xfrm>
            <a:off x="2377440" y="403380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30.5M</a:t>
            </a:r>
            <a:endParaRPr lang="en-US" sz="900" b="1" dirty="0"/>
          </a:p>
        </p:txBody>
      </p:sp>
      <p:sp>
        <p:nvSpPr>
          <p:cNvPr id="142" name="Text 140"/>
          <p:cNvSpPr/>
          <p:nvPr/>
        </p:nvSpPr>
        <p:spPr>
          <a:xfrm>
            <a:off x="3456432" y="403380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23.2M</a:t>
            </a:r>
            <a:endParaRPr lang="en-US" sz="900" b="1" dirty="0"/>
          </a:p>
        </p:txBody>
      </p:sp>
      <p:sp>
        <p:nvSpPr>
          <p:cNvPr id="143" name="Text 141"/>
          <p:cNvSpPr/>
          <p:nvPr/>
        </p:nvSpPr>
        <p:spPr>
          <a:xfrm>
            <a:off x="4535424" y="403380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7.3M</a:t>
            </a:r>
            <a:endParaRPr lang="en-US" sz="900" b="1" dirty="0"/>
          </a:p>
        </p:txBody>
      </p:sp>
      <p:sp>
        <p:nvSpPr>
          <p:cNvPr id="144" name="Text 142"/>
          <p:cNvSpPr/>
          <p:nvPr/>
        </p:nvSpPr>
        <p:spPr>
          <a:xfrm>
            <a:off x="5614416" y="403380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24.5M</a:t>
            </a:r>
            <a:endParaRPr lang="en-US" sz="900" b="1" dirty="0"/>
          </a:p>
        </p:txBody>
      </p:sp>
      <p:sp>
        <p:nvSpPr>
          <p:cNvPr id="145" name="Text 143"/>
          <p:cNvSpPr/>
          <p:nvPr/>
        </p:nvSpPr>
        <p:spPr>
          <a:xfrm>
            <a:off x="6839712" y="4033808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900" b="1" dirty="0"/>
          </a:p>
        </p:txBody>
      </p:sp>
      <p:sp>
        <p:nvSpPr>
          <p:cNvPr id="146" name="Text 144"/>
          <p:cNvSpPr/>
          <p:nvPr/>
        </p:nvSpPr>
        <p:spPr>
          <a:xfrm>
            <a:off x="7360920" y="4033808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0.1M</a:t>
            </a:r>
            <a:endParaRPr lang="en-US" sz="800" b="1" dirty="0"/>
          </a:p>
        </p:txBody>
      </p:sp>
      <p:sp>
        <p:nvSpPr>
          <p:cNvPr id="147" name="Shape 145"/>
          <p:cNvSpPr/>
          <p:nvPr/>
        </p:nvSpPr>
        <p:spPr>
          <a:xfrm>
            <a:off x="843932" y="4150851"/>
            <a:ext cx="7202788" cy="144475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48" name="Text 146"/>
          <p:cNvSpPr/>
          <p:nvPr/>
        </p:nvSpPr>
        <p:spPr>
          <a:xfrm>
            <a:off x="1051560" y="4169139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3-3 Gastos Financieros</a:t>
            </a:r>
            <a:endParaRPr lang="en-US" sz="900" b="1" dirty="0"/>
          </a:p>
        </p:txBody>
      </p:sp>
      <p:sp>
        <p:nvSpPr>
          <p:cNvPr id="149" name="Text 147"/>
          <p:cNvSpPr/>
          <p:nvPr/>
        </p:nvSpPr>
        <p:spPr>
          <a:xfrm>
            <a:off x="2377440" y="416913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232.7M</a:t>
            </a:r>
            <a:endParaRPr lang="en-US" sz="900" b="1" dirty="0"/>
          </a:p>
        </p:txBody>
      </p:sp>
      <p:sp>
        <p:nvSpPr>
          <p:cNvPr id="150" name="Text 148"/>
          <p:cNvSpPr/>
          <p:nvPr/>
        </p:nvSpPr>
        <p:spPr>
          <a:xfrm>
            <a:off x="3456432" y="416913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17.4M</a:t>
            </a:r>
            <a:endParaRPr lang="en-US" sz="900" b="1" dirty="0"/>
          </a:p>
        </p:txBody>
      </p:sp>
      <p:sp>
        <p:nvSpPr>
          <p:cNvPr id="151" name="Text 149"/>
          <p:cNvSpPr/>
          <p:nvPr/>
        </p:nvSpPr>
        <p:spPr>
          <a:xfrm>
            <a:off x="4535424" y="416913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215.3M</a:t>
            </a:r>
            <a:endParaRPr lang="en-US" sz="900" b="1" dirty="0"/>
          </a:p>
        </p:txBody>
      </p:sp>
      <p:sp>
        <p:nvSpPr>
          <p:cNvPr id="152" name="Text 150"/>
          <p:cNvSpPr/>
          <p:nvPr/>
        </p:nvSpPr>
        <p:spPr>
          <a:xfrm>
            <a:off x="5614416" y="4169139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17.5M</a:t>
            </a:r>
            <a:endParaRPr lang="en-US" sz="900" b="1" dirty="0"/>
          </a:p>
        </p:txBody>
      </p:sp>
      <p:sp>
        <p:nvSpPr>
          <p:cNvPr id="153" name="Text 151"/>
          <p:cNvSpPr/>
          <p:nvPr/>
        </p:nvSpPr>
        <p:spPr>
          <a:xfrm>
            <a:off x="6839712" y="4169139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b="1" dirty="0"/>
          </a:p>
        </p:txBody>
      </p:sp>
      <p:sp>
        <p:nvSpPr>
          <p:cNvPr id="154" name="Text 152"/>
          <p:cNvSpPr/>
          <p:nvPr/>
        </p:nvSpPr>
        <p:spPr>
          <a:xfrm>
            <a:off x="7360920" y="4169139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800" b="1" dirty="0"/>
          </a:p>
        </p:txBody>
      </p:sp>
      <p:sp>
        <p:nvSpPr>
          <p:cNvPr id="155" name="Shape 153"/>
          <p:cNvSpPr/>
          <p:nvPr/>
        </p:nvSpPr>
        <p:spPr>
          <a:xfrm>
            <a:off x="843932" y="4286183"/>
            <a:ext cx="7202788" cy="144475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56" name="Text 154"/>
          <p:cNvSpPr/>
          <p:nvPr/>
        </p:nvSpPr>
        <p:spPr>
          <a:xfrm>
            <a:off x="1051560" y="4304471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OTROS GASTOS</a:t>
            </a:r>
            <a:endParaRPr lang="en-US" sz="900" b="1" dirty="0"/>
          </a:p>
        </p:txBody>
      </p:sp>
      <p:sp>
        <p:nvSpPr>
          <p:cNvPr id="157" name="Text 155"/>
          <p:cNvSpPr/>
          <p:nvPr/>
        </p:nvSpPr>
        <p:spPr>
          <a:xfrm>
            <a:off x="2377440" y="43044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283.1M</a:t>
            </a:r>
            <a:endParaRPr lang="en-US" sz="900" b="1" dirty="0"/>
          </a:p>
        </p:txBody>
      </p:sp>
      <p:sp>
        <p:nvSpPr>
          <p:cNvPr id="158" name="Text 156"/>
          <p:cNvSpPr/>
          <p:nvPr/>
        </p:nvSpPr>
        <p:spPr>
          <a:xfrm>
            <a:off x="3456432" y="43044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40.6M</a:t>
            </a:r>
            <a:endParaRPr lang="en-US" sz="900" b="1" dirty="0"/>
          </a:p>
        </p:txBody>
      </p:sp>
      <p:sp>
        <p:nvSpPr>
          <p:cNvPr id="159" name="Text 157"/>
          <p:cNvSpPr/>
          <p:nvPr/>
        </p:nvSpPr>
        <p:spPr>
          <a:xfrm>
            <a:off x="4535424" y="43044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242.5M</a:t>
            </a:r>
            <a:endParaRPr lang="en-US" sz="900" b="1" dirty="0"/>
          </a:p>
        </p:txBody>
      </p:sp>
      <p:sp>
        <p:nvSpPr>
          <p:cNvPr id="160" name="Text 158"/>
          <p:cNvSpPr/>
          <p:nvPr/>
        </p:nvSpPr>
        <p:spPr>
          <a:xfrm>
            <a:off x="5614416" y="4304471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42.0M</a:t>
            </a:r>
            <a:endParaRPr lang="en-US" sz="900" b="1" dirty="0"/>
          </a:p>
        </p:txBody>
      </p:sp>
      <p:sp>
        <p:nvSpPr>
          <p:cNvPr id="161" name="Text 159"/>
          <p:cNvSpPr/>
          <p:nvPr/>
        </p:nvSpPr>
        <p:spPr>
          <a:xfrm>
            <a:off x="6839712" y="4304471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900" b="1" dirty="0"/>
          </a:p>
        </p:txBody>
      </p:sp>
      <p:sp>
        <p:nvSpPr>
          <p:cNvPr id="162" name="Text 160"/>
          <p:cNvSpPr/>
          <p:nvPr/>
        </p:nvSpPr>
        <p:spPr>
          <a:xfrm>
            <a:off x="7360920" y="4304471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800" b="1" dirty="0"/>
          </a:p>
        </p:txBody>
      </p:sp>
      <p:sp>
        <p:nvSpPr>
          <p:cNvPr id="163" name="Shape 161"/>
          <p:cNvSpPr/>
          <p:nvPr/>
        </p:nvSpPr>
        <p:spPr>
          <a:xfrm>
            <a:off x="843932" y="4430658"/>
            <a:ext cx="7202788" cy="4572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64" name="Shape 162"/>
          <p:cNvSpPr/>
          <p:nvPr/>
        </p:nvSpPr>
        <p:spPr>
          <a:xfrm>
            <a:off x="843932" y="4458090"/>
            <a:ext cx="7202788" cy="144475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4400" b="1"/>
          </a:p>
        </p:txBody>
      </p:sp>
      <p:sp>
        <p:nvSpPr>
          <p:cNvPr id="165" name="Text 163"/>
          <p:cNvSpPr/>
          <p:nvPr/>
        </p:nvSpPr>
        <p:spPr>
          <a:xfrm>
            <a:off x="1051560" y="4476378"/>
            <a:ext cx="259689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GENERALES</a:t>
            </a:r>
            <a:endParaRPr lang="en-US" sz="1050" b="1" dirty="0"/>
          </a:p>
        </p:txBody>
      </p:sp>
      <p:sp>
        <p:nvSpPr>
          <p:cNvPr id="166" name="Text 164"/>
          <p:cNvSpPr/>
          <p:nvPr/>
        </p:nvSpPr>
        <p:spPr>
          <a:xfrm>
            <a:off x="2377440" y="447637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3,591.3M</a:t>
            </a:r>
            <a:endParaRPr lang="en-US" sz="1050" b="1" dirty="0"/>
          </a:p>
        </p:txBody>
      </p:sp>
      <p:sp>
        <p:nvSpPr>
          <p:cNvPr id="167" name="Text 165"/>
          <p:cNvSpPr/>
          <p:nvPr/>
        </p:nvSpPr>
        <p:spPr>
          <a:xfrm>
            <a:off x="3456432" y="447637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712.3M</a:t>
            </a:r>
            <a:endParaRPr lang="en-US" sz="1050" b="1" dirty="0"/>
          </a:p>
        </p:txBody>
      </p:sp>
      <p:sp>
        <p:nvSpPr>
          <p:cNvPr id="168" name="Text 166"/>
          <p:cNvSpPr/>
          <p:nvPr/>
        </p:nvSpPr>
        <p:spPr>
          <a:xfrm>
            <a:off x="4535424" y="447637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2,878.0M</a:t>
            </a:r>
            <a:endParaRPr lang="en-US" sz="1050" b="1" dirty="0"/>
          </a:p>
        </p:txBody>
      </p:sp>
      <p:sp>
        <p:nvSpPr>
          <p:cNvPr id="169" name="Text 167"/>
          <p:cNvSpPr/>
          <p:nvPr/>
        </p:nvSpPr>
        <p:spPr>
          <a:xfrm>
            <a:off x="5614416" y="4476378"/>
            <a:ext cx="106070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703.0M</a:t>
            </a:r>
            <a:endParaRPr lang="en-US" sz="1050" b="1" dirty="0"/>
          </a:p>
        </p:txBody>
      </p:sp>
      <p:sp>
        <p:nvSpPr>
          <p:cNvPr id="170" name="Text 168"/>
          <p:cNvSpPr/>
          <p:nvPr/>
        </p:nvSpPr>
        <p:spPr>
          <a:xfrm>
            <a:off x="6839712" y="4476378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050" b="1" dirty="0"/>
          </a:p>
        </p:txBody>
      </p:sp>
      <p:sp>
        <p:nvSpPr>
          <p:cNvPr id="171" name="Text 169"/>
          <p:cNvSpPr/>
          <p:nvPr/>
        </p:nvSpPr>
        <p:spPr>
          <a:xfrm>
            <a:off x="7360920" y="4476378"/>
            <a:ext cx="502920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49.0M</a:t>
            </a:r>
            <a:endParaRPr lang="en-US" sz="1000" b="1" dirty="0"/>
          </a:p>
        </p:txBody>
      </p:sp>
      <p:sp>
        <p:nvSpPr>
          <p:cNvPr id="172" name="Shape 170"/>
          <p:cNvSpPr/>
          <p:nvPr/>
        </p:nvSpPr>
        <p:spPr>
          <a:xfrm>
            <a:off x="911190" y="4437973"/>
            <a:ext cx="7049537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73" name="Text 171"/>
          <p:cNvSpPr/>
          <p:nvPr/>
        </p:nvSpPr>
        <p:spPr>
          <a:xfrm>
            <a:off x="292608" y="49789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Junio 2026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BALANCE GENERAL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5505"/>
            <a:ext cx="411480" cy="4572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575233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6" name="Text 4"/>
          <p:cNvSpPr/>
          <p:nvPr/>
        </p:nvSpPr>
        <p:spPr>
          <a:xfrm>
            <a:off x="475488" y="666673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ACTIVOS</a:t>
            </a:r>
            <a:endParaRPr lang="en-US" sz="900" b="1" dirty="0"/>
          </a:p>
        </p:txBody>
      </p:sp>
      <p:sp>
        <p:nvSpPr>
          <p:cNvPr id="7" name="Text 5"/>
          <p:cNvSpPr/>
          <p:nvPr/>
        </p:nvSpPr>
        <p:spPr>
          <a:xfrm>
            <a:off x="457200" y="822121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RD$759.7M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475488" y="1279321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12.8M</a:t>
            </a:r>
            <a:endParaRPr lang="en-US" sz="900" b="1" dirty="0"/>
          </a:p>
        </p:txBody>
      </p:sp>
      <p:sp>
        <p:nvSpPr>
          <p:cNvPr id="9" name="Shape 7"/>
          <p:cNvSpPr/>
          <p:nvPr/>
        </p:nvSpPr>
        <p:spPr>
          <a:xfrm>
            <a:off x="2450592" y="575233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 dirty="0"/>
          </a:p>
        </p:txBody>
      </p:sp>
      <p:sp>
        <p:nvSpPr>
          <p:cNvPr id="10" name="Text 8"/>
          <p:cNvSpPr/>
          <p:nvPr/>
        </p:nvSpPr>
        <p:spPr>
          <a:xfrm>
            <a:off x="2560320" y="666673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PASIVOS</a:t>
            </a:r>
            <a:endParaRPr lang="en-US" sz="900" b="1" dirty="0"/>
          </a:p>
        </p:txBody>
      </p:sp>
      <p:sp>
        <p:nvSpPr>
          <p:cNvPr id="11" name="Text 9"/>
          <p:cNvSpPr/>
          <p:nvPr/>
        </p:nvSpPr>
        <p:spPr>
          <a:xfrm>
            <a:off x="2542032" y="822121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RD$446.2M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2560320" y="1279321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 de activos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4535424" y="575233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A2E1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14" name="Text 12"/>
          <p:cNvSpPr/>
          <p:nvPr/>
        </p:nvSpPr>
        <p:spPr>
          <a:xfrm>
            <a:off x="4645152" y="666673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</a:t>
            </a:r>
            <a:endParaRPr lang="en-US" sz="900" b="1" dirty="0"/>
          </a:p>
        </p:txBody>
      </p:sp>
      <p:sp>
        <p:nvSpPr>
          <p:cNvPr id="15" name="Text 13"/>
          <p:cNvSpPr/>
          <p:nvPr/>
        </p:nvSpPr>
        <p:spPr>
          <a:xfrm>
            <a:off x="4626864" y="822121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RD$313.5M</a:t>
            </a:r>
            <a:endParaRPr lang="en-US" sz="2400" b="1" dirty="0"/>
          </a:p>
        </p:txBody>
      </p:sp>
      <p:sp>
        <p:nvSpPr>
          <p:cNvPr id="16" name="Text 14"/>
          <p:cNvSpPr/>
          <p:nvPr/>
        </p:nvSpPr>
        <p:spPr>
          <a:xfrm>
            <a:off x="4645152" y="1279321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netos</a:t>
            </a:r>
            <a:endParaRPr lang="en-US" sz="900" b="1" dirty="0"/>
          </a:p>
        </p:txBody>
      </p:sp>
      <p:sp>
        <p:nvSpPr>
          <p:cNvPr id="17" name="Shape 15"/>
          <p:cNvSpPr/>
          <p:nvPr/>
        </p:nvSpPr>
        <p:spPr>
          <a:xfrm>
            <a:off x="6620256" y="575233"/>
            <a:ext cx="1993392" cy="914400"/>
          </a:xfrm>
          <a:prstGeom prst="rect">
            <a:avLst/>
          </a:prstGeom>
          <a:solidFill>
            <a:srgbClr val="122348"/>
          </a:solidFill>
          <a:ln w="12700">
            <a:solidFill>
              <a:srgbClr val="12234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b="1"/>
          </a:p>
        </p:txBody>
      </p:sp>
      <p:sp>
        <p:nvSpPr>
          <p:cNvPr id="18" name="Text 16"/>
          <p:cNvSpPr/>
          <p:nvPr/>
        </p:nvSpPr>
        <p:spPr>
          <a:xfrm>
            <a:off x="6729984" y="666673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BANCARIA</a:t>
            </a:r>
            <a:endParaRPr lang="en-US" sz="900" b="1" dirty="0"/>
          </a:p>
        </p:txBody>
      </p:sp>
      <p:sp>
        <p:nvSpPr>
          <p:cNvPr id="19" name="Text 17"/>
          <p:cNvSpPr/>
          <p:nvPr/>
        </p:nvSpPr>
        <p:spPr>
          <a:xfrm>
            <a:off x="6711696" y="822121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RD$48.2M</a:t>
            </a:r>
            <a:endParaRPr lang="en-US" sz="2400" b="1" dirty="0"/>
          </a:p>
        </p:txBody>
      </p:sp>
      <p:sp>
        <p:nvSpPr>
          <p:cNvPr id="20" name="Text 18"/>
          <p:cNvSpPr/>
          <p:nvPr/>
        </p:nvSpPr>
        <p:spPr>
          <a:xfrm>
            <a:off x="6729984" y="1279321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0.8M · Disponible</a:t>
            </a:r>
            <a:endParaRPr lang="en-US" sz="900" b="1" dirty="0"/>
          </a:p>
        </p:txBody>
      </p:sp>
      <p:sp>
        <p:nvSpPr>
          <p:cNvPr id="21" name="Shape 19"/>
          <p:cNvSpPr/>
          <p:nvPr/>
        </p:nvSpPr>
        <p:spPr>
          <a:xfrm>
            <a:off x="365760" y="2048256"/>
            <a:ext cx="3931920" cy="237744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2" name="Text 20"/>
          <p:cNvSpPr/>
          <p:nvPr/>
        </p:nvSpPr>
        <p:spPr>
          <a:xfrm>
            <a:off x="45720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900" b="1" dirty="0"/>
          </a:p>
        </p:txBody>
      </p:sp>
      <p:sp>
        <p:nvSpPr>
          <p:cNvPr id="23" name="Text 21"/>
          <p:cNvSpPr/>
          <p:nvPr/>
        </p:nvSpPr>
        <p:spPr>
          <a:xfrm>
            <a:off x="3108960" y="2075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900" b="1" dirty="0"/>
          </a:p>
        </p:txBody>
      </p:sp>
      <p:sp>
        <p:nvSpPr>
          <p:cNvPr id="24" name="Shape 22"/>
          <p:cNvSpPr/>
          <p:nvPr/>
        </p:nvSpPr>
        <p:spPr>
          <a:xfrm>
            <a:off x="365760" y="2304288"/>
            <a:ext cx="3931920" cy="146304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5" name="Text 23"/>
          <p:cNvSpPr/>
          <p:nvPr/>
        </p:nvSpPr>
        <p:spPr>
          <a:xfrm>
            <a:off x="438912" y="2313432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Alaver (Ahorro DOP)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2907792" y="231343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20,485,843</a:t>
            </a:r>
            <a:endParaRPr lang="en-US" sz="900" b="1" dirty="0"/>
          </a:p>
        </p:txBody>
      </p:sp>
      <p:sp>
        <p:nvSpPr>
          <p:cNvPr id="27" name="Shape 25"/>
          <p:cNvSpPr/>
          <p:nvPr/>
        </p:nvSpPr>
        <p:spPr>
          <a:xfrm>
            <a:off x="365760" y="2468880"/>
            <a:ext cx="3931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28" name="Text 26"/>
          <p:cNvSpPr/>
          <p:nvPr/>
        </p:nvSpPr>
        <p:spPr>
          <a:xfrm>
            <a:off x="438912" y="2478024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Banesco DOP (Cta. Corriente)</a:t>
            </a:r>
            <a:endParaRPr lang="en-US" sz="900" b="1" dirty="0"/>
          </a:p>
        </p:txBody>
      </p:sp>
      <p:sp>
        <p:nvSpPr>
          <p:cNvPr id="29" name="Text 27"/>
          <p:cNvSpPr/>
          <p:nvPr/>
        </p:nvSpPr>
        <p:spPr>
          <a:xfrm>
            <a:off x="2907792" y="247802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16,604,331</a:t>
            </a:r>
            <a:endParaRPr lang="en-US" sz="900" b="1" dirty="0"/>
          </a:p>
        </p:txBody>
      </p:sp>
      <p:sp>
        <p:nvSpPr>
          <p:cNvPr id="30" name="Shape 28"/>
          <p:cNvSpPr/>
          <p:nvPr/>
        </p:nvSpPr>
        <p:spPr>
          <a:xfrm>
            <a:off x="365760" y="2633472"/>
            <a:ext cx="3931920" cy="146304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1" name="Text 29"/>
          <p:cNvSpPr/>
          <p:nvPr/>
        </p:nvSpPr>
        <p:spPr>
          <a:xfrm>
            <a:off x="438912" y="264261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Banesco USA → DOP</a:t>
            </a:r>
            <a:endParaRPr lang="en-US" sz="900" b="1" dirty="0"/>
          </a:p>
        </p:txBody>
      </p:sp>
      <p:sp>
        <p:nvSpPr>
          <p:cNvPr id="32" name="Text 30"/>
          <p:cNvSpPr/>
          <p:nvPr/>
        </p:nvSpPr>
        <p:spPr>
          <a:xfrm>
            <a:off x="2907792" y="264261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2,615,906</a:t>
            </a:r>
            <a:endParaRPr lang="en-US" sz="900" b="1" dirty="0"/>
          </a:p>
        </p:txBody>
      </p:sp>
      <p:sp>
        <p:nvSpPr>
          <p:cNvPr id="33" name="Shape 31"/>
          <p:cNvSpPr/>
          <p:nvPr/>
        </p:nvSpPr>
        <p:spPr>
          <a:xfrm>
            <a:off x="365760" y="2798064"/>
            <a:ext cx="3931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4" name="Text 32"/>
          <p:cNvSpPr/>
          <p:nvPr/>
        </p:nvSpPr>
        <p:spPr>
          <a:xfrm>
            <a:off x="438912" y="2807208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Banesco USD (Ahorro → DOP)</a:t>
            </a:r>
            <a:endParaRPr lang="en-US" sz="900" b="1" dirty="0"/>
          </a:p>
        </p:txBody>
      </p:sp>
      <p:sp>
        <p:nvSpPr>
          <p:cNvPr id="35" name="Text 33"/>
          <p:cNvSpPr/>
          <p:nvPr/>
        </p:nvSpPr>
        <p:spPr>
          <a:xfrm>
            <a:off x="2907792" y="2807208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5,003,923</a:t>
            </a:r>
            <a:endParaRPr lang="en-US" sz="900" b="1" dirty="0"/>
          </a:p>
        </p:txBody>
      </p:sp>
      <p:sp>
        <p:nvSpPr>
          <p:cNvPr id="36" name="Shape 34"/>
          <p:cNvSpPr/>
          <p:nvPr/>
        </p:nvSpPr>
        <p:spPr>
          <a:xfrm>
            <a:off x="365760" y="2962656"/>
            <a:ext cx="3931920" cy="146304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37" name="Text 35"/>
          <p:cNvSpPr/>
          <p:nvPr/>
        </p:nvSpPr>
        <p:spPr>
          <a:xfrm>
            <a:off x="438912" y="2971800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de Inversión</a:t>
            </a:r>
            <a:endParaRPr lang="en-US" sz="900" b="1" dirty="0"/>
          </a:p>
        </p:txBody>
      </p:sp>
      <p:sp>
        <p:nvSpPr>
          <p:cNvPr id="38" name="Text 36"/>
          <p:cNvSpPr/>
          <p:nvPr/>
        </p:nvSpPr>
        <p:spPr>
          <a:xfrm>
            <a:off x="2907792" y="2971800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277,216</a:t>
            </a:r>
            <a:endParaRPr lang="en-US" sz="900" b="1" dirty="0"/>
          </a:p>
        </p:txBody>
      </p:sp>
      <p:sp>
        <p:nvSpPr>
          <p:cNvPr id="39" name="Shape 37"/>
          <p:cNvSpPr/>
          <p:nvPr/>
        </p:nvSpPr>
        <p:spPr>
          <a:xfrm>
            <a:off x="365760" y="3127248"/>
            <a:ext cx="3931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40" name="Text 38"/>
          <p:cNvSpPr/>
          <p:nvPr/>
        </p:nvSpPr>
        <p:spPr>
          <a:xfrm>
            <a:off x="438912" y="3136392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(Ahorro + Cte.)</a:t>
            </a:r>
            <a:endParaRPr lang="en-US" sz="900" b="1" dirty="0"/>
          </a:p>
        </p:txBody>
      </p:sp>
      <p:sp>
        <p:nvSpPr>
          <p:cNvPr id="41" name="Text 39"/>
          <p:cNvSpPr/>
          <p:nvPr/>
        </p:nvSpPr>
        <p:spPr>
          <a:xfrm>
            <a:off x="2907792" y="313639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3,247,069</a:t>
            </a:r>
            <a:endParaRPr lang="en-US" sz="900" b="1" dirty="0"/>
          </a:p>
        </p:txBody>
      </p:sp>
      <p:sp>
        <p:nvSpPr>
          <p:cNvPr id="42" name="Shape 40"/>
          <p:cNvSpPr/>
          <p:nvPr/>
        </p:nvSpPr>
        <p:spPr>
          <a:xfrm>
            <a:off x="365760" y="3291840"/>
            <a:ext cx="3931920" cy="146304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43" name="Text 41"/>
          <p:cNvSpPr/>
          <p:nvPr/>
        </p:nvSpPr>
        <p:spPr>
          <a:xfrm>
            <a:off x="438912" y="3300984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CAJA Y BANCOS</a:t>
            </a:r>
            <a:endParaRPr lang="en-US" sz="900" b="1" dirty="0"/>
          </a:p>
        </p:txBody>
      </p:sp>
      <p:sp>
        <p:nvSpPr>
          <p:cNvPr id="44" name="Text 42"/>
          <p:cNvSpPr/>
          <p:nvPr/>
        </p:nvSpPr>
        <p:spPr>
          <a:xfrm>
            <a:off x="2907792" y="330098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48,234,289</a:t>
            </a:r>
            <a:endParaRPr lang="en-US" sz="900" b="1" dirty="0"/>
          </a:p>
        </p:txBody>
      </p:sp>
      <p:sp>
        <p:nvSpPr>
          <p:cNvPr id="45" name="Shape 43"/>
          <p:cNvSpPr/>
          <p:nvPr/>
        </p:nvSpPr>
        <p:spPr>
          <a:xfrm>
            <a:off x="365760" y="3456432"/>
            <a:ext cx="3931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46" name="Text 44"/>
          <p:cNvSpPr/>
          <p:nvPr/>
        </p:nvSpPr>
        <p:spPr>
          <a:xfrm>
            <a:off x="438912" y="346557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Anticipos Proveedores</a:t>
            </a:r>
            <a:endParaRPr lang="en-US" sz="900" b="1" dirty="0"/>
          </a:p>
        </p:txBody>
      </p:sp>
      <p:sp>
        <p:nvSpPr>
          <p:cNvPr id="47" name="Text 45"/>
          <p:cNvSpPr/>
          <p:nvPr/>
        </p:nvSpPr>
        <p:spPr>
          <a:xfrm>
            <a:off x="2907792" y="346557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9,210,449</a:t>
            </a:r>
            <a:endParaRPr lang="en-US" sz="900" b="1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31920" cy="146304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49" name="Text 47"/>
          <p:cNvSpPr/>
          <p:nvPr/>
        </p:nvSpPr>
        <p:spPr>
          <a:xfrm>
            <a:off x="438912" y="3630168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Construcción</a:t>
            </a:r>
            <a:endParaRPr lang="en-US" sz="900" b="1" dirty="0"/>
          </a:p>
        </p:txBody>
      </p:sp>
      <p:sp>
        <p:nvSpPr>
          <p:cNvPr id="50" name="Text 48"/>
          <p:cNvSpPr/>
          <p:nvPr/>
        </p:nvSpPr>
        <p:spPr>
          <a:xfrm>
            <a:off x="2907792" y="3630168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483,466,061</a:t>
            </a:r>
            <a:endParaRPr lang="en-US" sz="900" b="1" dirty="0"/>
          </a:p>
        </p:txBody>
      </p:sp>
      <p:sp>
        <p:nvSpPr>
          <p:cNvPr id="51" name="Shape 49"/>
          <p:cNvSpPr/>
          <p:nvPr/>
        </p:nvSpPr>
        <p:spPr>
          <a:xfrm>
            <a:off x="365760" y="3785616"/>
            <a:ext cx="3931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52" name="Text 50"/>
          <p:cNvSpPr/>
          <p:nvPr/>
        </p:nvSpPr>
        <p:spPr>
          <a:xfrm>
            <a:off x="438912" y="3794760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</a:t>
            </a:r>
            <a:endParaRPr lang="en-US" sz="900" b="1" dirty="0"/>
          </a:p>
        </p:txBody>
      </p:sp>
      <p:sp>
        <p:nvSpPr>
          <p:cNvPr id="53" name="Text 51"/>
          <p:cNvSpPr/>
          <p:nvPr/>
        </p:nvSpPr>
        <p:spPr>
          <a:xfrm>
            <a:off x="2907792" y="3794760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178,249,024</a:t>
            </a:r>
            <a:endParaRPr lang="en-US" sz="900" b="1" dirty="0"/>
          </a:p>
        </p:txBody>
      </p:sp>
      <p:sp>
        <p:nvSpPr>
          <p:cNvPr id="54" name="Shape 52"/>
          <p:cNvSpPr/>
          <p:nvPr/>
        </p:nvSpPr>
        <p:spPr>
          <a:xfrm>
            <a:off x="365760" y="3950208"/>
            <a:ext cx="3931920" cy="146304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55" name="Text 53"/>
          <p:cNvSpPr/>
          <p:nvPr/>
        </p:nvSpPr>
        <p:spPr>
          <a:xfrm>
            <a:off x="438912" y="3959352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Costos</a:t>
            </a:r>
            <a:endParaRPr lang="en-US" sz="900" b="1" dirty="0"/>
          </a:p>
        </p:txBody>
      </p:sp>
      <p:sp>
        <p:nvSpPr>
          <p:cNvPr id="56" name="Text 54"/>
          <p:cNvSpPr/>
          <p:nvPr/>
        </p:nvSpPr>
        <p:spPr>
          <a:xfrm>
            <a:off x="2907792" y="395935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40,554,300</a:t>
            </a:r>
            <a:endParaRPr lang="en-US" sz="900" b="1" dirty="0"/>
          </a:p>
        </p:txBody>
      </p:sp>
      <p:sp>
        <p:nvSpPr>
          <p:cNvPr id="57" name="Shape 55"/>
          <p:cNvSpPr/>
          <p:nvPr/>
        </p:nvSpPr>
        <p:spPr>
          <a:xfrm>
            <a:off x="365760" y="4114800"/>
            <a:ext cx="3931920" cy="146304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58" name="Text 56"/>
          <p:cNvSpPr/>
          <p:nvPr/>
        </p:nvSpPr>
        <p:spPr>
          <a:xfrm>
            <a:off x="438912" y="4123944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ACTIVOS</a:t>
            </a:r>
            <a:endParaRPr lang="en-US" sz="900" b="1" dirty="0"/>
          </a:p>
        </p:txBody>
      </p:sp>
      <p:sp>
        <p:nvSpPr>
          <p:cNvPr id="59" name="Text 57"/>
          <p:cNvSpPr/>
          <p:nvPr/>
        </p:nvSpPr>
        <p:spPr>
          <a:xfrm>
            <a:off x="2907792" y="412394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759,714,675</a:t>
            </a:r>
            <a:endParaRPr lang="en-US" sz="900" b="1" dirty="0"/>
          </a:p>
        </p:txBody>
      </p:sp>
      <p:sp>
        <p:nvSpPr>
          <p:cNvPr id="60" name="Shape 58"/>
          <p:cNvSpPr/>
          <p:nvPr/>
        </p:nvSpPr>
        <p:spPr>
          <a:xfrm>
            <a:off x="4608576" y="2048256"/>
            <a:ext cx="3931920" cy="237744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61" name="Text 59"/>
          <p:cNvSpPr/>
          <p:nvPr/>
        </p:nvSpPr>
        <p:spPr>
          <a:xfrm>
            <a:off x="4700016" y="2075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PASIVOS Y PATRIMONIO</a:t>
            </a:r>
            <a:endParaRPr lang="en-US" sz="900" b="1" dirty="0"/>
          </a:p>
        </p:txBody>
      </p:sp>
      <p:sp>
        <p:nvSpPr>
          <p:cNvPr id="62" name="Text 60"/>
          <p:cNvSpPr/>
          <p:nvPr/>
        </p:nvSpPr>
        <p:spPr>
          <a:xfrm>
            <a:off x="7296912" y="2075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900" b="1" dirty="0"/>
          </a:p>
        </p:txBody>
      </p:sp>
      <p:sp>
        <p:nvSpPr>
          <p:cNvPr id="63" name="Shape 61"/>
          <p:cNvSpPr/>
          <p:nvPr/>
        </p:nvSpPr>
        <p:spPr>
          <a:xfrm>
            <a:off x="4608576" y="2304288"/>
            <a:ext cx="3931920" cy="164592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64" name="Text 62"/>
          <p:cNvSpPr/>
          <p:nvPr/>
        </p:nvSpPr>
        <p:spPr>
          <a:xfrm>
            <a:off x="4681728" y="232257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Inst. Financieras</a:t>
            </a:r>
            <a:endParaRPr lang="en-US" sz="900" b="1" dirty="0"/>
          </a:p>
        </p:txBody>
      </p:sp>
      <p:sp>
        <p:nvSpPr>
          <p:cNvPr id="65" name="Text 63"/>
          <p:cNvSpPr/>
          <p:nvPr/>
        </p:nvSpPr>
        <p:spPr>
          <a:xfrm>
            <a:off x="7150608" y="232257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200,000,000</a:t>
            </a:r>
            <a:endParaRPr lang="en-US" sz="900" b="1" dirty="0"/>
          </a:p>
        </p:txBody>
      </p:sp>
      <p:sp>
        <p:nvSpPr>
          <p:cNvPr id="66" name="Shape 64"/>
          <p:cNvSpPr/>
          <p:nvPr/>
        </p:nvSpPr>
        <p:spPr>
          <a:xfrm>
            <a:off x="4608576" y="2487168"/>
            <a:ext cx="39319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67" name="Text 65"/>
          <p:cNvSpPr/>
          <p:nvPr/>
        </p:nvSpPr>
        <p:spPr>
          <a:xfrm>
            <a:off x="4681728" y="250545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por Pagar Comerc.</a:t>
            </a:r>
            <a:endParaRPr lang="en-US" sz="900" b="1" dirty="0"/>
          </a:p>
        </p:txBody>
      </p:sp>
      <p:sp>
        <p:nvSpPr>
          <p:cNvPr id="68" name="Text 66"/>
          <p:cNvSpPr/>
          <p:nvPr/>
        </p:nvSpPr>
        <p:spPr>
          <a:xfrm>
            <a:off x="7150608" y="250545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18,612,246</a:t>
            </a:r>
            <a:endParaRPr lang="en-US" sz="900" b="1" dirty="0"/>
          </a:p>
        </p:txBody>
      </p:sp>
      <p:sp>
        <p:nvSpPr>
          <p:cNvPr id="69" name="Shape 67"/>
          <p:cNvSpPr/>
          <p:nvPr/>
        </p:nvSpPr>
        <p:spPr>
          <a:xfrm>
            <a:off x="4608576" y="2670048"/>
            <a:ext cx="3931920" cy="164592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70" name="Text 68"/>
          <p:cNvSpPr/>
          <p:nvPr/>
        </p:nvSpPr>
        <p:spPr>
          <a:xfrm>
            <a:off x="4681728" y="268833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Diferidos Clientes</a:t>
            </a:r>
            <a:endParaRPr lang="en-US" sz="900" b="1" dirty="0"/>
          </a:p>
        </p:txBody>
      </p:sp>
      <p:sp>
        <p:nvSpPr>
          <p:cNvPr id="71" name="Text 69"/>
          <p:cNvSpPr/>
          <p:nvPr/>
        </p:nvSpPr>
        <p:spPr>
          <a:xfrm>
            <a:off x="7150608" y="268833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220,997,696</a:t>
            </a:r>
            <a:endParaRPr lang="en-US" sz="900" b="1" dirty="0"/>
          </a:p>
        </p:txBody>
      </p:sp>
      <p:sp>
        <p:nvSpPr>
          <p:cNvPr id="72" name="Shape 70"/>
          <p:cNvSpPr/>
          <p:nvPr/>
        </p:nvSpPr>
        <p:spPr>
          <a:xfrm>
            <a:off x="4608576" y="2852928"/>
            <a:ext cx="39319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73" name="Text 71"/>
          <p:cNvSpPr/>
          <p:nvPr/>
        </p:nvSpPr>
        <p:spPr>
          <a:xfrm>
            <a:off x="4681728" y="287121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y Otras CxP</a:t>
            </a:r>
            <a:endParaRPr lang="en-US" sz="900" b="1" dirty="0"/>
          </a:p>
        </p:txBody>
      </p:sp>
      <p:sp>
        <p:nvSpPr>
          <p:cNvPr id="74" name="Text 72"/>
          <p:cNvSpPr/>
          <p:nvPr/>
        </p:nvSpPr>
        <p:spPr>
          <a:xfrm>
            <a:off x="7150608" y="287121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3,983,225</a:t>
            </a:r>
            <a:endParaRPr lang="en-US" sz="900" b="1" dirty="0"/>
          </a:p>
        </p:txBody>
      </p:sp>
      <p:sp>
        <p:nvSpPr>
          <p:cNvPr id="75" name="Shape 73"/>
          <p:cNvSpPr/>
          <p:nvPr/>
        </p:nvSpPr>
        <p:spPr>
          <a:xfrm>
            <a:off x="4608576" y="3035808"/>
            <a:ext cx="3931920" cy="164592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76" name="Text 74"/>
          <p:cNvSpPr/>
          <p:nvPr/>
        </p:nvSpPr>
        <p:spPr>
          <a:xfrm>
            <a:off x="4681728" y="305409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CxP No Corriente</a:t>
            </a:r>
            <a:endParaRPr lang="en-US" sz="900" b="1" dirty="0"/>
          </a:p>
        </p:txBody>
      </p:sp>
      <p:sp>
        <p:nvSpPr>
          <p:cNvPr id="77" name="Text 75"/>
          <p:cNvSpPr/>
          <p:nvPr/>
        </p:nvSpPr>
        <p:spPr>
          <a:xfrm>
            <a:off x="7150608" y="305409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431,409</a:t>
            </a:r>
            <a:endParaRPr lang="en-US" sz="900" b="1" dirty="0"/>
          </a:p>
        </p:txBody>
      </p:sp>
      <p:sp>
        <p:nvSpPr>
          <p:cNvPr id="78" name="Shape 76"/>
          <p:cNvSpPr/>
          <p:nvPr/>
        </p:nvSpPr>
        <p:spPr>
          <a:xfrm>
            <a:off x="4608576" y="3218688"/>
            <a:ext cx="3931920" cy="164592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79" name="Text 77"/>
          <p:cNvSpPr/>
          <p:nvPr/>
        </p:nvSpPr>
        <p:spPr>
          <a:xfrm>
            <a:off x="4681728" y="323697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PASIVOS</a:t>
            </a:r>
            <a:endParaRPr lang="en-US" sz="900" b="1" dirty="0"/>
          </a:p>
        </p:txBody>
      </p:sp>
      <p:sp>
        <p:nvSpPr>
          <p:cNvPr id="80" name="Text 78"/>
          <p:cNvSpPr/>
          <p:nvPr/>
        </p:nvSpPr>
        <p:spPr>
          <a:xfrm>
            <a:off x="7150608" y="323697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446,209,905</a:t>
            </a:r>
            <a:endParaRPr lang="en-US" sz="900" b="1" dirty="0"/>
          </a:p>
        </p:txBody>
      </p:sp>
      <p:sp>
        <p:nvSpPr>
          <p:cNvPr id="81" name="Shape 79"/>
          <p:cNvSpPr/>
          <p:nvPr/>
        </p:nvSpPr>
        <p:spPr>
          <a:xfrm>
            <a:off x="4608576" y="3401568"/>
            <a:ext cx="3931920" cy="164592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82" name="Text 80"/>
          <p:cNvSpPr/>
          <p:nvPr/>
        </p:nvSpPr>
        <p:spPr>
          <a:xfrm>
            <a:off x="4681728" y="341985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Fideicomitentes AFI</a:t>
            </a:r>
            <a:endParaRPr lang="en-US" sz="900" b="1" dirty="0"/>
          </a:p>
        </p:txBody>
      </p:sp>
      <p:sp>
        <p:nvSpPr>
          <p:cNvPr id="83" name="Text 81"/>
          <p:cNvSpPr/>
          <p:nvPr/>
        </p:nvSpPr>
        <p:spPr>
          <a:xfrm>
            <a:off x="7150608" y="341985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322,917,734</a:t>
            </a:r>
            <a:endParaRPr lang="en-US" sz="900" b="1" dirty="0"/>
          </a:p>
        </p:txBody>
      </p:sp>
      <p:sp>
        <p:nvSpPr>
          <p:cNvPr id="84" name="Shape 82"/>
          <p:cNvSpPr/>
          <p:nvPr/>
        </p:nvSpPr>
        <p:spPr>
          <a:xfrm>
            <a:off x="4608576" y="3584448"/>
            <a:ext cx="39319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85" name="Text 83"/>
          <p:cNvSpPr/>
          <p:nvPr/>
        </p:nvSpPr>
        <p:spPr>
          <a:xfrm>
            <a:off x="4681728" y="360273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Ejercicio</a:t>
            </a:r>
            <a:endParaRPr lang="en-US" sz="900" b="1" dirty="0"/>
          </a:p>
        </p:txBody>
      </p:sp>
      <p:sp>
        <p:nvSpPr>
          <p:cNvPr id="86" name="Text 84"/>
          <p:cNvSpPr/>
          <p:nvPr/>
        </p:nvSpPr>
        <p:spPr>
          <a:xfrm>
            <a:off x="7150608" y="360273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(5,939,942)</a:t>
            </a:r>
            <a:endParaRPr lang="en-US" sz="900" b="1" dirty="0"/>
          </a:p>
        </p:txBody>
      </p:sp>
      <p:sp>
        <p:nvSpPr>
          <p:cNvPr id="87" name="Shape 85"/>
          <p:cNvSpPr/>
          <p:nvPr/>
        </p:nvSpPr>
        <p:spPr>
          <a:xfrm>
            <a:off x="4608576" y="3767328"/>
            <a:ext cx="3931920" cy="164592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88" name="Text 86"/>
          <p:cNvSpPr/>
          <p:nvPr/>
        </p:nvSpPr>
        <p:spPr>
          <a:xfrm>
            <a:off x="4681728" y="378561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Ejercicio Anterior</a:t>
            </a:r>
            <a:endParaRPr lang="en-US" sz="900" b="1" dirty="0"/>
          </a:p>
        </p:txBody>
      </p:sp>
      <p:sp>
        <p:nvSpPr>
          <p:cNvPr id="89" name="Text 87"/>
          <p:cNvSpPr/>
          <p:nvPr/>
        </p:nvSpPr>
        <p:spPr>
          <a:xfrm>
            <a:off x="7150608" y="378561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(3,473,022)</a:t>
            </a:r>
            <a:endParaRPr lang="en-US" sz="900" b="1" dirty="0"/>
          </a:p>
        </p:txBody>
      </p:sp>
      <p:sp>
        <p:nvSpPr>
          <p:cNvPr id="90" name="Shape 88"/>
          <p:cNvSpPr/>
          <p:nvPr/>
        </p:nvSpPr>
        <p:spPr>
          <a:xfrm>
            <a:off x="4608576" y="3950208"/>
            <a:ext cx="3931920" cy="164592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91" name="Text 89"/>
          <p:cNvSpPr/>
          <p:nvPr/>
        </p:nvSpPr>
        <p:spPr>
          <a:xfrm>
            <a:off x="4681728" y="3968496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PATRIMONIO</a:t>
            </a:r>
            <a:endParaRPr lang="en-US" sz="900" b="1" dirty="0"/>
          </a:p>
        </p:txBody>
      </p:sp>
      <p:sp>
        <p:nvSpPr>
          <p:cNvPr id="92" name="Text 90"/>
          <p:cNvSpPr/>
          <p:nvPr/>
        </p:nvSpPr>
        <p:spPr>
          <a:xfrm>
            <a:off x="7150608" y="396849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313,504,770</a:t>
            </a:r>
            <a:endParaRPr lang="en-US" sz="900" b="1" dirty="0"/>
          </a:p>
        </p:txBody>
      </p:sp>
      <p:sp>
        <p:nvSpPr>
          <p:cNvPr id="93" name="Text 91"/>
          <p:cNvSpPr/>
          <p:nvPr/>
        </p:nvSpPr>
        <p:spPr>
          <a:xfrm>
            <a:off x="365760" y="471830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TC: RD$59.57/USD  ·  Dep. Diferidos: RD$221.0M  ·  Deuda/Activo: 58.7%  ·  Costos en proceso: 93.6% de Activos</a:t>
            </a:r>
            <a:endParaRPr lang="en-US" sz="1000" b="1" dirty="0"/>
          </a:p>
        </p:txBody>
      </p:sp>
      <p:sp>
        <p:nvSpPr>
          <p:cNvPr id="94" name="Shape 92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400" b="1"/>
          </a:p>
        </p:txBody>
      </p:sp>
      <p:sp>
        <p:nvSpPr>
          <p:cNvPr id="95" name="Text 93"/>
          <p:cNvSpPr/>
          <p:nvPr/>
        </p:nvSpPr>
        <p:spPr>
          <a:xfrm>
            <a:off x="36576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Junio 2026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COMPROMISOS FINANCIEROS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29768"/>
            <a:ext cx="411480" cy="4572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539496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6309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CXP</a:t>
            </a:r>
            <a:endParaRPr lang="en-US" sz="700" b="1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RD$18.6M</a:t>
            </a:r>
            <a:endParaRPr lang="en-US" sz="1800" b="1" dirty="0"/>
          </a:p>
        </p:txBody>
      </p:sp>
      <p:sp>
        <p:nvSpPr>
          <p:cNvPr id="8" name="Text 6"/>
          <p:cNvSpPr/>
          <p:nvPr/>
        </p:nvSpPr>
        <p:spPr>
          <a:xfrm>
            <a:off x="475488" y="1243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30 junio 2026</a:t>
            </a:r>
            <a:endParaRPr lang="en-US" sz="750" b="1" dirty="0"/>
          </a:p>
        </p:txBody>
      </p:sp>
      <p:sp>
        <p:nvSpPr>
          <p:cNvPr id="9" name="Shape 7"/>
          <p:cNvSpPr/>
          <p:nvPr/>
        </p:nvSpPr>
        <p:spPr>
          <a:xfrm>
            <a:off x="2450592" y="539496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60320" y="6309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 60.1%</a:t>
            </a:r>
            <a:endParaRPr lang="en-US" sz="700" b="1" dirty="0"/>
          </a:p>
        </p:txBody>
      </p:sp>
      <p:sp>
        <p:nvSpPr>
          <p:cNvPr id="11" name="Text 9"/>
          <p:cNvSpPr/>
          <p:nvPr/>
        </p:nvSpPr>
        <p:spPr>
          <a:xfrm>
            <a:off x="2542032" y="786384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RD$11.2M</a:t>
            </a:r>
            <a:endParaRPr lang="en-US" sz="1800" b="1" dirty="0"/>
          </a:p>
        </p:txBody>
      </p:sp>
      <p:sp>
        <p:nvSpPr>
          <p:cNvPr id="12" name="Text 10"/>
          <p:cNvSpPr/>
          <p:nvPr/>
        </p:nvSpPr>
        <p:spPr>
          <a:xfrm>
            <a:off x="2560320" y="1243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mora</a:t>
            </a:r>
            <a:endParaRPr lang="en-US" sz="750" b="1" dirty="0"/>
          </a:p>
        </p:txBody>
      </p:sp>
      <p:sp>
        <p:nvSpPr>
          <p:cNvPr id="13" name="Shape 11"/>
          <p:cNvSpPr/>
          <p:nvPr/>
        </p:nvSpPr>
        <p:spPr>
          <a:xfrm>
            <a:off x="4535424" y="539496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45152" y="6309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MES 38.4%</a:t>
            </a:r>
            <a:endParaRPr lang="en-US" sz="700" b="1" dirty="0"/>
          </a:p>
        </p:txBody>
      </p:sp>
      <p:sp>
        <p:nvSpPr>
          <p:cNvPr id="15" name="Text 13"/>
          <p:cNvSpPr/>
          <p:nvPr/>
        </p:nvSpPr>
        <p:spPr>
          <a:xfrm>
            <a:off x="4626864" y="786384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RD$7.1M</a:t>
            </a:r>
            <a:endParaRPr lang="en-US" sz="1800" b="1" dirty="0"/>
          </a:p>
        </p:txBody>
      </p:sp>
      <p:sp>
        <p:nvSpPr>
          <p:cNvPr id="16" name="Text 14"/>
          <p:cNvSpPr/>
          <p:nvPr/>
        </p:nvSpPr>
        <p:spPr>
          <a:xfrm>
            <a:off x="4645152" y="1243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Vencidas &lt; 30 días</a:t>
            </a:r>
            <a:endParaRPr lang="en-US" sz="750" b="1" dirty="0"/>
          </a:p>
        </p:txBody>
      </p:sp>
      <p:sp>
        <p:nvSpPr>
          <p:cNvPr id="17" name="Shape 15"/>
          <p:cNvSpPr/>
          <p:nvPr/>
        </p:nvSpPr>
        <p:spPr>
          <a:xfrm>
            <a:off x="6620256" y="539496"/>
            <a:ext cx="1993392" cy="9144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729984" y="6309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ANTICIPOS</a:t>
            </a:r>
            <a:endParaRPr lang="en-US" sz="700" b="1" dirty="0"/>
          </a:p>
        </p:txBody>
      </p:sp>
      <p:sp>
        <p:nvSpPr>
          <p:cNvPr id="19" name="Text 17"/>
          <p:cNvSpPr/>
          <p:nvPr/>
        </p:nvSpPr>
        <p:spPr>
          <a:xfrm>
            <a:off x="6711696" y="786384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RD$9.2M</a:t>
            </a:r>
            <a:endParaRPr lang="en-US" sz="1800" b="1" dirty="0"/>
          </a:p>
        </p:txBody>
      </p:sp>
      <p:sp>
        <p:nvSpPr>
          <p:cNvPr id="20" name="Text 18"/>
          <p:cNvSpPr/>
          <p:nvPr/>
        </p:nvSpPr>
        <p:spPr>
          <a:xfrm>
            <a:off x="6729984" y="1243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anticipos vigentes</a:t>
            </a:r>
            <a:endParaRPr lang="en-US" sz="750" b="1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2704917835"/>
              </p:ext>
            </p:extLst>
          </p:nvPr>
        </p:nvGraphicFramePr>
        <p:xfrm>
          <a:off x="274320" y="2048256"/>
          <a:ext cx="2743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3118104" y="1771461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CXP</a:t>
            </a:r>
            <a:endParaRPr lang="en-US" sz="800" b="1" dirty="0"/>
          </a:p>
        </p:txBody>
      </p:sp>
      <p:sp>
        <p:nvSpPr>
          <p:cNvPr id="23" name="Shape 20"/>
          <p:cNvSpPr/>
          <p:nvPr/>
        </p:nvSpPr>
        <p:spPr>
          <a:xfrm>
            <a:off x="3118104" y="2009205"/>
            <a:ext cx="2834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24" name="Shape 21"/>
          <p:cNvSpPr/>
          <p:nvPr/>
        </p:nvSpPr>
        <p:spPr>
          <a:xfrm>
            <a:off x="3118104" y="2009205"/>
            <a:ext cx="4572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25" name="Text 22"/>
          <p:cNvSpPr/>
          <p:nvPr/>
        </p:nvSpPr>
        <p:spPr>
          <a:xfrm>
            <a:off x="3227832" y="2036637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Edificaciones</a:t>
            </a:r>
            <a:endParaRPr lang="en-US" sz="900" b="1" dirty="0"/>
          </a:p>
        </p:txBody>
      </p:sp>
      <p:sp>
        <p:nvSpPr>
          <p:cNvPr id="26" name="Text 23"/>
          <p:cNvSpPr/>
          <p:nvPr/>
        </p:nvSpPr>
        <p:spPr>
          <a:xfrm>
            <a:off x="3227832" y="2173797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Wave, Bellon, Kinnox</a:t>
            </a:r>
            <a:endParaRPr lang="en-US" sz="800" b="1" dirty="0"/>
          </a:p>
        </p:txBody>
      </p:sp>
      <p:sp>
        <p:nvSpPr>
          <p:cNvPr id="27" name="Text 24"/>
          <p:cNvSpPr/>
          <p:nvPr/>
        </p:nvSpPr>
        <p:spPr>
          <a:xfrm>
            <a:off x="4559584" y="2054925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RD$9,079,361</a:t>
            </a:r>
            <a:endParaRPr lang="en-US" sz="900" b="1" dirty="0"/>
          </a:p>
        </p:txBody>
      </p:sp>
      <p:sp>
        <p:nvSpPr>
          <p:cNvPr id="28" name="Text 25"/>
          <p:cNvSpPr/>
          <p:nvPr/>
        </p:nvSpPr>
        <p:spPr>
          <a:xfrm>
            <a:off x="5486442" y="2054925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48.8%</a:t>
            </a:r>
            <a:endParaRPr lang="en-US" sz="900" b="1" dirty="0"/>
          </a:p>
        </p:txBody>
      </p:sp>
      <p:sp>
        <p:nvSpPr>
          <p:cNvPr id="29" name="Shape 26"/>
          <p:cNvSpPr/>
          <p:nvPr/>
        </p:nvSpPr>
        <p:spPr>
          <a:xfrm>
            <a:off x="3118104" y="2356677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0" name="Shape 27"/>
          <p:cNvSpPr/>
          <p:nvPr/>
        </p:nvSpPr>
        <p:spPr>
          <a:xfrm>
            <a:off x="3118104" y="2356677"/>
            <a:ext cx="45720" cy="31089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1" name="Text 28"/>
          <p:cNvSpPr/>
          <p:nvPr/>
        </p:nvSpPr>
        <p:spPr>
          <a:xfrm>
            <a:off x="3227832" y="238410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Urbanismo</a:t>
            </a:r>
            <a:endParaRPr lang="en-US" sz="900" b="1" dirty="0"/>
          </a:p>
        </p:txBody>
      </p:sp>
      <p:sp>
        <p:nvSpPr>
          <p:cNvPr id="32" name="Text 29"/>
          <p:cNvSpPr/>
          <p:nvPr/>
        </p:nvSpPr>
        <p:spPr>
          <a:xfrm>
            <a:off x="3227832" y="2521269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Bellon, Rodfor, Gondar</a:t>
            </a:r>
            <a:endParaRPr lang="en-US" sz="800" b="1" dirty="0"/>
          </a:p>
        </p:txBody>
      </p:sp>
      <p:sp>
        <p:nvSpPr>
          <p:cNvPr id="33" name="Text 30"/>
          <p:cNvSpPr/>
          <p:nvPr/>
        </p:nvSpPr>
        <p:spPr>
          <a:xfrm>
            <a:off x="4559584" y="2402397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RD$2,409,540</a:t>
            </a:r>
            <a:endParaRPr lang="en-US" sz="900" b="1" dirty="0"/>
          </a:p>
        </p:txBody>
      </p:sp>
      <p:sp>
        <p:nvSpPr>
          <p:cNvPr id="34" name="Text 31"/>
          <p:cNvSpPr/>
          <p:nvPr/>
        </p:nvSpPr>
        <p:spPr>
          <a:xfrm>
            <a:off x="5486442" y="2402397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sz="900" b="1" dirty="0"/>
          </a:p>
        </p:txBody>
      </p:sp>
      <p:sp>
        <p:nvSpPr>
          <p:cNvPr id="35" name="Shape 32"/>
          <p:cNvSpPr/>
          <p:nvPr/>
        </p:nvSpPr>
        <p:spPr>
          <a:xfrm>
            <a:off x="3118104" y="2704149"/>
            <a:ext cx="2834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6" name="Shape 33"/>
          <p:cNvSpPr/>
          <p:nvPr/>
        </p:nvSpPr>
        <p:spPr>
          <a:xfrm>
            <a:off x="3118104" y="2704149"/>
            <a:ext cx="45720" cy="31089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37" name="Text 34"/>
          <p:cNvSpPr/>
          <p:nvPr/>
        </p:nvSpPr>
        <p:spPr>
          <a:xfrm>
            <a:off x="3227832" y="2731581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 Comisiones Venta</a:t>
            </a:r>
            <a:endParaRPr lang="en-US" sz="900" b="1" dirty="0"/>
          </a:p>
        </p:txBody>
      </p:sp>
      <p:sp>
        <p:nvSpPr>
          <p:cNvPr id="38" name="Text 35"/>
          <p:cNvSpPr/>
          <p:nvPr/>
        </p:nvSpPr>
        <p:spPr>
          <a:xfrm>
            <a:off x="3227832" y="2868741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Kiswer, PPCRE, EMI</a:t>
            </a:r>
            <a:endParaRPr lang="en-US" sz="800" b="1" dirty="0"/>
          </a:p>
        </p:txBody>
      </p:sp>
      <p:sp>
        <p:nvSpPr>
          <p:cNvPr id="39" name="Text 36"/>
          <p:cNvSpPr/>
          <p:nvPr/>
        </p:nvSpPr>
        <p:spPr>
          <a:xfrm>
            <a:off x="4559584" y="2749869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RD$4,011,222</a:t>
            </a:r>
            <a:endParaRPr lang="en-US" sz="900" b="1" dirty="0"/>
          </a:p>
        </p:txBody>
      </p:sp>
      <p:sp>
        <p:nvSpPr>
          <p:cNvPr id="40" name="Text 37"/>
          <p:cNvSpPr/>
          <p:nvPr/>
        </p:nvSpPr>
        <p:spPr>
          <a:xfrm>
            <a:off x="5486442" y="2749869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900" b="1" dirty="0"/>
          </a:p>
        </p:txBody>
      </p:sp>
      <p:sp>
        <p:nvSpPr>
          <p:cNvPr id="41" name="Shape 38"/>
          <p:cNvSpPr/>
          <p:nvPr/>
        </p:nvSpPr>
        <p:spPr>
          <a:xfrm>
            <a:off x="3118104" y="3051621"/>
            <a:ext cx="2834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2" name="Shape 39"/>
          <p:cNvSpPr/>
          <p:nvPr/>
        </p:nvSpPr>
        <p:spPr>
          <a:xfrm>
            <a:off x="3118104" y="3051621"/>
            <a:ext cx="4572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3" name="Text 40"/>
          <p:cNvSpPr/>
          <p:nvPr/>
        </p:nvSpPr>
        <p:spPr>
          <a:xfrm>
            <a:off x="3227832" y="3079053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 Indirectos</a:t>
            </a:r>
            <a:endParaRPr lang="en-US" sz="900" b="1" dirty="0"/>
          </a:p>
        </p:txBody>
      </p:sp>
      <p:sp>
        <p:nvSpPr>
          <p:cNvPr id="44" name="Text 41"/>
          <p:cNvSpPr/>
          <p:nvPr/>
        </p:nvSpPr>
        <p:spPr>
          <a:xfrm>
            <a:off x="3227832" y="3216213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Universal, Otros</a:t>
            </a:r>
            <a:endParaRPr lang="en-US" sz="800" b="1" dirty="0"/>
          </a:p>
        </p:txBody>
      </p:sp>
      <p:sp>
        <p:nvSpPr>
          <p:cNvPr id="45" name="Text 42"/>
          <p:cNvSpPr/>
          <p:nvPr/>
        </p:nvSpPr>
        <p:spPr>
          <a:xfrm>
            <a:off x="4559584" y="3097341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RD$806,796</a:t>
            </a:r>
            <a:endParaRPr lang="en-US" sz="900" b="1" dirty="0"/>
          </a:p>
        </p:txBody>
      </p:sp>
      <p:sp>
        <p:nvSpPr>
          <p:cNvPr id="46" name="Text 43"/>
          <p:cNvSpPr/>
          <p:nvPr/>
        </p:nvSpPr>
        <p:spPr>
          <a:xfrm>
            <a:off x="5486442" y="309734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900" b="1" dirty="0"/>
          </a:p>
        </p:txBody>
      </p:sp>
      <p:sp>
        <p:nvSpPr>
          <p:cNvPr id="47" name="Shape 44"/>
          <p:cNvSpPr/>
          <p:nvPr/>
        </p:nvSpPr>
        <p:spPr>
          <a:xfrm>
            <a:off x="3118104" y="3399093"/>
            <a:ext cx="2834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8" name="Shape 45"/>
          <p:cNvSpPr/>
          <p:nvPr/>
        </p:nvSpPr>
        <p:spPr>
          <a:xfrm>
            <a:off x="3118104" y="3399093"/>
            <a:ext cx="45720" cy="310896"/>
          </a:xfrm>
          <a:prstGeom prst="rect">
            <a:avLst/>
          </a:prstGeom>
          <a:solidFill>
            <a:srgbClr val="2B5E8C"/>
          </a:solidFill>
          <a:ln w="12700">
            <a:solidFill>
              <a:srgbClr val="2B5E8C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49" name="Text 46"/>
          <p:cNvSpPr/>
          <p:nvPr/>
        </p:nvSpPr>
        <p:spPr>
          <a:xfrm>
            <a:off x="3227832" y="342652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 Inspección</a:t>
            </a:r>
            <a:endParaRPr lang="en-US" sz="900" b="1" dirty="0"/>
          </a:p>
        </p:txBody>
      </p:sp>
      <p:sp>
        <p:nvSpPr>
          <p:cNvPr id="50" name="Text 47"/>
          <p:cNvSpPr/>
          <p:nvPr/>
        </p:nvSpPr>
        <p:spPr>
          <a:xfrm>
            <a:off x="3227832" y="3563685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Omar Cordero</a:t>
            </a:r>
            <a:endParaRPr lang="en-US" sz="800" b="1" dirty="0"/>
          </a:p>
        </p:txBody>
      </p:sp>
      <p:sp>
        <p:nvSpPr>
          <p:cNvPr id="51" name="Text 48"/>
          <p:cNvSpPr/>
          <p:nvPr/>
        </p:nvSpPr>
        <p:spPr>
          <a:xfrm>
            <a:off x="4559584" y="3444813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RD$506,964</a:t>
            </a:r>
            <a:endParaRPr lang="en-US" sz="900" b="1" dirty="0"/>
          </a:p>
        </p:txBody>
      </p:sp>
      <p:sp>
        <p:nvSpPr>
          <p:cNvPr id="52" name="Text 49"/>
          <p:cNvSpPr/>
          <p:nvPr/>
        </p:nvSpPr>
        <p:spPr>
          <a:xfrm>
            <a:off x="5486442" y="3444813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900" b="1" dirty="0"/>
          </a:p>
        </p:txBody>
      </p:sp>
      <p:sp>
        <p:nvSpPr>
          <p:cNvPr id="53" name="Text 50"/>
          <p:cNvSpPr/>
          <p:nvPr/>
        </p:nvSpPr>
        <p:spPr>
          <a:xfrm>
            <a:off x="6409944" y="1771461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ANTICIPOS</a:t>
            </a:r>
            <a:endParaRPr lang="en-US" sz="800" b="1" dirty="0"/>
          </a:p>
        </p:txBody>
      </p:sp>
      <p:sp>
        <p:nvSpPr>
          <p:cNvPr id="54" name="Shape 51"/>
          <p:cNvSpPr/>
          <p:nvPr/>
        </p:nvSpPr>
        <p:spPr>
          <a:xfrm>
            <a:off x="6409944" y="2009205"/>
            <a:ext cx="228600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55" name="Text 52"/>
          <p:cNvSpPr/>
          <p:nvPr/>
        </p:nvSpPr>
        <p:spPr>
          <a:xfrm>
            <a:off x="6483096" y="2036637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Inversiones Romur</a:t>
            </a:r>
            <a:endParaRPr lang="en-US" sz="900" b="1" dirty="0"/>
          </a:p>
        </p:txBody>
      </p:sp>
      <p:sp>
        <p:nvSpPr>
          <p:cNvPr id="56" name="Text 53"/>
          <p:cNvSpPr/>
          <p:nvPr/>
        </p:nvSpPr>
        <p:spPr>
          <a:xfrm>
            <a:off x="6483096" y="2173797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RD$2,351,901</a:t>
            </a:r>
            <a:endParaRPr lang="en-US" sz="800" b="1" dirty="0"/>
          </a:p>
        </p:txBody>
      </p:sp>
      <p:sp>
        <p:nvSpPr>
          <p:cNvPr id="57" name="Text 54"/>
          <p:cNvSpPr/>
          <p:nvPr/>
        </p:nvSpPr>
        <p:spPr>
          <a:xfrm>
            <a:off x="7891272" y="2064069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900" b="1" dirty="0"/>
          </a:p>
        </p:txBody>
      </p:sp>
      <p:sp>
        <p:nvSpPr>
          <p:cNvPr id="58" name="Shape 55"/>
          <p:cNvSpPr/>
          <p:nvPr/>
        </p:nvSpPr>
        <p:spPr>
          <a:xfrm>
            <a:off x="6409944" y="2356677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59" name="Text 56"/>
          <p:cNvSpPr/>
          <p:nvPr/>
        </p:nvSpPr>
        <p:spPr>
          <a:xfrm>
            <a:off x="6483096" y="2384109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Dto. Mpal. Turístico</a:t>
            </a:r>
            <a:endParaRPr lang="en-US" sz="900" b="1" dirty="0"/>
          </a:p>
        </p:txBody>
      </p:sp>
      <p:sp>
        <p:nvSpPr>
          <p:cNvPr id="60" name="Text 57"/>
          <p:cNvSpPr/>
          <p:nvPr/>
        </p:nvSpPr>
        <p:spPr>
          <a:xfrm>
            <a:off x="6483096" y="2521269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RD$1,691,905</a:t>
            </a:r>
            <a:endParaRPr lang="en-US" sz="800" b="1" dirty="0"/>
          </a:p>
        </p:txBody>
      </p:sp>
      <p:sp>
        <p:nvSpPr>
          <p:cNvPr id="61" name="Text 58"/>
          <p:cNvSpPr/>
          <p:nvPr/>
        </p:nvSpPr>
        <p:spPr>
          <a:xfrm>
            <a:off x="7891272" y="241154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900" b="1" dirty="0"/>
          </a:p>
        </p:txBody>
      </p:sp>
      <p:sp>
        <p:nvSpPr>
          <p:cNvPr id="62" name="Shape 59"/>
          <p:cNvSpPr/>
          <p:nvPr/>
        </p:nvSpPr>
        <p:spPr>
          <a:xfrm>
            <a:off x="6409944" y="2704149"/>
            <a:ext cx="228600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63" name="Text 60"/>
          <p:cNvSpPr/>
          <p:nvPr/>
        </p:nvSpPr>
        <p:spPr>
          <a:xfrm>
            <a:off x="6483096" y="2731581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Operativo MMHB</a:t>
            </a:r>
            <a:endParaRPr lang="en-US" sz="900" b="1" dirty="0"/>
          </a:p>
        </p:txBody>
      </p:sp>
      <p:sp>
        <p:nvSpPr>
          <p:cNvPr id="64" name="Text 61"/>
          <p:cNvSpPr/>
          <p:nvPr/>
        </p:nvSpPr>
        <p:spPr>
          <a:xfrm>
            <a:off x="6483096" y="2868741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RD$1,367,422</a:t>
            </a:r>
            <a:endParaRPr lang="en-US" sz="800" b="1" dirty="0"/>
          </a:p>
        </p:txBody>
      </p:sp>
      <p:sp>
        <p:nvSpPr>
          <p:cNvPr id="65" name="Text 62"/>
          <p:cNvSpPr/>
          <p:nvPr/>
        </p:nvSpPr>
        <p:spPr>
          <a:xfrm>
            <a:off x="7891272" y="275901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b="1" dirty="0"/>
          </a:p>
        </p:txBody>
      </p:sp>
      <p:sp>
        <p:nvSpPr>
          <p:cNvPr id="66" name="Shape 63"/>
          <p:cNvSpPr/>
          <p:nvPr/>
        </p:nvSpPr>
        <p:spPr>
          <a:xfrm>
            <a:off x="6409944" y="3051621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67" name="Text 64"/>
          <p:cNvSpPr/>
          <p:nvPr/>
        </p:nvSpPr>
        <p:spPr>
          <a:xfrm>
            <a:off x="6483096" y="3079053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 Ingeniería</a:t>
            </a:r>
            <a:endParaRPr lang="en-US" sz="900" b="1" dirty="0"/>
          </a:p>
        </p:txBody>
      </p:sp>
      <p:sp>
        <p:nvSpPr>
          <p:cNvPr id="68" name="Text 65"/>
          <p:cNvSpPr/>
          <p:nvPr/>
        </p:nvSpPr>
        <p:spPr>
          <a:xfrm>
            <a:off x="6483096" y="3216213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RD$1,440,000</a:t>
            </a:r>
            <a:endParaRPr lang="en-US" sz="800" b="1" dirty="0"/>
          </a:p>
        </p:txBody>
      </p:sp>
      <p:sp>
        <p:nvSpPr>
          <p:cNvPr id="69" name="Text 66"/>
          <p:cNvSpPr/>
          <p:nvPr/>
        </p:nvSpPr>
        <p:spPr>
          <a:xfrm>
            <a:off x="7891272" y="310648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900" b="1" dirty="0"/>
          </a:p>
        </p:txBody>
      </p:sp>
      <p:sp>
        <p:nvSpPr>
          <p:cNvPr id="70" name="Shape 67"/>
          <p:cNvSpPr/>
          <p:nvPr/>
        </p:nvSpPr>
        <p:spPr>
          <a:xfrm>
            <a:off x="6409944" y="3399093"/>
            <a:ext cx="228600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B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71" name="Text 68"/>
          <p:cNvSpPr/>
          <p:nvPr/>
        </p:nvSpPr>
        <p:spPr>
          <a:xfrm>
            <a:off x="6483096" y="3426525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Alugav / Fusiontech</a:t>
            </a:r>
            <a:endParaRPr lang="en-US" sz="900" b="1" dirty="0"/>
          </a:p>
        </p:txBody>
      </p:sp>
      <p:sp>
        <p:nvSpPr>
          <p:cNvPr id="72" name="Text 69"/>
          <p:cNvSpPr/>
          <p:nvPr/>
        </p:nvSpPr>
        <p:spPr>
          <a:xfrm>
            <a:off x="6483096" y="3563685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RD$1,059,000</a:t>
            </a:r>
            <a:endParaRPr lang="en-US" sz="800" b="1" dirty="0"/>
          </a:p>
        </p:txBody>
      </p:sp>
      <p:sp>
        <p:nvSpPr>
          <p:cNvPr id="73" name="Text 70"/>
          <p:cNvSpPr/>
          <p:nvPr/>
        </p:nvSpPr>
        <p:spPr>
          <a:xfrm>
            <a:off x="7891272" y="3453957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00" b="1" dirty="0"/>
          </a:p>
        </p:txBody>
      </p:sp>
      <p:sp>
        <p:nvSpPr>
          <p:cNvPr id="76" name="Shape 73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4"/>
          <p:cNvSpPr/>
          <p:nvPr/>
        </p:nvSpPr>
        <p:spPr>
          <a:xfrm>
            <a:off x="36576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Junio 2026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PROYECCIÓN FINANCIERA</a:t>
            </a:r>
            <a:endParaRPr lang="en-US" sz="900" b="1" dirty="0"/>
          </a:p>
        </p:txBody>
      </p:sp>
      <p:sp>
        <p:nvSpPr>
          <p:cNvPr id="5" name="Shape 3"/>
          <p:cNvSpPr/>
          <p:nvPr/>
        </p:nvSpPr>
        <p:spPr>
          <a:xfrm>
            <a:off x="246888" y="384000"/>
            <a:ext cx="36576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6" name="Shape 4"/>
          <p:cNvSpPr/>
          <p:nvPr/>
        </p:nvSpPr>
        <p:spPr>
          <a:xfrm>
            <a:off x="155448" y="475440"/>
            <a:ext cx="2706624" cy="1600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" name="Text 5"/>
          <p:cNvSpPr/>
          <p:nvPr/>
        </p:nvSpPr>
        <p:spPr>
          <a:xfrm>
            <a:off x="201168" y="470868"/>
            <a:ext cx="266090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FUENTE  —  Valores en RD$</a:t>
            </a:r>
            <a:endParaRPr lang="en-US" sz="800" b="1" dirty="0"/>
          </a:p>
        </p:txBody>
      </p:sp>
      <p:sp>
        <p:nvSpPr>
          <p:cNvPr id="8" name="Shape 6"/>
          <p:cNvSpPr/>
          <p:nvPr/>
        </p:nvSpPr>
        <p:spPr>
          <a:xfrm>
            <a:off x="155448" y="649176"/>
            <a:ext cx="877824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9" name="Text 7"/>
          <p:cNvSpPr/>
          <p:nvPr/>
        </p:nvSpPr>
        <p:spPr>
          <a:xfrm>
            <a:off x="192024" y="66746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</a:t>
            </a:r>
            <a:endParaRPr lang="en-US" sz="800" b="1" dirty="0"/>
          </a:p>
        </p:txBody>
      </p:sp>
      <p:sp>
        <p:nvSpPr>
          <p:cNvPr id="10" name="Text 8"/>
          <p:cNvSpPr/>
          <p:nvPr/>
        </p:nvSpPr>
        <p:spPr>
          <a:xfrm>
            <a:off x="1984248" y="6674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800" b="1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ACUMULADOS</a:t>
            </a:r>
            <a:endParaRPr lang="en-US" sz="800" b="1" dirty="0"/>
          </a:p>
        </p:txBody>
      </p:sp>
      <p:sp>
        <p:nvSpPr>
          <p:cNvPr id="11" name="Text 9"/>
          <p:cNvSpPr/>
          <p:nvPr/>
        </p:nvSpPr>
        <p:spPr>
          <a:xfrm>
            <a:off x="2880360" y="6674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PART.</a:t>
            </a:r>
            <a:endParaRPr lang="en-US" sz="800" b="1" dirty="0"/>
          </a:p>
        </p:txBody>
      </p:sp>
      <p:sp>
        <p:nvSpPr>
          <p:cNvPr id="12" name="Text 10"/>
          <p:cNvSpPr/>
          <p:nvPr/>
        </p:nvSpPr>
        <p:spPr>
          <a:xfrm>
            <a:off x="366674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800" b="1" dirty="0"/>
          </a:p>
        </p:txBody>
      </p:sp>
      <p:sp>
        <p:nvSpPr>
          <p:cNvPr id="13" name="Text 11"/>
          <p:cNvSpPr/>
          <p:nvPr/>
        </p:nvSpPr>
        <p:spPr>
          <a:xfrm>
            <a:off x="439826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800" b="1" dirty="0"/>
          </a:p>
        </p:txBody>
      </p:sp>
      <p:sp>
        <p:nvSpPr>
          <p:cNvPr id="14" name="Text 12"/>
          <p:cNvSpPr/>
          <p:nvPr/>
        </p:nvSpPr>
        <p:spPr>
          <a:xfrm>
            <a:off x="512978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800" b="1" dirty="0"/>
          </a:p>
        </p:txBody>
      </p:sp>
      <p:sp>
        <p:nvSpPr>
          <p:cNvPr id="15" name="Text 13"/>
          <p:cNvSpPr/>
          <p:nvPr/>
        </p:nvSpPr>
        <p:spPr>
          <a:xfrm>
            <a:off x="586130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800" b="1" dirty="0"/>
          </a:p>
        </p:txBody>
      </p:sp>
      <p:sp>
        <p:nvSpPr>
          <p:cNvPr id="16" name="Text 14"/>
          <p:cNvSpPr/>
          <p:nvPr/>
        </p:nvSpPr>
        <p:spPr>
          <a:xfrm>
            <a:off x="659282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800" b="1" dirty="0"/>
          </a:p>
        </p:txBody>
      </p:sp>
      <p:sp>
        <p:nvSpPr>
          <p:cNvPr id="17" name="Text 15"/>
          <p:cNvSpPr/>
          <p:nvPr/>
        </p:nvSpPr>
        <p:spPr>
          <a:xfrm>
            <a:off x="7324344" y="667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800" b="1" dirty="0"/>
          </a:p>
        </p:txBody>
      </p:sp>
      <p:sp>
        <p:nvSpPr>
          <p:cNvPr id="18" name="Text 16"/>
          <p:cNvSpPr/>
          <p:nvPr/>
        </p:nvSpPr>
        <p:spPr>
          <a:xfrm>
            <a:off x="8092440" y="66746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b="1" dirty="0"/>
          </a:p>
        </p:txBody>
      </p:sp>
      <p:sp>
        <p:nvSpPr>
          <p:cNvPr id="19" name="Shape 17"/>
          <p:cNvSpPr/>
          <p:nvPr/>
        </p:nvSpPr>
        <p:spPr>
          <a:xfrm>
            <a:off x="155448" y="923496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20" name="Text 18"/>
          <p:cNvSpPr/>
          <p:nvPr/>
        </p:nvSpPr>
        <p:spPr>
          <a:xfrm>
            <a:off x="192024" y="93264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DEPÓSITOS CLIENTES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1984248" y="932640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220,997,696</a:t>
            </a:r>
            <a:endParaRPr lang="en-US" sz="800" b="1" dirty="0"/>
          </a:p>
        </p:txBody>
      </p:sp>
      <p:sp>
        <p:nvSpPr>
          <p:cNvPr id="22" name="Text 20"/>
          <p:cNvSpPr/>
          <p:nvPr/>
        </p:nvSpPr>
        <p:spPr>
          <a:xfrm>
            <a:off x="2880360" y="93264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23" name="Text 21"/>
          <p:cNvSpPr/>
          <p:nvPr/>
        </p:nvSpPr>
        <p:spPr>
          <a:xfrm>
            <a:off x="366674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4" name="Text 22"/>
          <p:cNvSpPr/>
          <p:nvPr/>
        </p:nvSpPr>
        <p:spPr>
          <a:xfrm>
            <a:off x="439826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5" name="Text 23"/>
          <p:cNvSpPr/>
          <p:nvPr/>
        </p:nvSpPr>
        <p:spPr>
          <a:xfrm>
            <a:off x="512978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6" name="Text 24"/>
          <p:cNvSpPr/>
          <p:nvPr/>
        </p:nvSpPr>
        <p:spPr>
          <a:xfrm>
            <a:off x="586130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7" name="Text 25"/>
          <p:cNvSpPr/>
          <p:nvPr/>
        </p:nvSpPr>
        <p:spPr>
          <a:xfrm>
            <a:off x="659282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8" name="Text 26"/>
          <p:cNvSpPr/>
          <p:nvPr/>
        </p:nvSpPr>
        <p:spPr>
          <a:xfrm>
            <a:off x="7324344" y="9326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9" name="Text 27"/>
          <p:cNvSpPr/>
          <p:nvPr/>
        </p:nvSpPr>
        <p:spPr>
          <a:xfrm>
            <a:off x="8092440" y="932640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347,299,094</a:t>
            </a:r>
            <a:endParaRPr lang="en-US" sz="800" b="1" dirty="0"/>
          </a:p>
        </p:txBody>
      </p:sp>
      <p:sp>
        <p:nvSpPr>
          <p:cNvPr id="30" name="Shape 28"/>
          <p:cNvSpPr/>
          <p:nvPr/>
        </p:nvSpPr>
        <p:spPr>
          <a:xfrm>
            <a:off x="155448" y="1069800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31" name="Text 29"/>
          <p:cNvSpPr/>
          <p:nvPr/>
        </p:nvSpPr>
        <p:spPr>
          <a:xfrm>
            <a:off x="192024" y="107894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APORTES DE SOCIOS</a:t>
            </a:r>
            <a:endParaRPr lang="en-US" sz="900" b="1" dirty="0"/>
          </a:p>
        </p:txBody>
      </p:sp>
      <p:sp>
        <p:nvSpPr>
          <p:cNvPr id="32" name="Text 30"/>
          <p:cNvSpPr/>
          <p:nvPr/>
        </p:nvSpPr>
        <p:spPr>
          <a:xfrm>
            <a:off x="1984248" y="1078944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322,917,734</a:t>
            </a:r>
            <a:endParaRPr lang="en-US" sz="800" b="1" dirty="0"/>
          </a:p>
        </p:txBody>
      </p:sp>
      <p:sp>
        <p:nvSpPr>
          <p:cNvPr id="33" name="Text 31"/>
          <p:cNvSpPr/>
          <p:nvPr/>
        </p:nvSpPr>
        <p:spPr>
          <a:xfrm>
            <a:off x="2880360" y="107894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4" name="Text 32"/>
          <p:cNvSpPr/>
          <p:nvPr/>
        </p:nvSpPr>
        <p:spPr>
          <a:xfrm>
            <a:off x="366674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5" name="Text 33"/>
          <p:cNvSpPr/>
          <p:nvPr/>
        </p:nvSpPr>
        <p:spPr>
          <a:xfrm>
            <a:off x="439826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6" name="Text 34"/>
          <p:cNvSpPr/>
          <p:nvPr/>
        </p:nvSpPr>
        <p:spPr>
          <a:xfrm>
            <a:off x="512978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7" name="Text 35"/>
          <p:cNvSpPr/>
          <p:nvPr/>
        </p:nvSpPr>
        <p:spPr>
          <a:xfrm>
            <a:off x="586130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8" name="Text 36"/>
          <p:cNvSpPr/>
          <p:nvPr/>
        </p:nvSpPr>
        <p:spPr>
          <a:xfrm>
            <a:off x="659282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9" name="Text 37"/>
          <p:cNvSpPr/>
          <p:nvPr/>
        </p:nvSpPr>
        <p:spPr>
          <a:xfrm>
            <a:off x="7324344" y="10789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0" name="Text 38"/>
          <p:cNvSpPr/>
          <p:nvPr/>
        </p:nvSpPr>
        <p:spPr>
          <a:xfrm>
            <a:off x="8092440" y="1078944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322,917,734</a:t>
            </a:r>
            <a:endParaRPr lang="en-US" sz="800" b="1" dirty="0"/>
          </a:p>
        </p:txBody>
      </p:sp>
      <p:sp>
        <p:nvSpPr>
          <p:cNvPr id="41" name="Shape 39"/>
          <p:cNvSpPr/>
          <p:nvPr/>
        </p:nvSpPr>
        <p:spPr>
          <a:xfrm>
            <a:off x="155448" y="1216104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42" name="Text 40"/>
          <p:cNvSpPr/>
          <p:nvPr/>
        </p:nvSpPr>
        <p:spPr>
          <a:xfrm>
            <a:off x="192024" y="12252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PRÉSTAMOS RECIBIDOS</a:t>
            </a:r>
            <a:endParaRPr lang="en-US" sz="900" b="1" dirty="0"/>
          </a:p>
        </p:txBody>
      </p:sp>
      <p:sp>
        <p:nvSpPr>
          <p:cNvPr id="43" name="Text 41"/>
          <p:cNvSpPr/>
          <p:nvPr/>
        </p:nvSpPr>
        <p:spPr>
          <a:xfrm>
            <a:off x="1984248" y="122524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200,000,000</a:t>
            </a:r>
            <a:endParaRPr lang="en-US" sz="800" b="1" dirty="0"/>
          </a:p>
        </p:txBody>
      </p:sp>
      <p:sp>
        <p:nvSpPr>
          <p:cNvPr id="44" name="Text 42"/>
          <p:cNvSpPr/>
          <p:nvPr/>
        </p:nvSpPr>
        <p:spPr>
          <a:xfrm>
            <a:off x="2880360" y="122524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5" name="Text 43"/>
          <p:cNvSpPr/>
          <p:nvPr/>
        </p:nvSpPr>
        <p:spPr>
          <a:xfrm>
            <a:off x="366674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100,000,000</a:t>
            </a:r>
            <a:endParaRPr lang="en-US" sz="800" b="1" dirty="0"/>
          </a:p>
        </p:txBody>
      </p:sp>
      <p:sp>
        <p:nvSpPr>
          <p:cNvPr id="46" name="Text 44"/>
          <p:cNvSpPr/>
          <p:nvPr/>
        </p:nvSpPr>
        <p:spPr>
          <a:xfrm>
            <a:off x="439826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100,000,000</a:t>
            </a:r>
            <a:endParaRPr lang="en-US" sz="800" b="1" dirty="0"/>
          </a:p>
        </p:txBody>
      </p:sp>
      <p:sp>
        <p:nvSpPr>
          <p:cNvPr id="47" name="Text 45"/>
          <p:cNvSpPr/>
          <p:nvPr/>
        </p:nvSpPr>
        <p:spPr>
          <a:xfrm>
            <a:off x="512978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(10,000,000)</a:t>
            </a:r>
            <a:endParaRPr lang="en-US" sz="800" b="1" dirty="0"/>
          </a:p>
        </p:txBody>
      </p:sp>
      <p:sp>
        <p:nvSpPr>
          <p:cNvPr id="48" name="Text 46"/>
          <p:cNvSpPr/>
          <p:nvPr/>
        </p:nvSpPr>
        <p:spPr>
          <a:xfrm>
            <a:off x="586130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9" name="Text 47"/>
          <p:cNvSpPr/>
          <p:nvPr/>
        </p:nvSpPr>
        <p:spPr>
          <a:xfrm>
            <a:off x="659282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160,000,000</a:t>
            </a:r>
            <a:endParaRPr lang="en-US" sz="800" b="1" dirty="0"/>
          </a:p>
        </p:txBody>
      </p:sp>
      <p:sp>
        <p:nvSpPr>
          <p:cNvPr id="50" name="Text 48"/>
          <p:cNvSpPr/>
          <p:nvPr/>
        </p:nvSpPr>
        <p:spPr>
          <a:xfrm>
            <a:off x="7324344" y="12252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1" name="Text 49"/>
          <p:cNvSpPr/>
          <p:nvPr/>
        </p:nvSpPr>
        <p:spPr>
          <a:xfrm>
            <a:off x="8092440" y="1225248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590,000,000</a:t>
            </a:r>
            <a:endParaRPr lang="en-US" sz="800" b="1" dirty="0"/>
          </a:p>
        </p:txBody>
      </p:sp>
      <p:sp>
        <p:nvSpPr>
          <p:cNvPr id="52" name="Shape 50"/>
          <p:cNvSpPr/>
          <p:nvPr/>
        </p:nvSpPr>
        <p:spPr>
          <a:xfrm>
            <a:off x="155448" y="1362408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53" name="Text 51"/>
          <p:cNvSpPr/>
          <p:nvPr/>
        </p:nvSpPr>
        <p:spPr>
          <a:xfrm>
            <a:off x="192024" y="137155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INTERESES</a:t>
            </a:r>
            <a:endParaRPr lang="en-US" sz="900" b="1" dirty="0"/>
          </a:p>
        </p:txBody>
      </p:sp>
      <p:sp>
        <p:nvSpPr>
          <p:cNvPr id="54" name="Text 52"/>
          <p:cNvSpPr/>
          <p:nvPr/>
        </p:nvSpPr>
        <p:spPr>
          <a:xfrm>
            <a:off x="1984248" y="1371552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2,442,158</a:t>
            </a:r>
            <a:endParaRPr lang="en-US" sz="800" b="1" dirty="0"/>
          </a:p>
        </p:txBody>
      </p:sp>
      <p:sp>
        <p:nvSpPr>
          <p:cNvPr id="55" name="Text 53"/>
          <p:cNvSpPr/>
          <p:nvPr/>
        </p:nvSpPr>
        <p:spPr>
          <a:xfrm>
            <a:off x="2880360" y="137155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6" name="Text 54"/>
          <p:cNvSpPr/>
          <p:nvPr/>
        </p:nvSpPr>
        <p:spPr>
          <a:xfrm>
            <a:off x="366674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7" name="Text 55"/>
          <p:cNvSpPr/>
          <p:nvPr/>
        </p:nvSpPr>
        <p:spPr>
          <a:xfrm>
            <a:off x="439826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8" name="Text 56"/>
          <p:cNvSpPr/>
          <p:nvPr/>
        </p:nvSpPr>
        <p:spPr>
          <a:xfrm>
            <a:off x="512978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9" name="Text 57"/>
          <p:cNvSpPr/>
          <p:nvPr/>
        </p:nvSpPr>
        <p:spPr>
          <a:xfrm>
            <a:off x="586130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0" name="Text 58"/>
          <p:cNvSpPr/>
          <p:nvPr/>
        </p:nvSpPr>
        <p:spPr>
          <a:xfrm>
            <a:off x="659282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1" name="Text 59"/>
          <p:cNvSpPr/>
          <p:nvPr/>
        </p:nvSpPr>
        <p:spPr>
          <a:xfrm>
            <a:off x="7324344" y="1371552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2" name="Text 60"/>
          <p:cNvSpPr/>
          <p:nvPr/>
        </p:nvSpPr>
        <p:spPr>
          <a:xfrm>
            <a:off x="8092440" y="1371552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2,442,158</a:t>
            </a:r>
            <a:endParaRPr lang="en-US" sz="800" b="1" dirty="0"/>
          </a:p>
        </p:txBody>
      </p:sp>
      <p:sp>
        <p:nvSpPr>
          <p:cNvPr id="63" name="Shape 61"/>
          <p:cNvSpPr/>
          <p:nvPr/>
        </p:nvSpPr>
        <p:spPr>
          <a:xfrm>
            <a:off x="155448" y="1508712"/>
            <a:ext cx="8778240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64" name="Text 62"/>
          <p:cNvSpPr/>
          <p:nvPr/>
        </p:nvSpPr>
        <p:spPr>
          <a:xfrm>
            <a:off x="192024" y="151785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INGRESOS RD$</a:t>
            </a:r>
            <a:endParaRPr lang="en-US" sz="900" b="1" dirty="0"/>
          </a:p>
        </p:txBody>
      </p:sp>
      <p:sp>
        <p:nvSpPr>
          <p:cNvPr id="65" name="Text 63"/>
          <p:cNvSpPr/>
          <p:nvPr/>
        </p:nvSpPr>
        <p:spPr>
          <a:xfrm>
            <a:off x="1984248" y="1517856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746,357,587</a:t>
            </a:r>
            <a:endParaRPr lang="en-US" sz="800" b="1" dirty="0"/>
          </a:p>
        </p:txBody>
      </p:sp>
      <p:sp>
        <p:nvSpPr>
          <p:cNvPr id="66" name="Text 64"/>
          <p:cNvSpPr/>
          <p:nvPr/>
        </p:nvSpPr>
        <p:spPr>
          <a:xfrm>
            <a:off x="2880360" y="151785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b="1" dirty="0"/>
          </a:p>
        </p:txBody>
      </p:sp>
      <p:sp>
        <p:nvSpPr>
          <p:cNvPr id="67" name="Text 65"/>
          <p:cNvSpPr/>
          <p:nvPr/>
        </p:nvSpPr>
        <p:spPr>
          <a:xfrm>
            <a:off x="366674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118,000,000</a:t>
            </a:r>
            <a:endParaRPr lang="en-US" sz="800" b="1" dirty="0"/>
          </a:p>
        </p:txBody>
      </p:sp>
      <p:sp>
        <p:nvSpPr>
          <p:cNvPr id="68" name="Text 66"/>
          <p:cNvSpPr/>
          <p:nvPr/>
        </p:nvSpPr>
        <p:spPr>
          <a:xfrm>
            <a:off x="439826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118,000,000</a:t>
            </a:r>
            <a:endParaRPr lang="en-US" sz="800" b="1" dirty="0"/>
          </a:p>
        </p:txBody>
      </p:sp>
      <p:sp>
        <p:nvSpPr>
          <p:cNvPr id="69" name="Text 67"/>
          <p:cNvSpPr/>
          <p:nvPr/>
        </p:nvSpPr>
        <p:spPr>
          <a:xfrm>
            <a:off x="512978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118,000,000</a:t>
            </a:r>
            <a:endParaRPr lang="en-US" sz="800" b="1" dirty="0"/>
          </a:p>
        </p:txBody>
      </p:sp>
      <p:sp>
        <p:nvSpPr>
          <p:cNvPr id="70" name="Text 68"/>
          <p:cNvSpPr/>
          <p:nvPr/>
        </p:nvSpPr>
        <p:spPr>
          <a:xfrm>
            <a:off x="586130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71" name="Text 69"/>
          <p:cNvSpPr/>
          <p:nvPr/>
        </p:nvSpPr>
        <p:spPr>
          <a:xfrm>
            <a:off x="659282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72" name="Text 70"/>
          <p:cNvSpPr/>
          <p:nvPr/>
        </p:nvSpPr>
        <p:spPr>
          <a:xfrm>
            <a:off x="7324344" y="151785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73" name="Text 71"/>
          <p:cNvSpPr/>
          <p:nvPr/>
        </p:nvSpPr>
        <p:spPr>
          <a:xfrm>
            <a:off x="8092440" y="151785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1,262,683,793</a:t>
            </a:r>
            <a:endParaRPr lang="en-US" sz="800" b="1" dirty="0"/>
          </a:p>
        </p:txBody>
      </p:sp>
      <p:sp>
        <p:nvSpPr>
          <p:cNvPr id="74" name="Shape 72"/>
          <p:cNvSpPr/>
          <p:nvPr/>
        </p:nvSpPr>
        <p:spPr>
          <a:xfrm>
            <a:off x="155448" y="1655016"/>
            <a:ext cx="8778240" cy="45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5" name="Shape 73"/>
          <p:cNvSpPr/>
          <p:nvPr/>
        </p:nvSpPr>
        <p:spPr>
          <a:xfrm>
            <a:off x="155448" y="1700736"/>
            <a:ext cx="8778240" cy="164592"/>
          </a:xfrm>
          <a:prstGeom prst="rect">
            <a:avLst/>
          </a:prstGeom>
          <a:solidFill>
            <a:srgbClr val="2B5E8C"/>
          </a:solidFill>
          <a:ln w="12700">
            <a:solidFill>
              <a:srgbClr val="2B5E8C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6" name="Text 74"/>
          <p:cNvSpPr/>
          <p:nvPr/>
        </p:nvSpPr>
        <p:spPr>
          <a:xfrm>
            <a:off x="201168" y="1705308"/>
            <a:ext cx="8686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PRESUPUESTAL  —  Valores en RD$</a:t>
            </a:r>
            <a:endParaRPr lang="en-US" sz="800" b="1" dirty="0"/>
          </a:p>
        </p:txBody>
      </p:sp>
      <p:sp>
        <p:nvSpPr>
          <p:cNvPr id="77" name="Shape 75"/>
          <p:cNvSpPr/>
          <p:nvPr/>
        </p:nvSpPr>
        <p:spPr>
          <a:xfrm>
            <a:off x="155448" y="1874472"/>
            <a:ext cx="8778240" cy="256032"/>
          </a:xfrm>
          <a:prstGeom prst="rect">
            <a:avLst/>
          </a:prstGeom>
          <a:solidFill>
            <a:srgbClr val="2B5E8C"/>
          </a:solidFill>
          <a:ln w="12700">
            <a:solidFill>
              <a:srgbClr val="2B5E8C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8" name="Text 76"/>
          <p:cNvSpPr/>
          <p:nvPr/>
        </p:nvSpPr>
        <p:spPr>
          <a:xfrm>
            <a:off x="192024" y="189276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COSTO</a:t>
            </a:r>
            <a:endParaRPr lang="en-US" sz="800" b="1" dirty="0"/>
          </a:p>
        </p:txBody>
      </p:sp>
      <p:sp>
        <p:nvSpPr>
          <p:cNvPr id="79" name="Text 77"/>
          <p:cNvSpPr/>
          <p:nvPr/>
        </p:nvSpPr>
        <p:spPr>
          <a:xfrm>
            <a:off x="1984248" y="18927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800" b="1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ACUMULADOS</a:t>
            </a:r>
            <a:endParaRPr lang="en-US" sz="800" b="1" dirty="0"/>
          </a:p>
        </p:txBody>
      </p:sp>
      <p:sp>
        <p:nvSpPr>
          <p:cNvPr id="80" name="Text 78"/>
          <p:cNvSpPr/>
          <p:nvPr/>
        </p:nvSpPr>
        <p:spPr>
          <a:xfrm>
            <a:off x="2880360" y="189276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EJEC.</a:t>
            </a:r>
            <a:endParaRPr lang="en-US" sz="800" b="1" dirty="0"/>
          </a:p>
        </p:txBody>
      </p:sp>
      <p:sp>
        <p:nvSpPr>
          <p:cNvPr id="81" name="Text 79"/>
          <p:cNvSpPr/>
          <p:nvPr/>
        </p:nvSpPr>
        <p:spPr>
          <a:xfrm>
            <a:off x="366674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800" b="1" dirty="0"/>
          </a:p>
        </p:txBody>
      </p:sp>
      <p:sp>
        <p:nvSpPr>
          <p:cNvPr id="82" name="Text 80"/>
          <p:cNvSpPr/>
          <p:nvPr/>
        </p:nvSpPr>
        <p:spPr>
          <a:xfrm>
            <a:off x="439826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800" b="1" dirty="0"/>
          </a:p>
        </p:txBody>
      </p:sp>
      <p:sp>
        <p:nvSpPr>
          <p:cNvPr id="83" name="Text 81"/>
          <p:cNvSpPr/>
          <p:nvPr/>
        </p:nvSpPr>
        <p:spPr>
          <a:xfrm>
            <a:off x="512978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800" b="1" dirty="0"/>
          </a:p>
        </p:txBody>
      </p:sp>
      <p:sp>
        <p:nvSpPr>
          <p:cNvPr id="84" name="Text 82"/>
          <p:cNvSpPr/>
          <p:nvPr/>
        </p:nvSpPr>
        <p:spPr>
          <a:xfrm>
            <a:off x="586130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800" b="1" dirty="0"/>
          </a:p>
        </p:txBody>
      </p:sp>
      <p:sp>
        <p:nvSpPr>
          <p:cNvPr id="85" name="Text 83"/>
          <p:cNvSpPr/>
          <p:nvPr/>
        </p:nvSpPr>
        <p:spPr>
          <a:xfrm>
            <a:off x="659282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800" b="1" dirty="0"/>
          </a:p>
        </p:txBody>
      </p:sp>
      <p:sp>
        <p:nvSpPr>
          <p:cNvPr id="86" name="Text 84"/>
          <p:cNvSpPr/>
          <p:nvPr/>
        </p:nvSpPr>
        <p:spPr>
          <a:xfrm>
            <a:off x="7324344" y="1892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800" b="1" dirty="0"/>
          </a:p>
        </p:txBody>
      </p:sp>
      <p:sp>
        <p:nvSpPr>
          <p:cNvPr id="87" name="Text 85"/>
          <p:cNvSpPr/>
          <p:nvPr/>
        </p:nvSpPr>
        <p:spPr>
          <a:xfrm>
            <a:off x="8092440" y="189276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b="1" dirty="0"/>
          </a:p>
        </p:txBody>
      </p:sp>
      <p:sp>
        <p:nvSpPr>
          <p:cNvPr id="88" name="Shape 86"/>
          <p:cNvSpPr/>
          <p:nvPr/>
        </p:nvSpPr>
        <p:spPr>
          <a:xfrm>
            <a:off x="155448" y="2148792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89" name="Text 87"/>
          <p:cNvSpPr/>
          <p:nvPr/>
        </p:nvSpPr>
        <p:spPr>
          <a:xfrm>
            <a:off x="192024" y="215793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CONSTRUCCIÓN</a:t>
            </a:r>
            <a:endParaRPr lang="en-US" sz="900" b="1" dirty="0"/>
          </a:p>
        </p:txBody>
      </p:sp>
      <p:sp>
        <p:nvSpPr>
          <p:cNvPr id="90" name="Text 88"/>
          <p:cNvSpPr/>
          <p:nvPr/>
        </p:nvSpPr>
        <p:spPr>
          <a:xfrm>
            <a:off x="1984248" y="2157936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480,962,890</a:t>
            </a:r>
            <a:endParaRPr lang="en-US" sz="800" b="1" dirty="0"/>
          </a:p>
        </p:txBody>
      </p:sp>
      <p:sp>
        <p:nvSpPr>
          <p:cNvPr id="91" name="Text 89"/>
          <p:cNvSpPr/>
          <p:nvPr/>
        </p:nvSpPr>
        <p:spPr>
          <a:xfrm>
            <a:off x="2880360" y="215793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00" b="1" dirty="0"/>
          </a:p>
        </p:txBody>
      </p:sp>
      <p:sp>
        <p:nvSpPr>
          <p:cNvPr id="92" name="Text 90"/>
          <p:cNvSpPr/>
          <p:nvPr/>
        </p:nvSpPr>
        <p:spPr>
          <a:xfrm>
            <a:off x="366674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125,714,967</a:t>
            </a:r>
            <a:endParaRPr lang="en-US" sz="800" b="1" dirty="0"/>
          </a:p>
        </p:txBody>
      </p:sp>
      <p:sp>
        <p:nvSpPr>
          <p:cNvPr id="93" name="Text 91"/>
          <p:cNvSpPr/>
          <p:nvPr/>
        </p:nvSpPr>
        <p:spPr>
          <a:xfrm>
            <a:off x="439826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82,251,300</a:t>
            </a:r>
            <a:endParaRPr lang="en-US" sz="800" b="1" dirty="0"/>
          </a:p>
        </p:txBody>
      </p:sp>
      <p:sp>
        <p:nvSpPr>
          <p:cNvPr id="94" name="Text 92"/>
          <p:cNvSpPr/>
          <p:nvPr/>
        </p:nvSpPr>
        <p:spPr>
          <a:xfrm>
            <a:off x="512978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82,214,850</a:t>
            </a:r>
            <a:endParaRPr lang="en-US" sz="800" b="1" dirty="0"/>
          </a:p>
        </p:txBody>
      </p:sp>
      <p:sp>
        <p:nvSpPr>
          <p:cNvPr id="95" name="Text 93"/>
          <p:cNvSpPr/>
          <p:nvPr/>
        </p:nvSpPr>
        <p:spPr>
          <a:xfrm>
            <a:off x="586130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76,481,173</a:t>
            </a:r>
            <a:endParaRPr lang="en-US" sz="800" b="1" dirty="0"/>
          </a:p>
        </p:txBody>
      </p:sp>
      <p:sp>
        <p:nvSpPr>
          <p:cNvPr id="96" name="Text 94"/>
          <p:cNvSpPr/>
          <p:nvPr/>
        </p:nvSpPr>
        <p:spPr>
          <a:xfrm>
            <a:off x="659282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74,525,848</a:t>
            </a:r>
            <a:endParaRPr lang="en-US" sz="800" b="1" dirty="0"/>
          </a:p>
        </p:txBody>
      </p:sp>
      <p:sp>
        <p:nvSpPr>
          <p:cNvPr id="97" name="Text 95"/>
          <p:cNvSpPr/>
          <p:nvPr/>
        </p:nvSpPr>
        <p:spPr>
          <a:xfrm>
            <a:off x="7324344" y="21579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65,751,774</a:t>
            </a:r>
            <a:endParaRPr lang="en-US" sz="800" b="1" dirty="0"/>
          </a:p>
        </p:txBody>
      </p:sp>
      <p:sp>
        <p:nvSpPr>
          <p:cNvPr id="98" name="Text 96"/>
          <p:cNvSpPr/>
          <p:nvPr/>
        </p:nvSpPr>
        <p:spPr>
          <a:xfrm>
            <a:off x="8092440" y="215793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1,020,235,693</a:t>
            </a:r>
            <a:endParaRPr lang="en-US" sz="800" b="1" dirty="0"/>
          </a:p>
        </p:txBody>
      </p:sp>
      <p:sp>
        <p:nvSpPr>
          <p:cNvPr id="99" name="Shape 97"/>
          <p:cNvSpPr/>
          <p:nvPr/>
        </p:nvSpPr>
        <p:spPr>
          <a:xfrm>
            <a:off x="155448" y="2295096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00" name="Text 98"/>
          <p:cNvSpPr/>
          <p:nvPr/>
        </p:nvSpPr>
        <p:spPr>
          <a:xfrm>
            <a:off x="192024" y="230424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OPERATIVOS</a:t>
            </a:r>
            <a:endParaRPr lang="en-US" sz="900" b="1" dirty="0"/>
          </a:p>
        </p:txBody>
      </p:sp>
      <p:sp>
        <p:nvSpPr>
          <p:cNvPr id="101" name="Text 99"/>
          <p:cNvSpPr/>
          <p:nvPr/>
        </p:nvSpPr>
        <p:spPr>
          <a:xfrm>
            <a:off x="1984248" y="2304240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180,037,258</a:t>
            </a:r>
            <a:endParaRPr lang="en-US" sz="800" b="1" dirty="0"/>
          </a:p>
        </p:txBody>
      </p:sp>
      <p:sp>
        <p:nvSpPr>
          <p:cNvPr id="102" name="Text 100"/>
          <p:cNvSpPr/>
          <p:nvPr/>
        </p:nvSpPr>
        <p:spPr>
          <a:xfrm>
            <a:off x="2880360" y="230424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b="1" dirty="0"/>
          </a:p>
        </p:txBody>
      </p:sp>
      <p:sp>
        <p:nvSpPr>
          <p:cNvPr id="103" name="Text 101"/>
          <p:cNvSpPr/>
          <p:nvPr/>
        </p:nvSpPr>
        <p:spPr>
          <a:xfrm>
            <a:off x="366674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14,737,745</a:t>
            </a:r>
            <a:endParaRPr lang="en-US" sz="800" b="1" dirty="0"/>
          </a:p>
        </p:txBody>
      </p:sp>
      <p:sp>
        <p:nvSpPr>
          <p:cNvPr id="104" name="Text 102"/>
          <p:cNvSpPr/>
          <p:nvPr/>
        </p:nvSpPr>
        <p:spPr>
          <a:xfrm>
            <a:off x="439826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14,737,745</a:t>
            </a:r>
            <a:endParaRPr lang="en-US" sz="800" b="1" dirty="0"/>
          </a:p>
        </p:txBody>
      </p:sp>
      <p:sp>
        <p:nvSpPr>
          <p:cNvPr id="105" name="Text 103"/>
          <p:cNvSpPr/>
          <p:nvPr/>
        </p:nvSpPr>
        <p:spPr>
          <a:xfrm>
            <a:off x="512978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14,737,745</a:t>
            </a:r>
            <a:endParaRPr lang="en-US" sz="800" b="1" dirty="0"/>
          </a:p>
        </p:txBody>
      </p:sp>
      <p:sp>
        <p:nvSpPr>
          <p:cNvPr id="106" name="Text 104"/>
          <p:cNvSpPr/>
          <p:nvPr/>
        </p:nvSpPr>
        <p:spPr>
          <a:xfrm>
            <a:off x="586130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7" name="Text 105"/>
          <p:cNvSpPr/>
          <p:nvPr/>
        </p:nvSpPr>
        <p:spPr>
          <a:xfrm>
            <a:off x="659282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8" name="Text 106"/>
          <p:cNvSpPr/>
          <p:nvPr/>
        </p:nvSpPr>
        <p:spPr>
          <a:xfrm>
            <a:off x="7324344" y="230424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9" name="Text 107"/>
          <p:cNvSpPr/>
          <p:nvPr/>
        </p:nvSpPr>
        <p:spPr>
          <a:xfrm>
            <a:off x="8092440" y="2304240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291,593,834</a:t>
            </a:r>
            <a:endParaRPr lang="en-US" sz="800" b="1" dirty="0"/>
          </a:p>
        </p:txBody>
      </p:sp>
      <p:sp>
        <p:nvSpPr>
          <p:cNvPr id="110" name="Shape 108"/>
          <p:cNvSpPr/>
          <p:nvPr/>
        </p:nvSpPr>
        <p:spPr>
          <a:xfrm>
            <a:off x="155448" y="2441400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11" name="Text 109"/>
          <p:cNvSpPr/>
          <p:nvPr/>
        </p:nvSpPr>
        <p:spPr>
          <a:xfrm>
            <a:off x="192024" y="245054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GASTOS</a:t>
            </a:r>
            <a:endParaRPr lang="en-US" sz="900" b="1" dirty="0"/>
          </a:p>
        </p:txBody>
      </p:sp>
      <p:sp>
        <p:nvSpPr>
          <p:cNvPr id="112" name="Text 110"/>
          <p:cNvSpPr/>
          <p:nvPr/>
        </p:nvSpPr>
        <p:spPr>
          <a:xfrm>
            <a:off x="1984248" y="2450544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41,968,495</a:t>
            </a:r>
            <a:endParaRPr lang="en-US" sz="800" b="1" dirty="0"/>
          </a:p>
        </p:txBody>
      </p:sp>
      <p:sp>
        <p:nvSpPr>
          <p:cNvPr id="113" name="Text 111"/>
          <p:cNvSpPr/>
          <p:nvPr/>
        </p:nvSpPr>
        <p:spPr>
          <a:xfrm>
            <a:off x="2880360" y="245054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b="1" dirty="0"/>
          </a:p>
        </p:txBody>
      </p:sp>
      <p:sp>
        <p:nvSpPr>
          <p:cNvPr id="114" name="Text 112"/>
          <p:cNvSpPr/>
          <p:nvPr/>
        </p:nvSpPr>
        <p:spPr>
          <a:xfrm>
            <a:off x="366674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3,247,917</a:t>
            </a:r>
            <a:endParaRPr lang="en-US" sz="800" b="1" dirty="0"/>
          </a:p>
        </p:txBody>
      </p:sp>
      <p:sp>
        <p:nvSpPr>
          <p:cNvPr id="115" name="Text 113"/>
          <p:cNvSpPr/>
          <p:nvPr/>
        </p:nvSpPr>
        <p:spPr>
          <a:xfrm>
            <a:off x="439826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4,937,500</a:t>
            </a:r>
            <a:endParaRPr lang="en-US" sz="800" b="1" dirty="0"/>
          </a:p>
        </p:txBody>
      </p:sp>
      <p:sp>
        <p:nvSpPr>
          <p:cNvPr id="116" name="Text 114"/>
          <p:cNvSpPr/>
          <p:nvPr/>
        </p:nvSpPr>
        <p:spPr>
          <a:xfrm>
            <a:off x="512978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7,337,500</a:t>
            </a:r>
            <a:endParaRPr lang="en-US" sz="800" b="1" dirty="0"/>
          </a:p>
        </p:txBody>
      </p:sp>
      <p:sp>
        <p:nvSpPr>
          <p:cNvPr id="117" name="Text 115"/>
          <p:cNvSpPr/>
          <p:nvPr/>
        </p:nvSpPr>
        <p:spPr>
          <a:xfrm>
            <a:off x="586130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3,718,750</a:t>
            </a:r>
            <a:endParaRPr lang="en-US" sz="800" b="1" dirty="0"/>
          </a:p>
        </p:txBody>
      </p:sp>
      <p:sp>
        <p:nvSpPr>
          <p:cNvPr id="118" name="Text 116"/>
          <p:cNvSpPr/>
          <p:nvPr/>
        </p:nvSpPr>
        <p:spPr>
          <a:xfrm>
            <a:off x="659282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4,989,583</a:t>
            </a:r>
            <a:endParaRPr lang="en-US" sz="800" b="1" dirty="0"/>
          </a:p>
        </p:txBody>
      </p:sp>
      <p:sp>
        <p:nvSpPr>
          <p:cNvPr id="119" name="Text 117"/>
          <p:cNvSpPr/>
          <p:nvPr/>
        </p:nvSpPr>
        <p:spPr>
          <a:xfrm>
            <a:off x="7324344" y="24505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4,403,333</a:t>
            </a:r>
            <a:endParaRPr lang="en-US" sz="800" b="1" dirty="0"/>
          </a:p>
        </p:txBody>
      </p:sp>
      <p:sp>
        <p:nvSpPr>
          <p:cNvPr id="120" name="Text 118"/>
          <p:cNvSpPr/>
          <p:nvPr/>
        </p:nvSpPr>
        <p:spPr>
          <a:xfrm>
            <a:off x="8092440" y="2450544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72,534,344</a:t>
            </a:r>
            <a:endParaRPr lang="en-US" sz="800" b="1" dirty="0"/>
          </a:p>
        </p:txBody>
      </p:sp>
      <p:sp>
        <p:nvSpPr>
          <p:cNvPr id="121" name="Shape 119"/>
          <p:cNvSpPr/>
          <p:nvPr/>
        </p:nvSpPr>
        <p:spPr>
          <a:xfrm>
            <a:off x="155448" y="2587704"/>
            <a:ext cx="8778240" cy="146304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22" name="Text 120"/>
          <p:cNvSpPr/>
          <p:nvPr/>
        </p:nvSpPr>
        <p:spPr>
          <a:xfrm>
            <a:off x="192024" y="2596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GENERALES RD$</a:t>
            </a:r>
            <a:endParaRPr lang="en-US" sz="900" b="1" dirty="0"/>
          </a:p>
        </p:txBody>
      </p:sp>
      <p:sp>
        <p:nvSpPr>
          <p:cNvPr id="123" name="Text 121"/>
          <p:cNvSpPr/>
          <p:nvPr/>
        </p:nvSpPr>
        <p:spPr>
          <a:xfrm>
            <a:off x="1984248" y="259684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702,968,643</a:t>
            </a:r>
            <a:endParaRPr lang="en-US" sz="800" b="1" dirty="0"/>
          </a:p>
        </p:txBody>
      </p:sp>
      <p:sp>
        <p:nvSpPr>
          <p:cNvPr id="124" name="Text 122"/>
          <p:cNvSpPr/>
          <p:nvPr/>
        </p:nvSpPr>
        <p:spPr>
          <a:xfrm>
            <a:off x="2880360" y="259684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b="1" dirty="0"/>
          </a:p>
        </p:txBody>
      </p:sp>
      <p:sp>
        <p:nvSpPr>
          <p:cNvPr id="125" name="Text 123"/>
          <p:cNvSpPr/>
          <p:nvPr/>
        </p:nvSpPr>
        <p:spPr>
          <a:xfrm>
            <a:off x="366674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143,700,628</a:t>
            </a:r>
            <a:endParaRPr lang="en-US" sz="800" b="1" dirty="0"/>
          </a:p>
        </p:txBody>
      </p:sp>
      <p:sp>
        <p:nvSpPr>
          <p:cNvPr id="126" name="Text 124"/>
          <p:cNvSpPr/>
          <p:nvPr/>
        </p:nvSpPr>
        <p:spPr>
          <a:xfrm>
            <a:off x="439826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101,926,545</a:t>
            </a:r>
            <a:endParaRPr lang="en-US" sz="800" b="1" dirty="0"/>
          </a:p>
        </p:txBody>
      </p:sp>
      <p:sp>
        <p:nvSpPr>
          <p:cNvPr id="127" name="Text 125"/>
          <p:cNvSpPr/>
          <p:nvPr/>
        </p:nvSpPr>
        <p:spPr>
          <a:xfrm>
            <a:off x="512978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106,054,700</a:t>
            </a:r>
            <a:endParaRPr lang="en-US" sz="800" b="1" dirty="0"/>
          </a:p>
        </p:txBody>
      </p:sp>
      <p:sp>
        <p:nvSpPr>
          <p:cNvPr id="128" name="Text 126"/>
          <p:cNvSpPr/>
          <p:nvPr/>
        </p:nvSpPr>
        <p:spPr>
          <a:xfrm>
            <a:off x="586130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96,702,273</a:t>
            </a:r>
            <a:endParaRPr lang="en-US" sz="800" b="1" dirty="0"/>
          </a:p>
        </p:txBody>
      </p:sp>
      <p:sp>
        <p:nvSpPr>
          <p:cNvPr id="129" name="Text 127"/>
          <p:cNvSpPr/>
          <p:nvPr/>
        </p:nvSpPr>
        <p:spPr>
          <a:xfrm>
            <a:off x="659282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96,017,781</a:t>
            </a:r>
            <a:endParaRPr lang="en-US" sz="800" b="1" dirty="0"/>
          </a:p>
        </p:txBody>
      </p:sp>
      <p:sp>
        <p:nvSpPr>
          <p:cNvPr id="130" name="Text 128"/>
          <p:cNvSpPr/>
          <p:nvPr/>
        </p:nvSpPr>
        <p:spPr>
          <a:xfrm>
            <a:off x="7324344" y="259684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87,994,391</a:t>
            </a:r>
            <a:endParaRPr lang="en-US" sz="800" b="1" dirty="0"/>
          </a:p>
        </p:txBody>
      </p:sp>
      <p:sp>
        <p:nvSpPr>
          <p:cNvPr id="131" name="Text 129"/>
          <p:cNvSpPr/>
          <p:nvPr/>
        </p:nvSpPr>
        <p:spPr>
          <a:xfrm>
            <a:off x="8092440" y="2596848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1,384,363,871</a:t>
            </a:r>
            <a:endParaRPr lang="en-US" sz="800" b="1" dirty="0"/>
          </a:p>
        </p:txBody>
      </p:sp>
      <p:sp>
        <p:nvSpPr>
          <p:cNvPr id="132" name="Shape 130"/>
          <p:cNvSpPr/>
          <p:nvPr/>
        </p:nvSpPr>
        <p:spPr>
          <a:xfrm>
            <a:off x="155448" y="2734008"/>
            <a:ext cx="877824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800" b="1"/>
          </a:p>
        </p:txBody>
      </p:sp>
      <p:sp>
        <p:nvSpPr>
          <p:cNvPr id="133" name="Shape 131"/>
          <p:cNvSpPr/>
          <p:nvPr/>
        </p:nvSpPr>
        <p:spPr>
          <a:xfrm>
            <a:off x="155448" y="2770584"/>
            <a:ext cx="8778240" cy="200202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800" b="1"/>
          </a:p>
        </p:txBody>
      </p:sp>
      <p:sp>
        <p:nvSpPr>
          <p:cNvPr id="134" name="Text 132"/>
          <p:cNvSpPr/>
          <p:nvPr/>
        </p:nvSpPr>
        <p:spPr>
          <a:xfrm>
            <a:off x="192024" y="2779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(Ingresos − Costos)</a:t>
            </a:r>
            <a:endParaRPr lang="en-US" sz="1100" b="1" dirty="0"/>
          </a:p>
        </p:txBody>
      </p:sp>
      <p:sp>
        <p:nvSpPr>
          <p:cNvPr id="135" name="Text 133"/>
          <p:cNvSpPr/>
          <p:nvPr/>
        </p:nvSpPr>
        <p:spPr>
          <a:xfrm>
            <a:off x="1984248" y="277972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49,199,807</a:t>
            </a:r>
            <a:endParaRPr lang="en-US" sz="1050" b="1" dirty="0"/>
          </a:p>
        </p:txBody>
      </p:sp>
      <p:sp>
        <p:nvSpPr>
          <p:cNvPr id="136" name="Text 134"/>
          <p:cNvSpPr/>
          <p:nvPr/>
        </p:nvSpPr>
        <p:spPr>
          <a:xfrm>
            <a:off x="2880360" y="277972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b="1" dirty="0"/>
          </a:p>
        </p:txBody>
      </p:sp>
      <p:sp>
        <p:nvSpPr>
          <p:cNvPr id="137" name="Text 135"/>
          <p:cNvSpPr/>
          <p:nvPr/>
        </p:nvSpPr>
        <p:spPr>
          <a:xfrm>
            <a:off x="366674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23,499,178</a:t>
            </a:r>
            <a:endParaRPr lang="en-US" sz="900" b="1" dirty="0"/>
          </a:p>
        </p:txBody>
      </p:sp>
      <p:sp>
        <p:nvSpPr>
          <p:cNvPr id="138" name="Text 136"/>
          <p:cNvSpPr/>
          <p:nvPr/>
        </p:nvSpPr>
        <p:spPr>
          <a:xfrm>
            <a:off x="439826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39,572,633</a:t>
            </a:r>
            <a:endParaRPr lang="en-US" sz="900" b="1" dirty="0"/>
          </a:p>
        </p:txBody>
      </p:sp>
      <p:sp>
        <p:nvSpPr>
          <p:cNvPr id="139" name="Text 137"/>
          <p:cNvSpPr/>
          <p:nvPr/>
        </p:nvSpPr>
        <p:spPr>
          <a:xfrm>
            <a:off x="512978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(58,482,067)</a:t>
            </a:r>
            <a:endParaRPr lang="en-US" sz="900" b="1" dirty="0"/>
          </a:p>
        </p:txBody>
      </p:sp>
      <p:sp>
        <p:nvSpPr>
          <p:cNvPr id="140" name="Text 138"/>
          <p:cNvSpPr/>
          <p:nvPr/>
        </p:nvSpPr>
        <p:spPr>
          <a:xfrm>
            <a:off x="586130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(137,184,339)</a:t>
            </a:r>
            <a:endParaRPr lang="en-US" sz="900" b="1" dirty="0"/>
          </a:p>
        </p:txBody>
      </p:sp>
      <p:sp>
        <p:nvSpPr>
          <p:cNvPr id="141" name="Text 139"/>
          <p:cNvSpPr/>
          <p:nvPr/>
        </p:nvSpPr>
        <p:spPr>
          <a:xfrm>
            <a:off x="659282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(55,202,121)</a:t>
            </a:r>
            <a:endParaRPr lang="en-US" sz="900" b="1" dirty="0"/>
          </a:p>
        </p:txBody>
      </p:sp>
      <p:sp>
        <p:nvSpPr>
          <p:cNvPr id="142" name="Text 140"/>
          <p:cNvSpPr/>
          <p:nvPr/>
        </p:nvSpPr>
        <p:spPr>
          <a:xfrm>
            <a:off x="7324344" y="27797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(125,196,511)</a:t>
            </a:r>
            <a:endParaRPr lang="en-US" sz="900" b="1" dirty="0"/>
          </a:p>
        </p:txBody>
      </p:sp>
      <p:sp>
        <p:nvSpPr>
          <p:cNvPr id="143" name="Text 141"/>
          <p:cNvSpPr/>
          <p:nvPr/>
        </p:nvSpPr>
        <p:spPr>
          <a:xfrm>
            <a:off x="8092440" y="2779728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(125,196,511)</a:t>
            </a:r>
            <a:endParaRPr lang="en-US" sz="900" b="1" dirty="0"/>
          </a:p>
        </p:txBody>
      </p:sp>
      <p:sp>
        <p:nvSpPr>
          <p:cNvPr id="144" name="Text 142"/>
          <p:cNvSpPr/>
          <p:nvPr/>
        </p:nvSpPr>
        <p:spPr>
          <a:xfrm>
            <a:off x="155448" y="3176485"/>
            <a:ext cx="8686800" cy="162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endParaRPr lang="en-US" sz="1000" b="1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Alaver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Aug 100M. 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los meses de mayor intensidad en obra. Completa el tramo del crédito vigente por RD$300 millones. En sept-26 se abona 150 millones con los fondos de IFC.</a:t>
            </a:r>
            <a:endParaRPr lang="en-U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AFI Jul 100M. 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el puente entre los meses de alta ejecucion y la entrada del IFC. Se cancela integramente en septiembre con los fondos IFC.</a:t>
            </a:r>
            <a:endParaRPr lang="en-U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Oct 240M + Nov 180M. 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la fase central de construccion oct-nov. </a:t>
            </a:r>
            <a:r>
              <a:rPr lang="en-U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abonar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los creditos puente y sostener la operacion hasta </a:t>
            </a:r>
            <a:r>
              <a:rPr lang="en-U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Construcción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— RD$506.74M (87%). Julio es el mes pico (RD$125.71M) por arranque de Edificaciones y anticipos a grandes proveedores.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Gastos Operativos 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 RD$100.32M (14%)Gerencia de Ventas representa el 65% del grupo, reflejando comisiones activas por cierre de unidades.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Otros Gastos 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 RD$28.10M (5%)Dominado por Gastos Financieros, que crecen desde noviembre con la activacion del credito IFC.</a:t>
            </a:r>
          </a:p>
        </p:txBody>
      </p:sp>
      <p:sp>
        <p:nvSpPr>
          <p:cNvPr id="145" name="Shape 143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46" name="Text 144"/>
          <p:cNvSpPr/>
          <p:nvPr/>
        </p:nvSpPr>
        <p:spPr>
          <a:xfrm>
            <a:off x="36576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Mayo 2026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8814816" cy="21945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73152"/>
            <a:ext cx="8741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FIDEICOMISO ARAYA — INFORME JUNIO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" y="292608"/>
            <a:ext cx="8814816" cy="141732"/>
          </a:xfrm>
          <a:prstGeom prst="rect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01168" y="292608"/>
            <a:ext cx="5486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FUENTE — Valores en millones RD$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64592" y="434340"/>
            <a:ext cx="8814816" cy="13716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8024" y="43434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ACUM. RD$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621024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14088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07152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300216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193280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086344" y="434340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4592" y="571500"/>
            <a:ext cx="8814816" cy="11887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01168" y="571500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DEPÓSITOS DE CLIENTES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78024" y="5715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221.00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21024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14088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07152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300216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193280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86344" y="571500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4592" y="690372"/>
            <a:ext cx="8814816" cy="118872"/>
          </a:xfrm>
          <a:prstGeom prst="rect">
            <a:avLst/>
          </a:prstGeom>
          <a:solidFill>
            <a:srgbClr val="F2FAF5"/>
          </a:solidFill>
          <a:ln w="12700">
            <a:solidFill>
              <a:srgbClr val="F2FA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01168" y="690372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APORTES DE SOCIOS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78024" y="69037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322.92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4592" y="809244"/>
            <a:ext cx="8814816" cy="11887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01168" y="809244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PRÉSTAMOS RECIBIDOS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78024" y="80924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200.00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21024" y="809244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14088" y="809244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07152" y="809244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(10.00)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93280" y="809244"/>
            <a:ext cx="893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160.00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64592" y="928116"/>
            <a:ext cx="8814816" cy="10241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01168" y="928116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AFI Universal (Crédito Puente)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621024" y="928116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407152" y="928116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(100.00)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64592" y="1030529"/>
            <a:ext cx="8814816" cy="10241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01168" y="1030529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Banco Alaver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478024" y="1030529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200.00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514088" y="1030529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407152" y="1030529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(150.00)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193280" y="1030529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(20.00)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64592" y="1132942"/>
            <a:ext cx="8814816" cy="102413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201168" y="1132942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 IFC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407152" y="11411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240.00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193280" y="113294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180.00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64592" y="1235354"/>
            <a:ext cx="8814816" cy="11887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201168" y="1235354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INTERESES GENERADOS POR INVERSIONES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78024" y="123535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4592" y="1354226"/>
            <a:ext cx="8814816" cy="120701"/>
          </a:xfrm>
          <a:prstGeom prst="rect">
            <a:avLst/>
          </a:prstGeom>
          <a:solidFill>
            <a:srgbClr val="1B4A1B"/>
          </a:solidFill>
          <a:ln w="12700">
            <a:solidFill>
              <a:srgbClr val="1B4A1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201168" y="1354226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INGRESOS  RD$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478024" y="1354226"/>
            <a:ext cx="1143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746.36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21024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118.00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14088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118.00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07152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00216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93280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178.00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086344" y="1354226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4592" y="1474927"/>
            <a:ext cx="8814816" cy="120701"/>
          </a:xfrm>
          <a:prstGeom prst="rect">
            <a:avLst/>
          </a:prstGeom>
          <a:solidFill>
            <a:srgbClr val="0F2518"/>
          </a:solidFill>
          <a:ln w="12700">
            <a:solidFill>
              <a:srgbClr val="0F251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201168" y="1474927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INGRESOS  ACUMULADOS RD$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478024" y="1474927"/>
            <a:ext cx="1143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746.36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621024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864.36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514088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982.36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407152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990.36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300216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1,008.36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193280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1,186.36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6344" y="147492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1,204.36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64592" y="1595628"/>
            <a:ext cx="8814816" cy="3200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164592" y="1645920"/>
            <a:ext cx="8814816" cy="1417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201168" y="1645920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PRESUPUESTAL — Valores en millones RD$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64592" y="1787652"/>
            <a:ext cx="8814816" cy="13716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201168" y="178765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COSTO / AUXILIAR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478024" y="178765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ACUMULADOS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621024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514088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07152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300216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193280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086344" y="1787652"/>
            <a:ext cx="893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64592" y="1924812"/>
            <a:ext cx="8814816" cy="118872"/>
          </a:xfrm>
          <a:prstGeom prst="rect">
            <a:avLst/>
          </a:prstGeom>
          <a:solidFill>
            <a:srgbClr val="2E5B7A"/>
          </a:solidFill>
          <a:ln w="12700">
            <a:solidFill>
              <a:srgbClr val="2E5B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201168" y="192481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CONSTRUCCIÓN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64592" y="2043684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164592" y="2142439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201168" y="2043684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Terreno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478024" y="2043684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266.77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3621024" y="20436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514088" y="20436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64592" y="2146097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Shape 87"/>
          <p:cNvSpPr/>
          <p:nvPr/>
        </p:nvSpPr>
        <p:spPr>
          <a:xfrm>
            <a:off x="164592" y="2244852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Text 88"/>
          <p:cNvSpPr/>
          <p:nvPr/>
        </p:nvSpPr>
        <p:spPr>
          <a:xfrm>
            <a:off x="201168" y="2146097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Diseño y Proyecto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2478024" y="2146097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24.43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64592" y="2248510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164592" y="2347265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Text 92"/>
          <p:cNvSpPr/>
          <p:nvPr/>
        </p:nvSpPr>
        <p:spPr>
          <a:xfrm>
            <a:off x="201168" y="2248510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Urbanismo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2478024" y="2248510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51.54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3621024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9.95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514088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25.88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407152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19.02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300216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30.18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193280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22.13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086344" y="224851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27.73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164592" y="2350922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Shape 101"/>
          <p:cNvSpPr/>
          <p:nvPr/>
        </p:nvSpPr>
        <p:spPr>
          <a:xfrm>
            <a:off x="164592" y="2449678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Text 102"/>
          <p:cNvSpPr/>
          <p:nvPr/>
        </p:nvSpPr>
        <p:spPr>
          <a:xfrm>
            <a:off x="201168" y="2350922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Edificaciones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478024" y="2350922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85.98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3621024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109.68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514088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50.62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407152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58.72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300216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41.83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7193280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47.93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086344" y="2350922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31.47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64592" y="2453335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3" name="Shape 111"/>
          <p:cNvSpPr/>
          <p:nvPr/>
        </p:nvSpPr>
        <p:spPr>
          <a:xfrm>
            <a:off x="164592" y="2552090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4" name="Text 112"/>
          <p:cNvSpPr/>
          <p:nvPr/>
        </p:nvSpPr>
        <p:spPr>
          <a:xfrm>
            <a:off x="201168" y="2453335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 Gerencia de Construcción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2478024" y="2453335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40.16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3621024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514088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407152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6300216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7193280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8086344" y="2453335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5.28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64592" y="2555748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Shape 121"/>
          <p:cNvSpPr/>
          <p:nvPr/>
        </p:nvSpPr>
        <p:spPr>
          <a:xfrm>
            <a:off x="164592" y="2654503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Text 122"/>
          <p:cNvSpPr/>
          <p:nvPr/>
        </p:nvSpPr>
        <p:spPr>
          <a:xfrm>
            <a:off x="201168" y="2555748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 Indirectos de Obra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478024" y="2555748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7.52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3621024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514088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407152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6300216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7193280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8086344" y="255574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64592" y="2658161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Shape 131"/>
          <p:cNvSpPr/>
          <p:nvPr/>
        </p:nvSpPr>
        <p:spPr>
          <a:xfrm>
            <a:off x="164592" y="2756916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4" name="Text 132"/>
          <p:cNvSpPr/>
          <p:nvPr/>
        </p:nvSpPr>
        <p:spPr>
          <a:xfrm>
            <a:off x="201168" y="2658161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 Fondo de Contingencia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64592" y="2760574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6" name="Shape 134"/>
          <p:cNvSpPr/>
          <p:nvPr/>
        </p:nvSpPr>
        <p:spPr>
          <a:xfrm>
            <a:off x="164592" y="2859329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7" name="Text 135"/>
          <p:cNvSpPr/>
          <p:nvPr/>
        </p:nvSpPr>
        <p:spPr>
          <a:xfrm>
            <a:off x="201168" y="2760574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 Inspección Técnica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2478024" y="2760574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4.56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21024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4514088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407152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6300216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7193280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8086344" y="276057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64592" y="2862986"/>
            <a:ext cx="8814816" cy="1143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6" name="Shape 144"/>
          <p:cNvSpPr/>
          <p:nvPr/>
        </p:nvSpPr>
        <p:spPr>
          <a:xfrm>
            <a:off x="164592" y="2973629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7" name="Text 145"/>
          <p:cNvSpPr/>
          <p:nvPr/>
        </p:nvSpPr>
        <p:spPr>
          <a:xfrm>
            <a:off x="201168" y="2862986"/>
            <a:ext cx="2249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CONSTRUCCIÓN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478024" y="2862986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480.96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3621024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125.71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4514088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82.25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407152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82.21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6300216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76.48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7193280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74.53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086344" y="2862986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65.75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164592" y="2977286"/>
            <a:ext cx="8814816" cy="118872"/>
          </a:xfrm>
          <a:prstGeom prst="rect">
            <a:avLst/>
          </a:prstGeom>
          <a:solidFill>
            <a:srgbClr val="2E5B7A"/>
          </a:solidFill>
          <a:ln w="12700">
            <a:solidFill>
              <a:srgbClr val="2E5B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6" name="Text 154"/>
          <p:cNvSpPr/>
          <p:nvPr/>
        </p:nvSpPr>
        <p:spPr>
          <a:xfrm>
            <a:off x="201168" y="2977286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GASTOS OPERATIVOS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164592" y="3096158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8" name="Shape 156"/>
          <p:cNvSpPr/>
          <p:nvPr/>
        </p:nvSpPr>
        <p:spPr>
          <a:xfrm>
            <a:off x="164592" y="3194914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9" name="Text 157"/>
          <p:cNvSpPr/>
          <p:nvPr/>
        </p:nvSpPr>
        <p:spPr>
          <a:xfrm>
            <a:off x="201168" y="3096158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 Gerencia de la Promotora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2478024" y="3096158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26.84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3621024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4514088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5407152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6300216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endParaRPr lang="en-US" sz="700" dirty="0"/>
          </a:p>
        </p:txBody>
      </p:sp>
      <p:sp>
        <p:nvSpPr>
          <p:cNvPr id="165" name="Text 163"/>
          <p:cNvSpPr/>
          <p:nvPr/>
        </p:nvSpPr>
        <p:spPr>
          <a:xfrm>
            <a:off x="7193280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8086344" y="3096158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64592" y="3198571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8" name="Shape 166"/>
          <p:cNvSpPr/>
          <p:nvPr/>
        </p:nvSpPr>
        <p:spPr>
          <a:xfrm>
            <a:off x="164592" y="3297326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9" name="Text 167"/>
          <p:cNvSpPr/>
          <p:nvPr/>
        </p:nvSpPr>
        <p:spPr>
          <a:xfrm>
            <a:off x="201168" y="3198571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 Gerencia de Ventas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2478024" y="3198571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113.03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3621024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4514088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5407152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6300216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5" name="Text 173"/>
          <p:cNvSpPr/>
          <p:nvPr/>
        </p:nvSpPr>
        <p:spPr>
          <a:xfrm>
            <a:off x="7193280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6" name="Text 174"/>
          <p:cNvSpPr/>
          <p:nvPr/>
        </p:nvSpPr>
        <p:spPr>
          <a:xfrm>
            <a:off x="8086344" y="3198571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10.57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164592" y="3300984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8" name="Shape 176"/>
          <p:cNvSpPr/>
          <p:nvPr/>
        </p:nvSpPr>
        <p:spPr>
          <a:xfrm>
            <a:off x="164592" y="3399739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9" name="Text 177"/>
          <p:cNvSpPr/>
          <p:nvPr/>
        </p:nvSpPr>
        <p:spPr>
          <a:xfrm>
            <a:off x="201168" y="3300984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Administración Fiduciaria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478024" y="3300984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6.69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3621024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4514088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5407152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6300216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7193280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8086344" y="330098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164592" y="3403397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8" name="Shape 186"/>
          <p:cNvSpPr/>
          <p:nvPr/>
        </p:nvSpPr>
        <p:spPr>
          <a:xfrm>
            <a:off x="164592" y="3502152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9" name="Text 187"/>
          <p:cNvSpPr/>
          <p:nvPr/>
        </p:nvSpPr>
        <p:spPr>
          <a:xfrm>
            <a:off x="201168" y="3403397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Promoción y Publicidad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2478024" y="3403397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33.48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3621024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4514088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5407152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6300216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7193280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8086344" y="3403397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164592" y="3505810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8" name="Shape 196"/>
          <p:cNvSpPr/>
          <p:nvPr/>
        </p:nvSpPr>
        <p:spPr>
          <a:xfrm>
            <a:off x="164592" y="3604565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9" name="Text 197"/>
          <p:cNvSpPr/>
          <p:nvPr/>
        </p:nvSpPr>
        <p:spPr>
          <a:xfrm>
            <a:off x="201168" y="3505810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Post Ventas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164592" y="3608222"/>
            <a:ext cx="8814816" cy="1143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1" name="Shape 199"/>
          <p:cNvSpPr/>
          <p:nvPr/>
        </p:nvSpPr>
        <p:spPr>
          <a:xfrm>
            <a:off x="164592" y="3718865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2" name="Text 200"/>
          <p:cNvSpPr/>
          <p:nvPr/>
        </p:nvSpPr>
        <p:spPr>
          <a:xfrm>
            <a:off x="201168" y="3608222"/>
            <a:ext cx="2249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GASTOS OPERATIVOS</a:t>
            </a:r>
            <a:endParaRPr lang="en-US" sz="750" dirty="0"/>
          </a:p>
        </p:txBody>
      </p:sp>
      <p:sp>
        <p:nvSpPr>
          <p:cNvPr id="203" name="Text 201"/>
          <p:cNvSpPr/>
          <p:nvPr/>
        </p:nvSpPr>
        <p:spPr>
          <a:xfrm>
            <a:off x="2478024" y="3608222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180.04</a:t>
            </a:r>
            <a:endParaRPr lang="en-US" sz="750" dirty="0"/>
          </a:p>
        </p:txBody>
      </p:sp>
      <p:sp>
        <p:nvSpPr>
          <p:cNvPr id="204" name="Text 202"/>
          <p:cNvSpPr/>
          <p:nvPr/>
        </p:nvSpPr>
        <p:spPr>
          <a:xfrm>
            <a:off x="3621024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14.74</a:t>
            </a:r>
            <a:endParaRPr lang="en-US" sz="750" dirty="0"/>
          </a:p>
        </p:txBody>
      </p:sp>
      <p:sp>
        <p:nvSpPr>
          <p:cNvPr id="205" name="Text 203"/>
          <p:cNvSpPr/>
          <p:nvPr/>
        </p:nvSpPr>
        <p:spPr>
          <a:xfrm>
            <a:off x="4514088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14.74</a:t>
            </a:r>
            <a:endParaRPr lang="en-US" sz="750" dirty="0"/>
          </a:p>
        </p:txBody>
      </p:sp>
      <p:sp>
        <p:nvSpPr>
          <p:cNvPr id="206" name="Text 204"/>
          <p:cNvSpPr/>
          <p:nvPr/>
        </p:nvSpPr>
        <p:spPr>
          <a:xfrm>
            <a:off x="5407152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16.50</a:t>
            </a:r>
            <a:endParaRPr lang="en-US" sz="750" dirty="0"/>
          </a:p>
        </p:txBody>
      </p:sp>
      <p:sp>
        <p:nvSpPr>
          <p:cNvPr id="207" name="Text 205"/>
          <p:cNvSpPr/>
          <p:nvPr/>
        </p:nvSpPr>
        <p:spPr>
          <a:xfrm>
            <a:off x="6300216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16.50</a:t>
            </a:r>
            <a:endParaRPr lang="en-US" sz="750" dirty="0"/>
          </a:p>
        </p:txBody>
      </p:sp>
      <p:sp>
        <p:nvSpPr>
          <p:cNvPr id="208" name="Text 206"/>
          <p:cNvSpPr/>
          <p:nvPr/>
        </p:nvSpPr>
        <p:spPr>
          <a:xfrm>
            <a:off x="7193280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16.50</a:t>
            </a:r>
            <a:endParaRPr lang="en-US" sz="750" dirty="0"/>
          </a:p>
        </p:txBody>
      </p:sp>
      <p:sp>
        <p:nvSpPr>
          <p:cNvPr id="209" name="Text 207"/>
          <p:cNvSpPr/>
          <p:nvPr/>
        </p:nvSpPr>
        <p:spPr>
          <a:xfrm>
            <a:off x="8086344" y="3608222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17.84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164592" y="3722522"/>
            <a:ext cx="8814816" cy="118872"/>
          </a:xfrm>
          <a:prstGeom prst="rect">
            <a:avLst/>
          </a:prstGeom>
          <a:solidFill>
            <a:srgbClr val="2E5B7A"/>
          </a:solidFill>
          <a:ln w="12700">
            <a:solidFill>
              <a:srgbClr val="2E5B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1" name="Text 209"/>
          <p:cNvSpPr/>
          <p:nvPr/>
        </p:nvSpPr>
        <p:spPr>
          <a:xfrm>
            <a:off x="201168" y="372252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OTROS GASTOS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164592" y="3841394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3" name="Shape 211"/>
          <p:cNvSpPr/>
          <p:nvPr/>
        </p:nvSpPr>
        <p:spPr>
          <a:xfrm>
            <a:off x="164592" y="3940150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4" name="Text 212"/>
          <p:cNvSpPr/>
          <p:nvPr/>
        </p:nvSpPr>
        <p:spPr>
          <a:xfrm>
            <a:off x="201168" y="3841394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 Permisos y Preliminares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2478024" y="3841394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24.54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3621024" y="384139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217" name="Text 215"/>
          <p:cNvSpPr/>
          <p:nvPr/>
        </p:nvSpPr>
        <p:spPr>
          <a:xfrm>
            <a:off x="5407152" y="3841394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164592" y="3943807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9" name="Shape 217"/>
          <p:cNvSpPr/>
          <p:nvPr/>
        </p:nvSpPr>
        <p:spPr>
          <a:xfrm>
            <a:off x="164592" y="4042562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0" name="Text 218"/>
          <p:cNvSpPr/>
          <p:nvPr/>
        </p:nvSpPr>
        <p:spPr>
          <a:xfrm>
            <a:off x="201168" y="3943807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 Imprevistos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164592" y="4046220"/>
            <a:ext cx="8814816" cy="1024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2" name="Shape 220"/>
          <p:cNvSpPr/>
          <p:nvPr/>
        </p:nvSpPr>
        <p:spPr>
          <a:xfrm>
            <a:off x="164592" y="4144975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3" name="Text 221"/>
          <p:cNvSpPr/>
          <p:nvPr/>
        </p:nvSpPr>
        <p:spPr>
          <a:xfrm>
            <a:off x="201168" y="4046220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3-3 Gastos Financieros</a:t>
            </a:r>
            <a:endParaRPr lang="en-US" sz="700" dirty="0"/>
          </a:p>
        </p:txBody>
      </p:sp>
      <p:sp>
        <p:nvSpPr>
          <p:cNvPr id="224" name="Text 222"/>
          <p:cNvSpPr/>
          <p:nvPr/>
        </p:nvSpPr>
        <p:spPr>
          <a:xfrm>
            <a:off x="2478024" y="4046220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17.43</a:t>
            </a:r>
            <a:endParaRPr lang="en-US" sz="700" dirty="0"/>
          </a:p>
        </p:txBody>
      </p:sp>
      <p:sp>
        <p:nvSpPr>
          <p:cNvPr id="225" name="Text 223"/>
          <p:cNvSpPr/>
          <p:nvPr/>
        </p:nvSpPr>
        <p:spPr>
          <a:xfrm>
            <a:off x="3621024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4514088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4.94</a:t>
            </a:r>
            <a:endParaRPr lang="en-US" sz="700" dirty="0"/>
          </a:p>
        </p:txBody>
      </p:sp>
      <p:sp>
        <p:nvSpPr>
          <p:cNvPr id="227" name="Text 225"/>
          <p:cNvSpPr/>
          <p:nvPr/>
        </p:nvSpPr>
        <p:spPr>
          <a:xfrm>
            <a:off x="5407152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6.94</a:t>
            </a:r>
            <a:endParaRPr lang="en-US" sz="700" dirty="0"/>
          </a:p>
        </p:txBody>
      </p:sp>
      <p:sp>
        <p:nvSpPr>
          <p:cNvPr id="228" name="Text 226"/>
          <p:cNvSpPr/>
          <p:nvPr/>
        </p:nvSpPr>
        <p:spPr>
          <a:xfrm>
            <a:off x="6300216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</a:t>
            </a:r>
            <a:endParaRPr lang="en-US" sz="700" dirty="0"/>
          </a:p>
        </p:txBody>
      </p:sp>
      <p:sp>
        <p:nvSpPr>
          <p:cNvPr id="229" name="Text 227"/>
          <p:cNvSpPr/>
          <p:nvPr/>
        </p:nvSpPr>
        <p:spPr>
          <a:xfrm>
            <a:off x="7193280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</a:t>
            </a:r>
            <a:endParaRPr lang="en-US" sz="700" dirty="0"/>
          </a:p>
        </p:txBody>
      </p:sp>
      <p:sp>
        <p:nvSpPr>
          <p:cNvPr id="230" name="Text 228"/>
          <p:cNvSpPr/>
          <p:nvPr/>
        </p:nvSpPr>
        <p:spPr>
          <a:xfrm>
            <a:off x="8086344" y="4046220"/>
            <a:ext cx="89306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164592" y="4148633"/>
            <a:ext cx="8814816" cy="1143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2" name="Shape 230"/>
          <p:cNvSpPr/>
          <p:nvPr/>
        </p:nvSpPr>
        <p:spPr>
          <a:xfrm>
            <a:off x="164592" y="4259275"/>
            <a:ext cx="8814816" cy="3658"/>
          </a:xfrm>
          <a:prstGeom prst="rect">
            <a:avLst/>
          </a:prstGeom>
          <a:solidFill>
            <a:srgbClr val="C8D0DC"/>
          </a:solidFill>
          <a:ln w="12700">
            <a:solidFill>
              <a:srgbClr val="C8D0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3" name="Text 231"/>
          <p:cNvSpPr/>
          <p:nvPr/>
        </p:nvSpPr>
        <p:spPr>
          <a:xfrm>
            <a:off x="201168" y="4148633"/>
            <a:ext cx="2249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OTROS GASTOS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2478024" y="4148633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41.97</a:t>
            </a:r>
            <a:endParaRPr lang="en-US" sz="750" dirty="0"/>
          </a:p>
        </p:txBody>
      </p:sp>
      <p:sp>
        <p:nvSpPr>
          <p:cNvPr id="235" name="Text 233"/>
          <p:cNvSpPr/>
          <p:nvPr/>
        </p:nvSpPr>
        <p:spPr>
          <a:xfrm>
            <a:off x="3621024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750" dirty="0"/>
          </a:p>
        </p:txBody>
      </p:sp>
      <p:sp>
        <p:nvSpPr>
          <p:cNvPr id="236" name="Text 234"/>
          <p:cNvSpPr/>
          <p:nvPr/>
        </p:nvSpPr>
        <p:spPr>
          <a:xfrm>
            <a:off x="4514088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4.94</a:t>
            </a:r>
            <a:endParaRPr lang="en-US" sz="750" dirty="0"/>
          </a:p>
        </p:txBody>
      </p:sp>
      <p:sp>
        <p:nvSpPr>
          <p:cNvPr id="237" name="Text 235"/>
          <p:cNvSpPr/>
          <p:nvPr/>
        </p:nvSpPr>
        <p:spPr>
          <a:xfrm>
            <a:off x="5407152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7.34</a:t>
            </a:r>
            <a:endParaRPr lang="en-US" sz="750" dirty="0"/>
          </a:p>
        </p:txBody>
      </p:sp>
      <p:sp>
        <p:nvSpPr>
          <p:cNvPr id="238" name="Text 236"/>
          <p:cNvSpPr/>
          <p:nvPr/>
        </p:nvSpPr>
        <p:spPr>
          <a:xfrm>
            <a:off x="6300216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</a:t>
            </a:r>
            <a:endParaRPr lang="en-US" sz="750" dirty="0"/>
          </a:p>
        </p:txBody>
      </p:sp>
      <p:sp>
        <p:nvSpPr>
          <p:cNvPr id="239" name="Text 237"/>
          <p:cNvSpPr/>
          <p:nvPr/>
        </p:nvSpPr>
        <p:spPr>
          <a:xfrm>
            <a:off x="7193280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</a:t>
            </a:r>
            <a:endParaRPr lang="en-US" sz="750" dirty="0"/>
          </a:p>
        </p:txBody>
      </p:sp>
      <p:sp>
        <p:nvSpPr>
          <p:cNvPr id="240" name="Text 238"/>
          <p:cNvSpPr/>
          <p:nvPr/>
        </p:nvSpPr>
        <p:spPr>
          <a:xfrm>
            <a:off x="8086344" y="4148633"/>
            <a:ext cx="893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164592" y="4262933"/>
            <a:ext cx="8814816" cy="120701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2" name="Text 240"/>
          <p:cNvSpPr/>
          <p:nvPr/>
        </p:nvSpPr>
        <p:spPr>
          <a:xfrm>
            <a:off x="201168" y="4262933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GENERALES  RD$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2478024" y="4262933"/>
            <a:ext cx="1143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702.97</a:t>
            </a:r>
            <a:endParaRPr lang="en-US" sz="750" dirty="0"/>
          </a:p>
        </p:txBody>
      </p:sp>
      <p:sp>
        <p:nvSpPr>
          <p:cNvPr id="244" name="Text 242"/>
          <p:cNvSpPr/>
          <p:nvPr/>
        </p:nvSpPr>
        <p:spPr>
          <a:xfrm>
            <a:off x="3621024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143.70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4514088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101.93</a:t>
            </a:r>
            <a:endParaRPr lang="en-US" sz="700" dirty="0"/>
          </a:p>
        </p:txBody>
      </p:sp>
      <p:sp>
        <p:nvSpPr>
          <p:cNvPr id="246" name="Text 244"/>
          <p:cNvSpPr/>
          <p:nvPr/>
        </p:nvSpPr>
        <p:spPr>
          <a:xfrm>
            <a:off x="5407152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106.05</a:t>
            </a:r>
            <a:endParaRPr lang="en-US" sz="700" dirty="0"/>
          </a:p>
        </p:txBody>
      </p:sp>
      <p:sp>
        <p:nvSpPr>
          <p:cNvPr id="247" name="Text 245"/>
          <p:cNvSpPr/>
          <p:nvPr/>
        </p:nvSpPr>
        <p:spPr>
          <a:xfrm>
            <a:off x="6300216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96.70</a:t>
            </a:r>
            <a:endParaRPr lang="en-US" sz="700" dirty="0"/>
          </a:p>
        </p:txBody>
      </p:sp>
      <p:sp>
        <p:nvSpPr>
          <p:cNvPr id="248" name="Text 246"/>
          <p:cNvSpPr/>
          <p:nvPr/>
        </p:nvSpPr>
        <p:spPr>
          <a:xfrm>
            <a:off x="7193280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96.02</a:t>
            </a:r>
            <a:endParaRPr lang="en-US" sz="700" dirty="0"/>
          </a:p>
        </p:txBody>
      </p:sp>
      <p:sp>
        <p:nvSpPr>
          <p:cNvPr id="249" name="Text 247"/>
          <p:cNvSpPr/>
          <p:nvPr/>
        </p:nvSpPr>
        <p:spPr>
          <a:xfrm>
            <a:off x="8086344" y="4262933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87.99</a:t>
            </a:r>
            <a:endParaRPr lang="en-US" sz="700" dirty="0"/>
          </a:p>
        </p:txBody>
      </p:sp>
      <p:sp>
        <p:nvSpPr>
          <p:cNvPr id="250" name="Shape 248"/>
          <p:cNvSpPr/>
          <p:nvPr/>
        </p:nvSpPr>
        <p:spPr>
          <a:xfrm>
            <a:off x="164592" y="4383634"/>
            <a:ext cx="8814816" cy="120701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1" name="Text 249"/>
          <p:cNvSpPr/>
          <p:nvPr/>
        </p:nvSpPr>
        <p:spPr>
          <a:xfrm>
            <a:off x="201168" y="4383634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GENERALES  ACUMULADOS RD$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3621024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846.61</a:t>
            </a:r>
            <a:endParaRPr lang="en-US" sz="700" dirty="0"/>
          </a:p>
        </p:txBody>
      </p:sp>
      <p:sp>
        <p:nvSpPr>
          <p:cNvPr id="253" name="Text 251"/>
          <p:cNvSpPr/>
          <p:nvPr/>
        </p:nvSpPr>
        <p:spPr>
          <a:xfrm>
            <a:off x="4514088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948.54</a:t>
            </a:r>
            <a:endParaRPr lang="en-US" sz="700" dirty="0"/>
          </a:p>
        </p:txBody>
      </p:sp>
      <p:sp>
        <p:nvSpPr>
          <p:cNvPr id="254" name="Text 252"/>
          <p:cNvSpPr/>
          <p:nvPr/>
        </p:nvSpPr>
        <p:spPr>
          <a:xfrm>
            <a:off x="5407152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1,054.59</a:t>
            </a:r>
            <a:endParaRPr lang="en-US" sz="700" dirty="0"/>
          </a:p>
        </p:txBody>
      </p:sp>
      <p:sp>
        <p:nvSpPr>
          <p:cNvPr id="255" name="Text 253"/>
          <p:cNvSpPr/>
          <p:nvPr/>
        </p:nvSpPr>
        <p:spPr>
          <a:xfrm>
            <a:off x="6300216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1,151.29</a:t>
            </a:r>
            <a:endParaRPr lang="en-US" sz="700" dirty="0"/>
          </a:p>
        </p:txBody>
      </p:sp>
      <p:sp>
        <p:nvSpPr>
          <p:cNvPr id="256" name="Text 254"/>
          <p:cNvSpPr/>
          <p:nvPr/>
        </p:nvSpPr>
        <p:spPr>
          <a:xfrm>
            <a:off x="7193280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1,247.31</a:t>
            </a:r>
            <a:endParaRPr lang="en-US" sz="700" dirty="0"/>
          </a:p>
        </p:txBody>
      </p:sp>
      <p:sp>
        <p:nvSpPr>
          <p:cNvPr id="257" name="Text 255"/>
          <p:cNvSpPr/>
          <p:nvPr/>
        </p:nvSpPr>
        <p:spPr>
          <a:xfrm>
            <a:off x="8086344" y="4383634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1,335.31</a:t>
            </a:r>
            <a:endParaRPr lang="en-US" sz="700" dirty="0"/>
          </a:p>
        </p:txBody>
      </p:sp>
      <p:sp>
        <p:nvSpPr>
          <p:cNvPr id="258" name="Shape 256"/>
          <p:cNvSpPr/>
          <p:nvPr/>
        </p:nvSpPr>
        <p:spPr>
          <a:xfrm>
            <a:off x="164592" y="4504334"/>
            <a:ext cx="8814816" cy="102413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9" name="Text 257"/>
          <p:cNvSpPr/>
          <p:nvPr/>
        </p:nvSpPr>
        <p:spPr>
          <a:xfrm>
            <a:off x="201168" y="4504334"/>
            <a:ext cx="224942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cuentas por pagar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2478024" y="4504334"/>
            <a:ext cx="114300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</a:t>
            </a:r>
            <a:endParaRPr lang="en-US" sz="650" dirty="0"/>
          </a:p>
        </p:txBody>
      </p:sp>
      <p:sp>
        <p:nvSpPr>
          <p:cNvPr id="261" name="Shape 259"/>
          <p:cNvSpPr/>
          <p:nvPr/>
        </p:nvSpPr>
        <p:spPr>
          <a:xfrm>
            <a:off x="164592" y="4606747"/>
            <a:ext cx="8814816" cy="120701"/>
          </a:xfrm>
          <a:prstGeom prst="rect">
            <a:avLst/>
          </a:prstGeom>
          <a:solidFill>
            <a:srgbClr val="0D1E0A"/>
          </a:solidFill>
          <a:ln w="12700">
            <a:solidFill>
              <a:srgbClr val="0D1E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2" name="Text 260"/>
          <p:cNvSpPr/>
          <p:nvPr/>
        </p:nvSpPr>
        <p:spPr>
          <a:xfrm>
            <a:off x="201168" y="4606747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 (Ingresos − Costos)  RD$</a:t>
            </a:r>
            <a:endParaRPr lang="en-US" sz="750" dirty="0"/>
          </a:p>
        </p:txBody>
      </p:sp>
      <p:sp>
        <p:nvSpPr>
          <p:cNvPr id="263" name="Text 261"/>
          <p:cNvSpPr/>
          <p:nvPr/>
        </p:nvSpPr>
        <p:spPr>
          <a:xfrm>
            <a:off x="2478024" y="4606747"/>
            <a:ext cx="1143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49.20</a:t>
            </a:r>
            <a:endParaRPr lang="en-US" sz="750" dirty="0"/>
          </a:p>
        </p:txBody>
      </p:sp>
      <p:sp>
        <p:nvSpPr>
          <p:cNvPr id="264" name="Text 262"/>
          <p:cNvSpPr/>
          <p:nvPr/>
        </p:nvSpPr>
        <p:spPr>
          <a:xfrm>
            <a:off x="3621024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(25.70)</a:t>
            </a:r>
            <a:endParaRPr lang="en-US" sz="700" dirty="0"/>
          </a:p>
        </p:txBody>
      </p:sp>
      <p:sp>
        <p:nvSpPr>
          <p:cNvPr id="265" name="Text 263"/>
          <p:cNvSpPr/>
          <p:nvPr/>
        </p:nvSpPr>
        <p:spPr>
          <a:xfrm>
            <a:off x="4514088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16.07</a:t>
            </a:r>
            <a:endParaRPr lang="en-US" sz="700" dirty="0"/>
          </a:p>
        </p:txBody>
      </p:sp>
      <p:sp>
        <p:nvSpPr>
          <p:cNvPr id="266" name="Text 264"/>
          <p:cNvSpPr/>
          <p:nvPr/>
        </p:nvSpPr>
        <p:spPr>
          <a:xfrm>
            <a:off x="5407152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(98.05)</a:t>
            </a:r>
            <a:endParaRPr lang="en-US" sz="700" dirty="0"/>
          </a:p>
        </p:txBody>
      </p:sp>
      <p:sp>
        <p:nvSpPr>
          <p:cNvPr id="267" name="Text 265"/>
          <p:cNvSpPr/>
          <p:nvPr/>
        </p:nvSpPr>
        <p:spPr>
          <a:xfrm>
            <a:off x="6300216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(78.70)</a:t>
            </a:r>
            <a:endParaRPr lang="en-US" sz="700" dirty="0"/>
          </a:p>
        </p:txBody>
      </p:sp>
      <p:sp>
        <p:nvSpPr>
          <p:cNvPr id="268" name="Text 266"/>
          <p:cNvSpPr/>
          <p:nvPr/>
        </p:nvSpPr>
        <p:spPr>
          <a:xfrm>
            <a:off x="7193280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81.98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8086344" y="4606747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(69.99)</a:t>
            </a:r>
            <a:endParaRPr lang="en-US" sz="700" dirty="0"/>
          </a:p>
        </p:txBody>
      </p:sp>
      <p:sp>
        <p:nvSpPr>
          <p:cNvPr id="270" name="Shape 268"/>
          <p:cNvSpPr/>
          <p:nvPr/>
        </p:nvSpPr>
        <p:spPr>
          <a:xfrm>
            <a:off x="164592" y="4727448"/>
            <a:ext cx="8814816" cy="120701"/>
          </a:xfrm>
          <a:prstGeom prst="rect">
            <a:avLst/>
          </a:prstGeom>
          <a:solidFill>
            <a:srgbClr val="070F06"/>
          </a:solidFill>
          <a:ln w="12700">
            <a:solidFill>
              <a:srgbClr val="070F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1" name="Text 269"/>
          <p:cNvSpPr/>
          <p:nvPr/>
        </p:nvSpPr>
        <p:spPr>
          <a:xfrm>
            <a:off x="201168" y="4727448"/>
            <a:ext cx="224942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 (Ingresos − Costos)  RD$ Acumulados</a:t>
            </a:r>
            <a:endParaRPr lang="en-US" sz="750" dirty="0"/>
          </a:p>
        </p:txBody>
      </p:sp>
      <p:sp>
        <p:nvSpPr>
          <p:cNvPr id="272" name="Text 270"/>
          <p:cNvSpPr/>
          <p:nvPr/>
        </p:nvSpPr>
        <p:spPr>
          <a:xfrm>
            <a:off x="2478024" y="4727448"/>
            <a:ext cx="1143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23.50</a:t>
            </a:r>
            <a:endParaRPr lang="en-US" sz="750" dirty="0"/>
          </a:p>
        </p:txBody>
      </p:sp>
      <p:sp>
        <p:nvSpPr>
          <p:cNvPr id="273" name="Text 271"/>
          <p:cNvSpPr/>
          <p:nvPr/>
        </p:nvSpPr>
        <p:spPr>
          <a:xfrm>
            <a:off x="3621024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23.50</a:t>
            </a:r>
            <a:endParaRPr lang="en-US" sz="700" dirty="0"/>
          </a:p>
        </p:txBody>
      </p:sp>
      <p:sp>
        <p:nvSpPr>
          <p:cNvPr id="274" name="Text 272"/>
          <p:cNvSpPr/>
          <p:nvPr/>
        </p:nvSpPr>
        <p:spPr>
          <a:xfrm>
            <a:off x="4514088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39.57</a:t>
            </a:r>
            <a:endParaRPr lang="en-US" sz="700" dirty="0"/>
          </a:p>
        </p:txBody>
      </p:sp>
      <p:sp>
        <p:nvSpPr>
          <p:cNvPr id="275" name="Text 273"/>
          <p:cNvSpPr/>
          <p:nvPr/>
        </p:nvSpPr>
        <p:spPr>
          <a:xfrm>
            <a:off x="5407152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(58.48)</a:t>
            </a:r>
            <a:endParaRPr lang="en-US" sz="700" dirty="0"/>
          </a:p>
        </p:txBody>
      </p:sp>
      <p:sp>
        <p:nvSpPr>
          <p:cNvPr id="276" name="Text 274"/>
          <p:cNvSpPr/>
          <p:nvPr/>
        </p:nvSpPr>
        <p:spPr>
          <a:xfrm>
            <a:off x="6300216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(137.18)</a:t>
            </a:r>
            <a:endParaRPr lang="en-US" sz="700" dirty="0"/>
          </a:p>
        </p:txBody>
      </p:sp>
      <p:sp>
        <p:nvSpPr>
          <p:cNvPr id="277" name="Text 275"/>
          <p:cNvSpPr/>
          <p:nvPr/>
        </p:nvSpPr>
        <p:spPr>
          <a:xfrm>
            <a:off x="7193280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(55.20)</a:t>
            </a:r>
            <a:endParaRPr lang="en-US" sz="700" dirty="0"/>
          </a:p>
        </p:txBody>
      </p:sp>
      <p:sp>
        <p:nvSpPr>
          <p:cNvPr id="278" name="Text 276"/>
          <p:cNvSpPr/>
          <p:nvPr/>
        </p:nvSpPr>
        <p:spPr>
          <a:xfrm>
            <a:off x="8086344" y="4727448"/>
            <a:ext cx="89306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(125.20)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164592" y="5006340"/>
            <a:ext cx="8814816" cy="10973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0" name="Text 278"/>
          <p:cNvSpPr/>
          <p:nvPr/>
        </p:nvSpPr>
        <p:spPr>
          <a:xfrm>
            <a:off x="164592" y="5022799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Junio 2026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63C3-54D6-6257-09C1-835B572D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20">
                <a:solidFill>
                  <a:srgbClr val="C9A961"/>
                </a:solidFill>
                <a:latin typeface="Calibri"/>
              </a:rPr>
              <a:t>INFORME FINANCIERO  ·  GESTIONES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0B1F3A"/>
                </a:solidFill>
                <a:latin typeface="Georgia"/>
              </a:rPr>
              <a:t>Gestiones Financieras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05256"/>
            <a:ext cx="365760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4837176"/>
            <a:ext cx="8430768" cy="12801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347472" y="4940212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60" dirty="0">
                <a:solidFill>
                  <a:srgbClr val="6B7280"/>
                </a:solidFill>
                <a:latin typeface="Calibri"/>
              </a:rPr>
              <a:t>PROYECTO ARAYA    ·    Informe Financiero    ·    </a:t>
            </a:r>
            <a:r>
              <a:rPr lang="es-DO" sz="800" spc="60" dirty="0">
                <a:solidFill>
                  <a:srgbClr val="6B7280"/>
                </a:solidFill>
                <a:latin typeface="Calibri"/>
              </a:rPr>
              <a:t>Junio</a:t>
            </a:r>
            <a:r>
              <a:rPr sz="800" b="0" i="0" spc="60" dirty="0">
                <a:solidFill>
                  <a:srgbClr val="6B7280"/>
                </a:solidFill>
                <a:latin typeface="Calibri"/>
              </a:rPr>
              <a:t>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22282"/>
            <a:ext cx="8412480" cy="1184870"/>
          </a:xfrm>
          <a:prstGeom prst="rect">
            <a:avLst/>
          </a:prstGeom>
          <a:solidFill>
            <a:srgbClr val="06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22282"/>
            <a:ext cx="64008" cy="118487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11372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9A961"/>
                </a:solidFill>
                <a:latin typeface="Georgia"/>
              </a:rPr>
              <a:t>IFC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39914"/>
            <a:ext cx="8046720" cy="7884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 dirty="0" err="1">
                <a:solidFill>
                  <a:srgbClr val="FFFFFF"/>
                </a:solidFill>
                <a:latin typeface="Calibri"/>
              </a:rPr>
              <a:t>Financiamiento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aprobado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. En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proceso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formalización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: </a:t>
            </a:r>
            <a:endParaRPr lang="es-DO" sz="1200" b="1" i="0" dirty="0">
              <a:solidFill>
                <a:srgbClr val="FFFFFF"/>
              </a:solidFill>
              <a:latin typeface="Calibri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s-DO" sz="1200" b="1" dirty="0">
                <a:solidFill>
                  <a:srgbClr val="FFFFFF"/>
                </a:solidFill>
                <a:latin typeface="Calibri"/>
              </a:rPr>
              <a:t>D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ebida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diligencia por abogados locales</a:t>
            </a:r>
            <a:endParaRPr lang="es-DO" sz="1200" b="1" i="0" dirty="0">
              <a:solidFill>
                <a:srgbClr val="FFFFFF"/>
              </a:solidFill>
              <a:latin typeface="Calibri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s-DO" sz="1200" b="1" dirty="0">
                <a:solidFill>
                  <a:srgbClr val="FFFFFF"/>
                </a:solidFill>
                <a:latin typeface="Calibri"/>
              </a:rPr>
              <a:t>F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irma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contrato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crédito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y primer </a:t>
            </a:r>
            <a:endParaRPr lang="es-DO" sz="1200" b="1" i="0" dirty="0">
              <a:solidFill>
                <a:srgbClr val="FFFFFF"/>
              </a:solidFill>
              <a:latin typeface="Calibri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s-DO" sz="1200" b="1" dirty="0">
                <a:solidFill>
                  <a:srgbClr val="FFFFFF"/>
                </a:solidFill>
                <a:latin typeface="Calibri"/>
              </a:rPr>
              <a:t>D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esembolso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previsto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julio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02306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80">
                <a:solidFill>
                  <a:srgbClr val="0B1F3A"/>
                </a:solidFill>
                <a:latin typeface="Calibri"/>
              </a:rPr>
              <a:t>GESTIONES CON BANCA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06624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02920" y="279259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40">
                <a:solidFill>
                  <a:srgbClr val="0B1F3A"/>
                </a:solidFill>
                <a:latin typeface="Calibri"/>
              </a:rPr>
              <a:t>ALNAP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04141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Preaprobación por DOP 1,400 millones. A la espera del permiso definitivo y título de terreno.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18104"/>
            <a:ext cx="8412480" cy="356616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02920" y="320407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40">
                <a:solidFill>
                  <a:srgbClr val="0B1F3A"/>
                </a:solidFill>
                <a:latin typeface="Calibri"/>
              </a:rPr>
              <a:t>BLDH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215621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Aprobación de la primera fase por DOP 495 millones. A la espera del permiso definitivo y título.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502920" y="361555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40">
                <a:solidFill>
                  <a:srgbClr val="0B1F3A"/>
                </a:solidFill>
                <a:latin typeface="Calibri"/>
              </a:rPr>
              <a:t>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627101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Preaprobación de la primera fase por DOP 500 millones.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41064"/>
            <a:ext cx="8412480" cy="356616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502920" y="402703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40">
                <a:solidFill>
                  <a:srgbClr val="0B1F3A"/>
                </a:solidFill>
                <a:latin typeface="Calibri"/>
              </a:rPr>
              <a:t>SANTA CRUZ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038581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En revisión. Preaprobación de DOP 440 millones para la Fase 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52544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02920" y="4438519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40">
                <a:solidFill>
                  <a:srgbClr val="0B1F3A"/>
                </a:solidFill>
                <a:latin typeface="Calibri"/>
              </a:rPr>
              <a:t>ALAVER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450061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74151"/>
                </a:solidFill>
                <a:latin typeface="Calibri"/>
              </a:rPr>
              <a:t>Evaluando ampliación de la línea de crédito a DOP 300 millones como previsión ante retrasos del IFC.</a:t>
            </a:r>
          </a:p>
        </p:txBody>
      </p:sp>
    </p:spTree>
    <p:extLst>
      <p:ext uri="{BB962C8B-B14F-4D97-AF65-F5344CB8AC3E}">
        <p14:creationId xmlns:p14="http://schemas.microsoft.com/office/powerpoint/2010/main" val="701719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2B2A-9813-85D7-1D53-F17F519E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743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220">
                <a:solidFill>
                  <a:srgbClr val="C9A961"/>
                </a:solidFill>
                <a:latin typeface="Calibri"/>
              </a:rPr>
              <a:t>CIERRE  · 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57200"/>
            <a:ext cx="8430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0B1F3A"/>
                </a:solidFill>
                <a:latin typeface="Georgia"/>
              </a:rPr>
              <a:t>Puntos para Aprobación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05256"/>
            <a:ext cx="365760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4837176"/>
            <a:ext cx="8430768" cy="12801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4940212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60" dirty="0">
                <a:solidFill>
                  <a:srgbClr val="6B7280"/>
                </a:solidFill>
                <a:latin typeface="Calibri"/>
              </a:rPr>
              <a:t>PROYECTO ARAYA    ·    Informe General    ·    </a:t>
            </a:r>
            <a:r>
              <a:rPr lang="es-DO" sz="800" spc="60" dirty="0">
                <a:solidFill>
                  <a:srgbClr val="6B7280"/>
                </a:solidFill>
                <a:latin typeface="Calibri"/>
              </a:rPr>
              <a:t>Junio</a:t>
            </a:r>
            <a:r>
              <a:rPr sz="800" b="0" i="0" spc="60" dirty="0">
                <a:solidFill>
                  <a:srgbClr val="6B7280"/>
                </a:solidFill>
                <a:latin typeface="Calibri"/>
              </a:rPr>
              <a:t>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841248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Georgia"/>
              </a:rPr>
              <a:t>Línea de Crédito AFI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95728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374151"/>
                </a:solidFill>
                <a:latin typeface="Calibri"/>
              </a:rPr>
              <a:t>Monto </a:t>
            </a:r>
            <a:r>
              <a:rPr sz="1200" b="0" i="0" dirty="0" err="1">
                <a:solidFill>
                  <a:srgbClr val="374151"/>
                </a:solidFill>
                <a:latin typeface="Calibri"/>
              </a:rPr>
              <a:t>solicitado</a:t>
            </a:r>
            <a:r>
              <a:rPr sz="1200" b="0" i="0" dirty="0">
                <a:solidFill>
                  <a:srgbClr val="374151"/>
                </a:solidFill>
                <a:latin typeface="Calibri"/>
              </a:rPr>
              <a:t> para </a:t>
            </a:r>
            <a:r>
              <a:rPr sz="1200" b="0" i="0" dirty="0" err="1">
                <a:solidFill>
                  <a:srgbClr val="374151"/>
                </a:solidFill>
                <a:latin typeface="Calibri"/>
              </a:rPr>
              <a:t>aprobación</a:t>
            </a:r>
            <a:r>
              <a:rPr sz="1200" b="0" i="0" dirty="0">
                <a:solidFill>
                  <a:srgbClr val="374151"/>
                </a:solidFill>
                <a:latin typeface="Calibri"/>
              </a:rPr>
              <a:t>: RD$ 100 </a:t>
            </a:r>
            <a:r>
              <a:rPr sz="1200" b="0" i="0" dirty="0" err="1">
                <a:solidFill>
                  <a:srgbClr val="374151"/>
                </a:solidFill>
                <a:latin typeface="Calibri"/>
              </a:rPr>
              <a:t>millones</a:t>
            </a:r>
            <a:r>
              <a:rPr sz="1200" b="0" i="0" dirty="0">
                <a:solidFill>
                  <a:srgbClr val="374151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1017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ray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34440"/>
            <a:ext cx="3108960" cy="798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60520" y="2514600"/>
            <a:ext cx="822960" cy="4114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360">
                <a:solidFill>
                  <a:srgbClr val="C9A961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7315200" cy="479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@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arayapuntacana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20000"/>
              </a:lnSpc>
            </a:pPr>
            <a:r>
              <a:rPr sz="1200" b="0" i="0" dirty="0" err="1">
                <a:solidFill>
                  <a:srgbClr val="CADCFC"/>
                </a:solidFill>
                <a:latin typeface="Calibri"/>
              </a:rPr>
              <a:t>www.arayapuntacana.com</a:t>
            </a:r>
            <a:endParaRPr sz="1200" b="0" i="0" dirty="0">
              <a:solidFill>
                <a:srgbClr val="CADCF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354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4108</Words>
  <Application>Microsoft Office PowerPoint</Application>
  <PresentationFormat>Presentación en pantalla (16:9)</PresentationFormat>
  <Paragraphs>1010</Paragraphs>
  <Slides>37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4" baseType="lpstr">
      <vt:lpstr>Arial</vt:lpstr>
      <vt:lpstr>Calibri</vt:lpstr>
      <vt:lpstr>Cambria</vt:lpstr>
      <vt:lpstr>Fahkwang</vt:lpstr>
      <vt:lpstr>Georgia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Reservas Totales</vt:lpstr>
      <vt:lpstr>Presentación de PowerPoint</vt:lpstr>
      <vt:lpstr>Presentación de PowerPoint</vt:lpstr>
      <vt:lpstr> </vt:lpstr>
      <vt:lpstr> </vt:lpstr>
      <vt:lpstr>Presentación de PowerPoint</vt:lpstr>
      <vt:lpstr>Presentación de PowerPoint</vt:lpstr>
      <vt:lpstr>Presentación de PowerPoint</vt:lpstr>
      <vt:lpstr>Presentación de PowerPoint</vt:lpstr>
      <vt:lpstr>Comentarios Generales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Antonely Villalona</cp:lastModifiedBy>
  <cp:revision>2</cp:revision>
  <dcterms:created xsi:type="dcterms:W3CDTF">2026-07-14T15:36:38Z</dcterms:created>
  <dcterms:modified xsi:type="dcterms:W3CDTF">2026-07-16T21:06:04Z</dcterms:modified>
</cp:coreProperties>
</file>