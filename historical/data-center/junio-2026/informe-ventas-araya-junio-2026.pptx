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90" r:id="rId6"/>
    <p:sldId id="289" r:id="rId7"/>
    <p:sldId id="260" r:id="rId8"/>
    <p:sldId id="269" r:id="rId9"/>
    <p:sldId id="278" r:id="rId10"/>
    <p:sldId id="292" r:id="rId11"/>
    <p:sldId id="280" r:id="rId12"/>
    <p:sldId id="263" r:id="rId13"/>
    <p:sldId id="26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7"/>
    <p:restoredTop sz="94658" autoAdjust="0"/>
  </p:normalViewPr>
  <p:slideViewPr>
    <p:cSldViewPr>
      <p:cViewPr varScale="1">
        <p:scale>
          <a:sx n="78" d="100"/>
          <a:sy n="78" d="100"/>
        </p:scale>
        <p:origin x="130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y Villalona" userId="26acd9b0-757c-45d2-bdf1-b43b683da2aa" providerId="ADAL" clId="{7B0469CB-2711-4ED7-949B-6C08E56E0017}"/>
    <pc:docChg chg="modSld">
      <pc:chgData name="Antonely Villalona" userId="26acd9b0-757c-45d2-bdf1-b43b683da2aa" providerId="ADAL" clId="{7B0469CB-2711-4ED7-949B-6C08E56E0017}" dt="2026-07-29T12:48:50.050" v="0" actId="1076"/>
      <pc:docMkLst>
        <pc:docMk/>
      </pc:docMkLst>
      <pc:sldChg chg="modSp mod">
        <pc:chgData name="Antonely Villalona" userId="26acd9b0-757c-45d2-bdf1-b43b683da2aa" providerId="ADAL" clId="{7B0469CB-2711-4ED7-949B-6C08E56E0017}" dt="2026-07-29T12:48:50.050" v="0" actId="1076"/>
        <pc:sldMkLst>
          <pc:docMk/>
          <pc:sldMk cId="0" sldId="260"/>
        </pc:sldMkLst>
        <pc:picChg chg="mod">
          <ac:chgData name="Antonely Villalona" userId="26acd9b0-757c-45d2-bdf1-b43b683da2aa" providerId="ADAL" clId="{7B0469CB-2711-4ED7-949B-6C08E56E0017}" dt="2026-07-29T12:48:50.050" v="0" actId="1076"/>
          <ac:picMkLst>
            <pc:docMk/>
            <pc:sldMk cId="0" sldId="260"/>
            <ac:picMk id="10" creationId="{172171CB-7116-3DC7-A88B-78FA78B37E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74869-755F-6F4B-B50B-958F87FEEEE2}" type="datetimeFigureOut">
              <a:rPr lang="es-ES_tradnl" smtClean="0"/>
              <a:t>29/07/2026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46515-30C5-F64D-B2AF-070179D2C92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069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5C6E-8139-A966-0933-57B39FB2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0BB8C-4019-E1BB-47BD-B4A348BB7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60972-6CC3-6318-558C-AF3C7B384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5F8D0-FF94-055A-52BF-6B9EFBDC7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E46515-30C5-F64D-B2AF-070179D2C920}" type="slidenum">
              <a:rPr kumimoji="0" lang="es-ES_tradnl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8143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E46515-30C5-F64D-B2AF-070179D2C920}" type="slidenum">
              <a:rPr kumimoji="0" lang="es-ES_tradnl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_tradnl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5494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3810"/>
            <a:ext cx="5497195" cy="518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9" y="616908"/>
            <a:ext cx="5903621" cy="978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94AB3-E3EC-0040-7A4D-C261FB9BC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EB2973-3274-CA40-3239-B3DA64B3B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A681BB-D8C5-48C6-8288-F76C94D6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BBF8-274E-415C-8F99-AC458F687D58}" type="datetimeFigureOut">
              <a:rPr lang="es-DO" smtClean="0"/>
              <a:t>29/7/2026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7FB5AF-7028-8147-1000-0D47F1081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1E94D-989A-458D-7541-42962F5B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BB35-FEE7-4A29-8CF2-A1AED01D35B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06060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444"/>
            <a:ext cx="4782185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62200"/>
            <a:ext cx="6410324" cy="18859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9600" y="4395406"/>
            <a:ext cx="5800723" cy="746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ts val="2865"/>
              </a:lnSpc>
              <a:spcBef>
                <a:spcPts val="100"/>
              </a:spcBef>
            </a:pPr>
            <a:r>
              <a:rPr sz="2400" spc="-90" dirty="0">
                <a:latin typeface="Fahkwang" pitchFamily="2" charset="-34"/>
                <a:cs typeface="Fahkwang" pitchFamily="2" charset="-34"/>
              </a:rPr>
              <a:t>Informe</a:t>
            </a:r>
            <a:r>
              <a:rPr sz="2400" spc="-190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spc="50" dirty="0">
                <a:latin typeface="Fahkwang" pitchFamily="2" charset="-34"/>
                <a:cs typeface="Fahkwang" pitchFamily="2" charset="-34"/>
              </a:rPr>
              <a:t>de</a:t>
            </a:r>
            <a:r>
              <a:rPr sz="2400" spc="-190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dirty="0">
                <a:latin typeface="Fahkwang" pitchFamily="2" charset="-34"/>
                <a:cs typeface="Fahkwang" pitchFamily="2" charset="-34"/>
              </a:rPr>
              <a:t>Ventas</a:t>
            </a:r>
            <a:r>
              <a:rPr sz="2400" spc="-175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spc="135" dirty="0">
                <a:latin typeface="Fahkwang" pitchFamily="2" charset="-34"/>
                <a:cs typeface="Fahkwang" pitchFamily="2" charset="-34"/>
              </a:rPr>
              <a:t>ARAYA</a:t>
            </a:r>
            <a:r>
              <a:rPr sz="2400" spc="-160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spc="-305" dirty="0">
                <a:latin typeface="Fahkwang" pitchFamily="2" charset="-34"/>
                <a:cs typeface="Fahkwang" pitchFamily="2" charset="-34"/>
              </a:rPr>
              <a:t>I</a:t>
            </a:r>
            <a:endParaRPr lang="en-US" sz="2400" dirty="0">
              <a:latin typeface="Fahkwang" pitchFamily="2" charset="-34"/>
              <a:cs typeface="Fahkwang" pitchFamily="2" charset="-34"/>
            </a:endParaRPr>
          </a:p>
          <a:p>
            <a:pPr marL="2440305" algn="r">
              <a:lnSpc>
                <a:spcPts val="2865"/>
              </a:lnSpc>
            </a:pPr>
            <a:r>
              <a:rPr lang="en-US" sz="2400" b="1" spc="-114" dirty="0">
                <a:latin typeface="Fahkwang" pitchFamily="2" charset="-34"/>
                <a:cs typeface="Fahkwang" pitchFamily="2" charset="-34"/>
              </a:rPr>
              <a:t>JUNIO </a:t>
            </a:r>
            <a:r>
              <a:rPr lang="en-US" sz="2400" b="1" spc="65" dirty="0">
                <a:latin typeface="Fahkwang" pitchFamily="2" charset="-34"/>
                <a:cs typeface="Fahkwang" pitchFamily="2" charset="-34"/>
              </a:rPr>
              <a:t>2026</a:t>
            </a:r>
            <a:endParaRPr lang="en-US" sz="2400" b="1" dirty="0">
              <a:latin typeface="Fahkwang" pitchFamily="2" charset="-34"/>
              <a:cs typeface="Fahkwang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4FB8B37-EA80-921F-87A6-E552C541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8" t="5151" r="7182" b="4430"/>
          <a:stretch>
            <a:fillRect/>
          </a:stretch>
        </p:blipFill>
        <p:spPr>
          <a:xfrm>
            <a:off x="356552" y="727143"/>
            <a:ext cx="3383732" cy="25526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spc="-33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pc="-10" dirty="0" err="1">
                <a:latin typeface="Fahkwang" pitchFamily="2" charset="-34"/>
                <a:cs typeface="Fahkwang" pitchFamily="2" charset="-34"/>
              </a:rPr>
              <a:t>Totales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9BD3D-4223-76EF-6B4B-25131A18512A}"/>
              </a:ext>
            </a:extLst>
          </p:cNvPr>
          <p:cNvSpPr txBox="1"/>
          <p:nvPr/>
        </p:nvSpPr>
        <p:spPr>
          <a:xfrm>
            <a:off x="3248477" y="727143"/>
            <a:ext cx="188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Ariel Grasso</a:t>
            </a:r>
            <a:endParaRPr lang="es-ES_tradnl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A9D43-F4C5-EDA6-7957-3FBF5809B15E}"/>
              </a:ext>
            </a:extLst>
          </p:cNvPr>
          <p:cNvSpPr txBox="1"/>
          <p:nvPr/>
        </p:nvSpPr>
        <p:spPr>
          <a:xfrm>
            <a:off x="2538177" y="3362153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Punta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Cana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Solution</a:t>
            </a:r>
            <a:endParaRPr lang="es-ES_tradnl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B4636-F47A-36CE-47F4-B056C72EDE28}"/>
              </a:ext>
            </a:extLst>
          </p:cNvPr>
          <p:cNvSpPr txBox="1"/>
          <p:nvPr/>
        </p:nvSpPr>
        <p:spPr>
          <a:xfrm>
            <a:off x="-173136" y="2932648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Plusval</a:t>
            </a:r>
            <a:endParaRPr lang="es-ES_tradnl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E5376-9C5F-05DB-7A5A-05929922A6D5}"/>
              </a:ext>
            </a:extLst>
          </p:cNvPr>
          <p:cNvSpPr txBox="1"/>
          <p:nvPr/>
        </p:nvSpPr>
        <p:spPr>
          <a:xfrm>
            <a:off x="0" y="926986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latin typeface="Fahkwang" pitchFamily="2" charset="-34"/>
                <a:cs typeface="Fahkwang" pitchFamily="2" charset="-34"/>
              </a:rPr>
              <a:t>Equipo ARAYA</a:t>
            </a:r>
            <a:endParaRPr lang="es-ES_tradnl" sz="1200" dirty="0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55B7A5A7-4B8B-AB9D-AD1F-1FA1FAA8C8CC}"/>
              </a:ext>
            </a:extLst>
          </p:cNvPr>
          <p:cNvSpPr txBox="1"/>
          <p:nvPr/>
        </p:nvSpPr>
        <p:spPr>
          <a:xfrm>
            <a:off x="3365387" y="2452373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Cumbre</a:t>
            </a:r>
            <a:endParaRPr lang="es-ES_tradnl" sz="12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CD28AD-305F-8E50-2B7F-ECFF7E041FD6}"/>
              </a:ext>
            </a:extLst>
          </p:cNvPr>
          <p:cNvSpPr txBox="1"/>
          <p:nvPr/>
        </p:nvSpPr>
        <p:spPr>
          <a:xfrm>
            <a:off x="8001000" y="967880"/>
            <a:ext cx="3756594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1600" spc="55" dirty="0">
                <a:latin typeface="Fahkwang" pitchFamily="2" charset="-34"/>
                <a:cs typeface="Fahkwang" pitchFamily="2" charset="-34"/>
              </a:rPr>
              <a:t>279</a:t>
            </a:r>
            <a:r>
              <a:rPr lang="pt-BR" sz="1600" spc="-5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600" dirty="0">
                <a:latin typeface="Fahkwang" pitchFamily="2" charset="-34"/>
                <a:cs typeface="Fahkwang" pitchFamily="2" charset="-34"/>
              </a:rPr>
              <a:t>Reservadas</a:t>
            </a: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1600" dirty="0">
                <a:latin typeface="Fahkwang" pitchFamily="2" charset="-34"/>
                <a:cs typeface="Fahkwang" pitchFamily="2" charset="-34"/>
              </a:rPr>
              <a:t>16.5 por Mes.</a:t>
            </a:r>
          </a:p>
          <a:p>
            <a:pPr marL="12700" algn="r">
              <a:spcBef>
                <a:spcPts val="100"/>
              </a:spcBef>
            </a:pPr>
            <a:r>
              <a:rPr lang="pt-BR" sz="2400" b="1" spc="55" dirty="0">
                <a:latin typeface="Fahkwang" pitchFamily="2" charset="-34"/>
                <a:cs typeface="Fahkwang" pitchFamily="2" charset="-34"/>
              </a:rPr>
              <a:t>228 </a:t>
            </a:r>
            <a:r>
              <a:rPr lang="pt-BR" sz="2400" b="1" spc="55" dirty="0" err="1">
                <a:latin typeface="Fahkwang" pitchFamily="2" charset="-34"/>
                <a:cs typeface="Fahkwang" pitchFamily="2" charset="-34"/>
              </a:rPr>
              <a:t>Activas</a:t>
            </a:r>
            <a:endParaRPr lang="pt-BR" sz="2400" b="1" spc="55" dirty="0">
              <a:latin typeface="Fahkwang" pitchFamily="2" charset="-34"/>
              <a:cs typeface="Fahkwang" pitchFamily="2" charset="-34"/>
            </a:endParaRP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1600" b="1" dirty="0">
                <a:latin typeface="Fahkwang" pitchFamily="2" charset="-34"/>
                <a:cs typeface="Fahkwang" pitchFamily="2" charset="-34"/>
              </a:rPr>
              <a:t>14.25 por Mes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CD837D-DCF3-B9F0-4ECB-9818348ED1D0}"/>
              </a:ext>
            </a:extLst>
          </p:cNvPr>
          <p:cNvSpPr txBox="1"/>
          <p:nvPr/>
        </p:nvSpPr>
        <p:spPr>
          <a:xfrm>
            <a:off x="3483103" y="2202791"/>
            <a:ext cx="24036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Lacig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By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Keller Williams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0E8B30B-11AA-CB25-28AD-E08D7F31F805}"/>
              </a:ext>
            </a:extLst>
          </p:cNvPr>
          <p:cNvSpPr txBox="1"/>
          <p:nvPr/>
        </p:nvSpPr>
        <p:spPr>
          <a:xfrm>
            <a:off x="3413262" y="2782248"/>
            <a:ext cx="25171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latin typeface="Fahkwang" pitchFamily="2" charset="-34"/>
                <a:cs typeface="Fahkwang" pitchFamily="2" charset="-34"/>
              </a:rPr>
              <a:t>Mundo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Inmobiliario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del Caribe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BE106BE2-0C0E-DC1B-AA2E-D74281D217CC}"/>
              </a:ext>
            </a:extLst>
          </p:cNvPr>
          <p:cNvSpPr txBox="1"/>
          <p:nvPr/>
        </p:nvSpPr>
        <p:spPr>
          <a:xfrm>
            <a:off x="3048000" y="3073782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Paradise</a:t>
            </a:r>
            <a:endParaRPr lang="es-ES_tradnl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AD12BC-BDDF-288B-5BEE-025D4369C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342" y="755651"/>
            <a:ext cx="2517175" cy="28942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D79E8E0-A5CE-768C-9609-2B288FD62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71" y="4127071"/>
            <a:ext cx="11929258" cy="2444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2400" y="834256"/>
            <a:ext cx="6248400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Fahkwang" pitchFamily="2" charset="-34"/>
                <a:cs typeface="Fahkwang" pitchFamily="2" charset="-34"/>
              </a:rPr>
              <a:t>Meta</a:t>
            </a:r>
            <a:r>
              <a:rPr lang="en-US" sz="2000" dirty="0">
                <a:latin typeface="Fahkwang" pitchFamily="2" charset="-34"/>
                <a:cs typeface="Fahkwang" pitchFamily="2" charset="-34"/>
              </a:rPr>
              <a:t>s</a:t>
            </a:r>
            <a:r>
              <a:rPr sz="2000" spc="-130" dirty="0">
                <a:latin typeface="Fahkwang" pitchFamily="2" charset="-34"/>
                <a:cs typeface="Fahkwang" pitchFamily="2" charset="-34"/>
              </a:rPr>
              <a:t> </a:t>
            </a:r>
            <a:r>
              <a:rPr sz="2000" spc="50" dirty="0">
                <a:latin typeface="Fahkwang" pitchFamily="2" charset="-34"/>
                <a:cs typeface="Fahkwang" pitchFamily="2" charset="-34"/>
              </a:rPr>
              <a:t>de</a:t>
            </a:r>
            <a:r>
              <a:rPr sz="2000" spc="-70" dirty="0">
                <a:latin typeface="Fahkwang" pitchFamily="2" charset="-34"/>
                <a:cs typeface="Fahkwang" pitchFamily="2" charset="-34"/>
              </a:rPr>
              <a:t> </a:t>
            </a:r>
            <a:r>
              <a:rPr sz="2000" dirty="0" err="1">
                <a:latin typeface="Fahkwang" pitchFamily="2" charset="-34"/>
                <a:cs typeface="Fahkwang" pitchFamily="2" charset="-34"/>
              </a:rPr>
              <a:t>Recaudación</a:t>
            </a:r>
            <a:r>
              <a:rPr sz="2000" spc="-14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z="2000" spc="-140" dirty="0">
                <a:latin typeface="Fahkwang" pitchFamily="2" charset="-34"/>
                <a:cs typeface="Fahkwang" pitchFamily="2" charset="-34"/>
              </a:rPr>
              <a:t>  </a:t>
            </a:r>
            <a:r>
              <a:rPr sz="2000" b="1" spc="114" dirty="0">
                <a:latin typeface="Fahkwang" pitchFamily="2" charset="-34"/>
                <a:cs typeface="Fahkwang" pitchFamily="2" charset="-34"/>
              </a:rPr>
              <a:t>FASE</a:t>
            </a:r>
            <a:r>
              <a:rPr sz="2000" b="1" spc="-120" dirty="0">
                <a:latin typeface="Fahkwang" pitchFamily="2" charset="-34"/>
                <a:cs typeface="Fahkwang" pitchFamily="2" charset="-34"/>
              </a:rPr>
              <a:t> </a:t>
            </a:r>
            <a:r>
              <a:rPr sz="2000" b="1" spc="-204" dirty="0">
                <a:latin typeface="Fahkwang" pitchFamily="2" charset="-34"/>
                <a:cs typeface="Fahkwang" pitchFamily="2" charset="-34"/>
              </a:rPr>
              <a:t>I</a:t>
            </a:r>
            <a:r>
              <a:rPr lang="es-ES" sz="2000" b="1" spc="-70" dirty="0">
                <a:latin typeface="Fahkwang" pitchFamily="2" charset="-34"/>
                <a:cs typeface="Fahkwang" pitchFamily="2" charset="-34"/>
              </a:rPr>
              <a:t>     </a:t>
            </a:r>
            <a:r>
              <a:rPr sz="2000" b="1" spc="85" dirty="0">
                <a:latin typeface="Fahkwang" pitchFamily="2" charset="-34"/>
                <a:cs typeface="Fahkwang" pitchFamily="2" charset="-34"/>
              </a:rPr>
              <a:t>US</a:t>
            </a:r>
            <a:r>
              <a:rPr lang="es-ES" sz="2000" b="1" spc="85" dirty="0">
                <a:latin typeface="Fahkwang" pitchFamily="2" charset="-34"/>
                <a:cs typeface="Fahkwang" pitchFamily="2" charset="-34"/>
              </a:rPr>
              <a:t>$</a:t>
            </a:r>
            <a:r>
              <a:rPr sz="2000" b="1" spc="85" dirty="0">
                <a:latin typeface="Fahkwang" pitchFamily="2" charset="-34"/>
                <a:cs typeface="Fahkwang" pitchFamily="2" charset="-34"/>
              </a:rPr>
              <a:t>22</a:t>
            </a:r>
            <a:r>
              <a:rPr lang="es-ES" sz="2000" b="1" spc="85" dirty="0">
                <a:latin typeface="Fahkwang" pitchFamily="2" charset="-34"/>
                <a:cs typeface="Fahkwang" pitchFamily="2" charset="-34"/>
              </a:rPr>
              <a:t>.1</a:t>
            </a:r>
            <a:r>
              <a:rPr sz="2000" b="1" spc="85" dirty="0">
                <a:latin typeface="Fahkwang" pitchFamily="2" charset="-34"/>
                <a:cs typeface="Fahkwang" pitchFamily="2" charset="-34"/>
              </a:rPr>
              <a:t>M</a:t>
            </a:r>
            <a:endParaRPr lang="en-US" sz="2000" b="1" spc="85" dirty="0">
              <a:latin typeface="Fahkwang" pitchFamily="2" charset="-34"/>
              <a:cs typeface="Fahkwang" pitchFamily="2" charset="-3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85" dirty="0">
                <a:latin typeface="Fahkwang" pitchFamily="2" charset="-34"/>
                <a:cs typeface="Fahkwang" pitchFamily="2" charset="-34"/>
              </a:rPr>
              <a:t>                                     FASE II  US$25.2M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spc="85" dirty="0">
              <a:latin typeface="Fahkwang" pitchFamily="2" charset="-34"/>
              <a:cs typeface="Fahkwang" pitchFamily="2" charset="-3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85" dirty="0">
                <a:latin typeface="Fahkwang" pitchFamily="2" charset="-34"/>
                <a:cs typeface="Fahkwang" pitchFamily="2" charset="-34"/>
              </a:rPr>
              <a:t>228 Activas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5" dirty="0">
                <a:latin typeface="Fahkwang" pitchFamily="2" charset="-34"/>
                <a:cs typeface="Fahkwang" pitchFamily="2" charset="-34"/>
              </a:rPr>
              <a:t>136 Activas - 87% Fase 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5" dirty="0">
                <a:latin typeface="Fahkwang" pitchFamily="2" charset="-34"/>
                <a:cs typeface="Fahkwang" pitchFamily="2" charset="-34"/>
              </a:rPr>
              <a:t>  92 Activas - 54% Fase II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5" dirty="0">
                <a:latin typeface="Fahkwang" pitchFamily="2" charset="-34"/>
                <a:cs typeface="Fahkwang" pitchFamily="2" charset="-34"/>
              </a:rPr>
              <a:t> *51</a:t>
            </a:r>
            <a:r>
              <a:rPr lang="en-US" sz="1400" i="1" spc="8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z="1400" i="1" spc="85" dirty="0" err="1">
                <a:latin typeface="Fahkwang" pitchFamily="2" charset="-34"/>
                <a:cs typeface="Fahkwang" pitchFamily="2" charset="-34"/>
              </a:rPr>
              <a:t>Desistidas</a:t>
            </a:r>
            <a:r>
              <a:rPr lang="en-US" sz="1400" b="1" i="1" spc="85" dirty="0">
                <a:latin typeface="Fahkwang" pitchFamily="2" charset="-34"/>
                <a:cs typeface="Fahkwang" pitchFamily="2" charset="-34"/>
              </a:rPr>
              <a:t> – </a:t>
            </a:r>
            <a:r>
              <a:rPr lang="en-US" sz="1400" i="1" spc="85" dirty="0">
                <a:latin typeface="Fahkwang" pitchFamily="2" charset="-34"/>
                <a:cs typeface="Fahkwang" pitchFamily="2" charset="-34"/>
              </a:rPr>
              <a:t>18% de las Reservas.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16B643E-4C26-DBE2-32CE-8BC640838BD5}"/>
              </a:ext>
            </a:extLst>
          </p:cNvPr>
          <p:cNvSpPr txBox="1"/>
          <p:nvPr/>
        </p:nvSpPr>
        <p:spPr>
          <a:xfrm>
            <a:off x="495300" y="6023744"/>
            <a:ext cx="112014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i="1" dirty="0">
                <a:latin typeface="Fahkwang" pitchFamily="2" charset="-34"/>
                <a:cs typeface="Fahkwang" pitchFamily="2" charset="-34"/>
              </a:rPr>
              <a:t>Para el mes de mayo teníamos 217 Unidades Activas.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i="1" dirty="0">
                <a:latin typeface="Fahkwang" pitchFamily="2" charset="-34"/>
                <a:cs typeface="Fahkwang" pitchFamily="2" charset="-34"/>
              </a:rPr>
              <a:t>De la Fase II se han reservado 92 Unidades (28 Garden, 32 Sunset y 32 </a:t>
            </a:r>
            <a:r>
              <a:rPr lang="es-ES" i="1" dirty="0" err="1">
                <a:latin typeface="Fahkwang" pitchFamily="2" charset="-34"/>
                <a:cs typeface="Fahkwang" pitchFamily="2" charset="-34"/>
              </a:rPr>
              <a:t>Balcony</a:t>
            </a:r>
            <a:r>
              <a:rPr lang="es-ES" i="1" dirty="0">
                <a:latin typeface="Fahkwang" pitchFamily="2" charset="-34"/>
                <a:cs typeface="Fahkwang" pitchFamily="2" charset="-34"/>
              </a:rPr>
              <a:t> Flex). </a:t>
            </a:r>
            <a:endParaRPr i="1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8A072BD7-91DB-9E8C-3D5D-A6451F18B5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81A86F3-1D6F-CD6C-75FF-D0A943B8D8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err="1">
                <a:latin typeface="Fahkwang" pitchFamily="2" charset="-34"/>
                <a:cs typeface="Fahkwang" pitchFamily="2" charset="-34"/>
              </a:rPr>
              <a:t>Situación</a:t>
            </a:r>
            <a:r>
              <a:rPr lang="en-US">
                <a:latin typeface="Fahkwang" pitchFamily="2" charset="-34"/>
                <a:cs typeface="Fahkwang" pitchFamily="2" charset="-34"/>
              </a:rPr>
              <a:t> </a:t>
            </a:r>
            <a:r>
              <a:rPr lang="en-US" err="1">
                <a:latin typeface="Fahkwang" pitchFamily="2" charset="-34"/>
                <a:cs typeface="Fahkwang" pitchFamily="2" charset="-34"/>
              </a:rPr>
              <a:t>Inventario</a:t>
            </a:r>
            <a:endParaRPr lang="en-US" spc="-1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0FFAC479-6387-1AB6-BAB0-98634AA12D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B3CCA8F-2E88-C567-D51E-487E5790C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269" y="2972555"/>
            <a:ext cx="9829800" cy="2921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ED71B59-D1D9-4C93-6E86-89D9D58BC95A}"/>
              </a:ext>
            </a:extLst>
          </p:cNvPr>
          <p:cNvSpPr txBox="1"/>
          <p:nvPr/>
        </p:nvSpPr>
        <p:spPr>
          <a:xfrm>
            <a:off x="533400" y="5105400"/>
            <a:ext cx="11049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_tradnl" i="1" spc="45" noProof="0" dirty="0">
                <a:latin typeface="Fahkwang" pitchFamily="2" charset="-34"/>
                <a:cs typeface="Fahkwang" pitchFamily="2" charset="-34"/>
              </a:rPr>
              <a:t> </a:t>
            </a: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ED297FC1-29F2-61E7-EF07-E2EC403B0E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97F6135E-A1E8-7DFE-1691-2B380280E7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67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Modelos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6" name="object 5">
            <a:extLst>
              <a:ext uri="{FF2B5EF4-FFF2-40B4-BE49-F238E27FC236}">
                <a16:creationId xmlns:a16="http://schemas.microsoft.com/office/drawing/2014/main" id="{794E2448-FB5E-F803-E411-C7BA9D4B7D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6D1536-7656-584B-C936-6CEE2CFFD7CE}"/>
              </a:ext>
            </a:extLst>
          </p:cNvPr>
          <p:cNvSpPr txBox="1"/>
          <p:nvPr/>
        </p:nvSpPr>
        <p:spPr>
          <a:xfrm>
            <a:off x="267628" y="5943120"/>
            <a:ext cx="11842412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s-ES" sz="1600" i="1" spc="45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" sz="1600" i="1" spc="45" dirty="0">
                <a:latin typeface="Fahkwang" pitchFamily="2" charset="-34"/>
                <a:cs typeface="Fahkwang" pitchFamily="2" charset="-34"/>
              </a:rPr>
              <a:t>De las 18 Reservas, se destaca que </a:t>
            </a:r>
            <a:r>
              <a:rPr lang="pt-BR" sz="1600" i="1" spc="55" dirty="0">
                <a:latin typeface="Fahkwang" pitchFamily="2" charset="-34"/>
                <a:cs typeface="Fahkwang" pitchFamily="2" charset="-34"/>
              </a:rPr>
              <a:t>4 fueron del equipo interno ARAYA </a:t>
            </a:r>
            <a:r>
              <a:rPr lang="pt-BR" sz="1600" dirty="0">
                <a:latin typeface="Fahkwang" pitchFamily="2" charset="-34"/>
                <a:cs typeface="Fahkwang" pitchFamily="2" charset="-34"/>
              </a:rPr>
              <a:t> y 4 fueron de Punta Cana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024C6-FBDC-EF6D-413D-7CE62DBF6FC3}"/>
              </a:ext>
            </a:extLst>
          </p:cNvPr>
          <p:cNvSpPr txBox="1"/>
          <p:nvPr/>
        </p:nvSpPr>
        <p:spPr>
          <a:xfrm>
            <a:off x="773514" y="882093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i="1" spc="45" dirty="0" err="1">
                <a:latin typeface="Fahkwang" pitchFamily="2" charset="-34"/>
                <a:cs typeface="Fahkwang" pitchFamily="2" charset="-34"/>
              </a:rPr>
              <a:t>Balcony</a:t>
            </a:r>
            <a:r>
              <a:rPr lang="es-ES" sz="1800" i="1" spc="45" dirty="0">
                <a:latin typeface="Fahkwang" pitchFamily="2" charset="-34"/>
                <a:cs typeface="Fahkwang" pitchFamily="2" charset="-34"/>
              </a:rPr>
              <a:t> – 6.3 Unidades / Mes</a:t>
            </a:r>
          </a:p>
          <a:p>
            <a:r>
              <a:rPr lang="es-ES" i="1" spc="45" dirty="0">
                <a:latin typeface="Fahkwang" pitchFamily="2" charset="-34"/>
                <a:cs typeface="Fahkwang" pitchFamily="2" charset="-34"/>
              </a:rPr>
              <a:t>Garden – 5.6 Unidades / Mes</a:t>
            </a:r>
          </a:p>
          <a:p>
            <a:r>
              <a:rPr lang="es-ES" i="1" spc="45" dirty="0">
                <a:latin typeface="Fahkwang" pitchFamily="2" charset="-34"/>
                <a:cs typeface="Fahkwang" pitchFamily="2" charset="-34"/>
              </a:rPr>
              <a:t>Sunset – 5.2 Unidades / Mes</a:t>
            </a:r>
          </a:p>
          <a:p>
            <a:r>
              <a:rPr lang="es-ES" i="1" spc="45" dirty="0">
                <a:latin typeface="Fahkwang" pitchFamily="2" charset="-34"/>
                <a:cs typeface="Fahkwang" pitchFamily="2" charset="-34"/>
              </a:rPr>
              <a:t>Flex -  3.8 Unidades / Mes</a:t>
            </a:r>
            <a:endParaRPr lang="es-ES_tradnl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536556D-BED9-1678-44DD-2C78215EF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698" y="819333"/>
            <a:ext cx="1552792" cy="173379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09A184E-8197-5D63-28E8-51D8E5D5C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609" y="824460"/>
            <a:ext cx="1638529" cy="150516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E0B778A-24CA-321F-C11C-34022C501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471" y="865650"/>
            <a:ext cx="1667108" cy="154326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346A1AF-2611-AA2A-F616-775C3F3AF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313" y="2693705"/>
            <a:ext cx="11279174" cy="33627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E3E85C-9E3D-9831-4A3F-9FC73A3B4A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9442" y="867341"/>
            <a:ext cx="1648055" cy="15623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D453-68C7-5486-2AED-68CEAE7E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02F68-D07B-DA4F-AABD-F4E94AA60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801" y="1835615"/>
            <a:ext cx="9144000" cy="2387600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A23A55-5926-920C-2574-33A6FE303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5801" y="4315290"/>
            <a:ext cx="9144000" cy="1655762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EBBAFE2B-EC05-8FC7-6B25-A63529BAEC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0BB224D3-2EA8-7C21-D5E3-E1396CD507A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67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Modelos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442CF-FA7C-2ED7-24CB-B66EDFE7A258}"/>
              </a:ext>
            </a:extLst>
          </p:cNvPr>
          <p:cNvSpPr txBox="1"/>
          <p:nvPr/>
        </p:nvSpPr>
        <p:spPr>
          <a:xfrm>
            <a:off x="-3732" y="664282"/>
            <a:ext cx="2449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i="1" dirty="0">
                <a:latin typeface="Fahkwang" pitchFamily="2" charset="-34"/>
                <a:cs typeface="Fahkwang" pitchFamily="2" charset="-34"/>
              </a:rPr>
              <a:t>Actualizado 30JUN2026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FF5C1B15-09F2-B4FA-5220-E1548927D1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5C0815A-EDFC-0AA2-CD14-AFC5D749C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012209"/>
            <a:ext cx="10955279" cy="350568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2211EE-EFC4-8FF1-B823-C5A0C0488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801" y="1135070"/>
            <a:ext cx="2314898" cy="173379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14BE335-7E64-BC09-182F-346086F12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878" y="1135070"/>
            <a:ext cx="2295845" cy="173379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D301C14-41E5-CB8C-21E3-781A666C7D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6782" y="1135070"/>
            <a:ext cx="2305372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7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2D20-CE4B-B57A-1E94-BC0FD7F4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141FC-7AF6-5635-E257-2A0C1FE39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2963"/>
            <a:ext cx="9144000" cy="2387600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ECC8D0-0E3C-AD94-D9AF-6953C4744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2638"/>
            <a:ext cx="9144000" cy="1655762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4E27AED8-A95A-DD62-983F-9FC5171E49A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67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Ubicacion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E7AB0CB1-8798-A630-4647-40350A3CEA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5696" y="-124759"/>
            <a:ext cx="6095999" cy="972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69C69-449E-DC78-A82F-18CD1BBDDE00}"/>
              </a:ext>
            </a:extLst>
          </p:cNvPr>
          <p:cNvSpPr txBox="1"/>
          <p:nvPr/>
        </p:nvSpPr>
        <p:spPr>
          <a:xfrm>
            <a:off x="-3732" y="664282"/>
            <a:ext cx="2449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i="1" dirty="0">
                <a:latin typeface="Fahkwang" pitchFamily="2" charset="-34"/>
                <a:cs typeface="Fahkwang" pitchFamily="2" charset="-34"/>
              </a:rPr>
              <a:t>Actualizado 30JUN2026</a:t>
            </a: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088B373-272A-2DAB-A9FC-0BFA97EB7F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8448E94-9FDB-6748-530E-4E703C6B4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23" y="2971800"/>
            <a:ext cx="11126753" cy="343900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4573B7B-DAAC-0FF9-B2F1-C387DDD48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1273504"/>
            <a:ext cx="1714739" cy="15432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0F8D59C-6527-95F8-9460-307FB6EFC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1268308"/>
            <a:ext cx="1876687" cy="150516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A450BA-3F4B-9F03-57CF-408F727EBB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264" y="1268308"/>
            <a:ext cx="1648055" cy="150516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1A0DE88-C753-151E-884C-3E7593510E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1268308"/>
            <a:ext cx="1609950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59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6581F11C-2702-5684-CE94-E21E3F80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34" t="4387" r="5713" b="3092"/>
          <a:stretch>
            <a:fillRect/>
          </a:stretch>
        </p:blipFill>
        <p:spPr>
          <a:xfrm>
            <a:off x="304800" y="896540"/>
            <a:ext cx="3229085" cy="24031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29199" y="1020795"/>
            <a:ext cx="4876801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_tradnl" sz="2000" b="1" spc="55" noProof="0" dirty="0">
                <a:latin typeface="Fahkwang" pitchFamily="2" charset="-34"/>
                <a:cs typeface="Fahkwang" pitchFamily="2" charset="-34"/>
              </a:rPr>
              <a:t>198</a:t>
            </a:r>
            <a:r>
              <a:rPr lang="es-ES_tradnl" sz="2000" spc="-35" noProof="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2000" noProof="0" dirty="0">
                <a:latin typeface="Fahkwang" pitchFamily="2" charset="-34"/>
                <a:cs typeface="Fahkwang" pitchFamily="2" charset="-34"/>
              </a:rPr>
              <a:t>Unidades</a:t>
            </a:r>
            <a:r>
              <a:rPr lang="es-ES_tradnl" sz="2000" spc="-75" noProof="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2000" spc="-10" noProof="0" dirty="0">
                <a:latin typeface="Fahkwang" pitchFamily="2" charset="-34"/>
                <a:cs typeface="Fahkwang" pitchFamily="2" charset="-34"/>
              </a:rPr>
              <a:t>Depuradas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_tradnl" sz="2000" b="1" spc="-10" noProof="0" dirty="0">
                <a:latin typeface="Fahkwang" pitchFamily="2" charset="-34"/>
                <a:cs typeface="Fahkwang" pitchFamily="2" charset="-34"/>
              </a:rPr>
              <a:t>   </a:t>
            </a:r>
            <a:r>
              <a:rPr lang="es-ES_tradnl" sz="2000" b="1" spc="-10" dirty="0">
                <a:latin typeface="Fahkwang" pitchFamily="2" charset="-34"/>
                <a:cs typeface="Fahkwang" pitchFamily="2" charset="-34"/>
              </a:rPr>
              <a:t>30</a:t>
            </a:r>
            <a:r>
              <a:rPr lang="es-ES_tradnl" sz="2000" spc="-10" noProof="0" dirty="0">
                <a:latin typeface="Fahkwang" pitchFamily="2" charset="-34"/>
                <a:cs typeface="Fahkwang" pitchFamily="2" charset="-34"/>
              </a:rPr>
              <a:t>  Unidades por Depurar</a:t>
            </a:r>
            <a:endParaRPr lang="es-ES_tradnl" sz="2000" noProof="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70E92D1-1CC1-01C4-17D7-35B46C517376}"/>
              </a:ext>
            </a:extLst>
          </p:cNvPr>
          <p:cNvSpPr txBox="1"/>
          <p:nvPr/>
        </p:nvSpPr>
        <p:spPr>
          <a:xfrm>
            <a:off x="5029200" y="1888770"/>
            <a:ext cx="6705599" cy="1269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_tradnl" sz="1600" b="1" i="1" spc="55" noProof="1">
                <a:latin typeface="Fahkwang" pitchFamily="2" charset="-34"/>
                <a:cs typeface="Fahkwang" pitchFamily="2" charset="-34"/>
              </a:rPr>
              <a:t>161 unidades vinculadas al 30 de junio</a:t>
            </a:r>
            <a:r>
              <a:rPr lang="es-ES_tradnl" sz="1600" i="1" spc="55" noProof="1">
                <a:latin typeface="Fahkwang" pitchFamily="2" charset="-34"/>
                <a:cs typeface="Fahkwang" pitchFamily="2" charset="-34"/>
              </a:rPr>
              <a:t>, 11 en proceso de vinculacion y 26 en proceso de firma del contrato. 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s-ES_tradnl" sz="1600" i="1" spc="55" noProof="1">
              <a:latin typeface="Fahkwang" pitchFamily="2" charset="-34"/>
              <a:cs typeface="Fahkwang" pitchFamily="2" charset="-3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_tradnl" sz="1600" i="1" spc="55" noProof="1">
                <a:latin typeface="Fahkwang" pitchFamily="2" charset="-34"/>
                <a:cs typeface="Fahkwang" pitchFamily="2" charset="-34"/>
              </a:rPr>
              <a:t>Al cierre de mes hay 6 cliente en proceso de depuración y 24 clientes a la espera de documentos. </a:t>
            </a:r>
            <a:endParaRPr lang="es-ES_tradnl" sz="1600" i="1" noProof="1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7B2DA690-B4F8-3031-5EF6-C6AA30B6F66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0129D04D-6FF8-F61F-3A67-53697D9FB6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>
                <a:latin typeface="Fahkwang" pitchFamily="2" charset="-34"/>
                <a:cs typeface="Fahkwang" pitchFamily="2" charset="-34"/>
              </a:rPr>
              <a:t>Ventas </a:t>
            </a:r>
            <a:r>
              <a:rPr lang="en-US" err="1">
                <a:latin typeface="Fahkwang" pitchFamily="2" charset="-34"/>
                <a:cs typeface="Fahkwang" pitchFamily="2" charset="-34"/>
              </a:rPr>
              <a:t>Depuradas</a:t>
            </a:r>
            <a:endParaRPr lang="en-US" spc="-1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7" name="object 5">
            <a:extLst>
              <a:ext uri="{FF2B5EF4-FFF2-40B4-BE49-F238E27FC236}">
                <a16:creationId xmlns:a16="http://schemas.microsoft.com/office/drawing/2014/main" id="{208AB7B6-89B9-B6A7-738E-6EBC4F77451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2" name="Imagen 10">
            <a:extLst>
              <a:ext uri="{FF2B5EF4-FFF2-40B4-BE49-F238E27FC236}">
                <a16:creationId xmlns:a16="http://schemas.microsoft.com/office/drawing/2014/main" id="{BF2C7BE4-9C8D-0CB2-D0D6-C6DFCB6A59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985"/>
          <a:stretch>
            <a:fillRect/>
          </a:stretch>
        </p:blipFill>
        <p:spPr>
          <a:xfrm>
            <a:off x="2966096" y="862977"/>
            <a:ext cx="1581371" cy="589177"/>
          </a:xfrm>
          <a:prstGeom prst="rect">
            <a:avLst/>
          </a:prstGeom>
        </p:spPr>
      </p:pic>
      <p:pic>
        <p:nvPicPr>
          <p:cNvPr id="4" name="Imagen 10">
            <a:extLst>
              <a:ext uri="{FF2B5EF4-FFF2-40B4-BE49-F238E27FC236}">
                <a16:creationId xmlns:a16="http://schemas.microsoft.com/office/drawing/2014/main" id="{5B43F179-14A4-17CD-63AF-4A2328A5B2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760" r="27721" b="67297"/>
          <a:stretch>
            <a:fillRect/>
          </a:stretch>
        </p:blipFill>
        <p:spPr>
          <a:xfrm>
            <a:off x="0" y="1195782"/>
            <a:ext cx="1143000" cy="381000"/>
          </a:xfrm>
          <a:prstGeom prst="rect">
            <a:avLst/>
          </a:prstGeom>
        </p:spPr>
      </p:pic>
      <p:pic>
        <p:nvPicPr>
          <p:cNvPr id="6" name="Imagen 10">
            <a:extLst>
              <a:ext uri="{FF2B5EF4-FFF2-40B4-BE49-F238E27FC236}">
                <a16:creationId xmlns:a16="http://schemas.microsoft.com/office/drawing/2014/main" id="{763F5D59-0E27-1162-BE58-B21B318ED7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652" r="33009" b="53405"/>
          <a:stretch>
            <a:fillRect/>
          </a:stretch>
        </p:blipFill>
        <p:spPr>
          <a:xfrm>
            <a:off x="571500" y="3369687"/>
            <a:ext cx="1059378" cy="381000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7946C3FC-B22D-646C-4ADA-7C37BAC13D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184" r="28190" b="36924"/>
          <a:stretch>
            <a:fillRect/>
          </a:stretch>
        </p:blipFill>
        <p:spPr>
          <a:xfrm>
            <a:off x="2209800" y="3355718"/>
            <a:ext cx="1135578" cy="40893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72171CB-7116-3DC7-A88B-78FA78B37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962400"/>
            <a:ext cx="11506200" cy="23984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FE2C2F-21F4-6556-276C-D0617891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E8F99B1-552C-5B08-8380-26FD8B03B083}"/>
              </a:ext>
            </a:extLst>
          </p:cNvPr>
          <p:cNvSpPr txBox="1"/>
          <p:nvPr/>
        </p:nvSpPr>
        <p:spPr>
          <a:xfrm>
            <a:off x="8342151" y="2438400"/>
            <a:ext cx="334172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2000" b="1" spc="55" dirty="0">
                <a:latin typeface="Fahkwang" pitchFamily="2" charset="-34"/>
                <a:cs typeface="Fahkwang" pitchFamily="2" charset="-34"/>
              </a:rPr>
              <a:t>164</a:t>
            </a:r>
            <a:r>
              <a:rPr sz="2000" spc="-10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" sz="2000" spc="-10" dirty="0">
                <a:latin typeface="Fahkwang" pitchFamily="2" charset="-34"/>
                <a:cs typeface="Fahkwang" pitchFamily="2" charset="-34"/>
              </a:rPr>
              <a:t>U</a:t>
            </a:r>
            <a:r>
              <a:rPr sz="2000" spc="-10" dirty="0" err="1">
                <a:latin typeface="Fahkwang" pitchFamily="2" charset="-34"/>
                <a:cs typeface="Fahkwang" pitchFamily="2" charset="-34"/>
              </a:rPr>
              <a:t>nidades</a:t>
            </a:r>
            <a:r>
              <a:rPr sz="2000" spc="-14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" sz="2000" spc="-145" dirty="0">
                <a:latin typeface="Fahkwang" pitchFamily="2" charset="-34"/>
                <a:cs typeface="Fahkwang" pitchFamily="2" charset="-34"/>
              </a:rPr>
              <a:t>Vinculadas</a:t>
            </a: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s-ES" sz="2000" b="1" spc="-145" dirty="0">
                <a:latin typeface="Fahkwang" pitchFamily="2" charset="-34"/>
                <a:cs typeface="Fahkwang" pitchFamily="2" charset="-34"/>
              </a:rPr>
              <a:t>       3</a:t>
            </a:r>
            <a:r>
              <a:rPr lang="es-ES" sz="2000" spc="-145" dirty="0">
                <a:latin typeface="Fahkwang" pitchFamily="2" charset="-34"/>
                <a:cs typeface="Fahkwang" pitchFamily="2" charset="-34"/>
              </a:rPr>
              <a:t>  Fueron desistidas</a:t>
            </a:r>
            <a:endParaRPr lang="en-US" sz="2000" spc="45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51356A2E-DA9B-97F0-4F60-6B8857E630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2244942C-8AB3-6604-0D68-45C3B60930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8674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>
                <a:latin typeface="Fahkwang" pitchFamily="2" charset="-34"/>
                <a:cs typeface="Fahkwang" pitchFamily="2" charset="-34"/>
              </a:rPr>
              <a:t>Ventas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Vinculadas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Mes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F94D586C-7AB9-F71B-658B-9FFF5E0F24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11DBDD8-0890-3E67-DCE9-9BC30D808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23" y="3079601"/>
            <a:ext cx="1130775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9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ECC1-AA3E-8857-6247-9166F3AC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8B46C64-3317-3914-F4DB-D6E296056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40" y="2835365"/>
            <a:ext cx="7239000" cy="353587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608C032-4661-6315-9FBD-091DA5955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8" y="845764"/>
            <a:ext cx="3864332" cy="1740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4CB93-5BA4-FC01-65E2-00842ABF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8888"/>
            <a:ext cx="7194587" cy="1100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87F42-80F1-D060-B310-1D64B0B2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4444"/>
            <a:ext cx="8455661" cy="492443"/>
          </a:xfrm>
        </p:spPr>
        <p:txBody>
          <a:bodyPr/>
          <a:lstStyle/>
          <a:p>
            <a:r>
              <a:rPr lang="es-ES" dirty="0">
                <a:latin typeface="Fahkwang" pitchFamily="2" charset="-34"/>
                <a:cs typeface="Fahkwang" pitchFamily="2" charset="-34"/>
              </a:rPr>
              <a:t>Tiempo de Gestión por Etapas </a:t>
            </a:r>
            <a:endParaRPr lang="en-US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E49F6-2F3C-D36E-B3EF-62271A6BE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4BAB5-8E2F-539F-6E4C-AFD555BE961A}"/>
              </a:ext>
            </a:extLst>
          </p:cNvPr>
          <p:cNvSpPr txBox="1"/>
          <p:nvPr/>
        </p:nvSpPr>
        <p:spPr>
          <a:xfrm>
            <a:off x="4419600" y="2652977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Documentos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51ADF-C286-0823-EA82-71FDF042733C}"/>
              </a:ext>
            </a:extLst>
          </p:cNvPr>
          <p:cNvSpPr txBox="1"/>
          <p:nvPr/>
        </p:nvSpPr>
        <p:spPr>
          <a:xfrm>
            <a:off x="7543800" y="2681477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Contrato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4DF5D-56EF-BD59-DB15-A7401DBE6F7B}"/>
              </a:ext>
            </a:extLst>
          </p:cNvPr>
          <p:cNvSpPr txBox="1"/>
          <p:nvPr/>
        </p:nvSpPr>
        <p:spPr>
          <a:xfrm>
            <a:off x="6032452" y="2664023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Depuración</a:t>
            </a:r>
            <a:r>
              <a:rPr lang="es-ES_tradnl" sz="1400" dirty="0">
                <a:latin typeface="Fahkwang ExtraLight" pitchFamily="2" charset="-34"/>
                <a:cs typeface="Fahkwang ExtraLight" pitchFamily="2" charset="-34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7CE96-D144-D940-C4B2-19B0D9DE1079}"/>
              </a:ext>
            </a:extLst>
          </p:cNvPr>
          <p:cNvSpPr txBox="1"/>
          <p:nvPr/>
        </p:nvSpPr>
        <p:spPr>
          <a:xfrm>
            <a:off x="10363200" y="2662773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Expediente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55769D-8937-F149-3176-671AB94E9948}"/>
              </a:ext>
            </a:extLst>
          </p:cNvPr>
          <p:cNvSpPr txBox="1"/>
          <p:nvPr/>
        </p:nvSpPr>
        <p:spPr>
          <a:xfrm>
            <a:off x="8839200" y="2662911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Vinculación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B51F-A48F-FAAF-3D5A-F95D0AA25673}"/>
              </a:ext>
            </a:extLst>
          </p:cNvPr>
          <p:cNvSpPr txBox="1"/>
          <p:nvPr/>
        </p:nvSpPr>
        <p:spPr>
          <a:xfrm>
            <a:off x="7467600" y="1662591"/>
            <a:ext cx="3867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latin typeface="Fahkwang" panose="00000500000000000000" pitchFamily="2" charset="-34"/>
                <a:cs typeface="Fahkwang" panose="00000500000000000000" pitchFamily="2" charset="-34"/>
              </a:rPr>
              <a:t>La etapa de prospecto subió 2 día</a:t>
            </a:r>
            <a:endParaRPr lang="es-ES" sz="1600" noProof="0" dirty="0">
              <a:latin typeface="Fahkwang" panose="00000500000000000000" pitchFamily="2" charset="-34"/>
              <a:cs typeface="Fahkwang" panose="00000500000000000000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BCABC-9CD4-D310-34BE-365513137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579" y="3148739"/>
            <a:ext cx="30483" cy="3090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715A59-81DA-F184-24BD-3DF2597F7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179" y="3133643"/>
            <a:ext cx="30483" cy="3090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344001-8073-AD83-A40F-E22590902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626" y="3148739"/>
            <a:ext cx="30483" cy="3090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F9FB30-13C5-F8FA-125E-BA50EE4B2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118" y="3133643"/>
            <a:ext cx="30483" cy="309094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8FDDC3-077C-41C6-A927-A06D29E771F3}"/>
              </a:ext>
            </a:extLst>
          </p:cNvPr>
          <p:cNvCxnSpPr>
            <a:cxnSpLocks/>
          </p:cNvCxnSpPr>
          <p:nvPr/>
        </p:nvCxnSpPr>
        <p:spPr>
          <a:xfrm flipV="1">
            <a:off x="5185494" y="4038600"/>
            <a:ext cx="0" cy="665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7E50A5-D2D2-DDE7-973A-314B64C5BA38}"/>
              </a:ext>
            </a:extLst>
          </p:cNvPr>
          <p:cNvSpPr txBox="1"/>
          <p:nvPr/>
        </p:nvSpPr>
        <p:spPr>
          <a:xfrm>
            <a:off x="213275" y="988454"/>
            <a:ext cx="274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Fahkwang" panose="00000500000000000000" pitchFamily="2" charset="-34"/>
                <a:cs typeface="Fahkwang" panose="00000500000000000000" pitchFamily="2" charset="-34"/>
              </a:rPr>
              <a:t>Mes anterior </a:t>
            </a:r>
            <a:endParaRPr lang="es-ES" sz="1400" noProof="0" dirty="0">
              <a:latin typeface="Fahkwang" panose="00000500000000000000" pitchFamily="2" charset="-34"/>
              <a:cs typeface="Fahkwang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6690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66B7-00BE-638B-5231-2F4C323D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7583FB46-5080-C0B4-EF3E-7579BA86E8D8}"/>
              </a:ext>
            </a:extLst>
          </p:cNvPr>
          <p:cNvSpPr/>
          <p:nvPr/>
        </p:nvSpPr>
        <p:spPr>
          <a:xfrm>
            <a:off x="181886" y="5561951"/>
            <a:ext cx="662074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DO" sz="1800" b="0" i="1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itchFamily="2" charset="-34"/>
                <a:cs typeface="Fahkwang" pitchFamily="2" charset="-34"/>
              </a:rPr>
              <a:t>Debido a los pagos adelantados de los clientes al día, se ha logrado el recaudo mas del 97% de lo proyectado según las ventas formalizadas.</a:t>
            </a:r>
            <a:endParaRPr kumimoji="0" lang="en-US" sz="1800" b="0" i="1" u="none" strike="noStrike" kern="0" cap="none" spc="4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33574209-5BA4-0BE2-0B05-D08712C063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23B6EEA-8CA8-8086-C0E4-8CE0E4BF80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Estatus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 de </a:t>
            </a: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Cobranza</a:t>
            </a:r>
            <a:endParaRPr kumimoji="0" lang="en-US" sz="3200" b="0" i="0" u="none" strike="noStrike" kern="0" cap="none" spc="-10" normalizeH="0" baseline="0" noProof="0">
              <a:ln>
                <a:noFill/>
              </a:ln>
              <a:solidFill>
                <a:srgbClr val="FF6063"/>
              </a:solidFill>
              <a:effectLst/>
              <a:uLnTx/>
              <a:uFillTx/>
              <a:latin typeface="Fahkwang" pitchFamily="2" charset="-34"/>
              <a:ea typeface="+mj-ea"/>
              <a:cs typeface="Fahkwang" pitchFamily="2" charset="-34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7F2E8F14-F8EE-687C-980D-8A8C126F58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B4DD22-014D-DF08-447D-12CCDB2C0CD7}"/>
              </a:ext>
            </a:extLst>
          </p:cNvPr>
          <p:cNvSpPr txBox="1"/>
          <p:nvPr/>
        </p:nvSpPr>
        <p:spPr>
          <a:xfrm>
            <a:off x="181886" y="762000"/>
            <a:ext cx="6620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De los </a:t>
            </a:r>
            <a:r>
              <a:rPr lang="es-ES" i="1" dirty="0">
                <a:latin typeface="Fahkwang" panose="00000500000000000000" pitchFamily="2" charset="-34"/>
                <a:cs typeface="Fahkwang" panose="00000500000000000000" pitchFamily="2" charset="-34"/>
              </a:rPr>
              <a:t>172</a:t>
            </a: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clientes con contratos al </a:t>
            </a:r>
            <a:r>
              <a:rPr lang="es-ES" i="1" dirty="0">
                <a:latin typeface="Fahkwang" panose="00000500000000000000" pitchFamily="2" charset="-34"/>
                <a:cs typeface="Fahkwang" panose="00000500000000000000" pitchFamily="2" charset="-34"/>
              </a:rPr>
              <a:t>06/07</a:t>
            </a: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/2026, tenemos 106 clientes al día, </a:t>
            </a:r>
            <a:r>
              <a:rPr lang="es-ES" i="1" dirty="0">
                <a:latin typeface="Fahkwang" panose="00000500000000000000" pitchFamily="2" charset="-34"/>
                <a:cs typeface="Fahkwang" panose="00000500000000000000" pitchFamily="2" charset="-34"/>
              </a:rPr>
              <a:t>42</a:t>
            </a: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clientes con cuotas pendientes y 24 clientes con cuotas vencidas </a:t>
            </a:r>
          </a:p>
        </p:txBody>
      </p:sp>
      <p:pic>
        <p:nvPicPr>
          <p:cNvPr id="3" name="Imagen 2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DFBF2476-3FA5-246F-D98F-A336AF2EFC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74"/>
          <a:stretch>
            <a:fillRect/>
          </a:stretch>
        </p:blipFill>
        <p:spPr>
          <a:xfrm>
            <a:off x="990600" y="4885665"/>
            <a:ext cx="4419600" cy="39171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5C8C822-9CCD-F4C3-9A59-3A5A84DD2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505" y="1739286"/>
            <a:ext cx="3852695" cy="321362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33867F8-C797-2B9D-50CE-2B1CEB40B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4515" y="685800"/>
            <a:ext cx="5219774" cy="7864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D4483BF-538E-3CB1-CBC8-7AB1474BA8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3350" y="1447800"/>
            <a:ext cx="5208650" cy="102894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B7210EE-55ED-BB84-5F9A-357020C4BC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3123" y="2500593"/>
            <a:ext cx="3082558" cy="433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0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8975C7-3BC7-6025-15F5-2D2D621D1A38}"/>
              </a:ext>
            </a:extLst>
          </p:cNvPr>
          <p:cNvSpPr/>
          <p:nvPr/>
        </p:nvSpPr>
        <p:spPr>
          <a:xfrm>
            <a:off x="1524000" y="1143000"/>
            <a:ext cx="412612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DO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itchFamily="2" charset="-34"/>
                <a:cs typeface="Fahkwang" pitchFamily="2" charset="-34"/>
              </a:rPr>
              <a:t>Monto Total Vencido    US$ </a:t>
            </a:r>
            <a:r>
              <a:rPr lang="es-DO" sz="2400" b="1" dirty="0">
                <a:latin typeface="Fahkwang" pitchFamily="2" charset="-34"/>
                <a:cs typeface="Fahkwang" pitchFamily="2" charset="-34"/>
              </a:rPr>
              <a:t>148,281.58</a:t>
            </a:r>
            <a:endParaRPr kumimoji="0" lang="en-US" sz="2400" b="1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6CED3D41-2D36-E91C-114E-160D8DAD36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CC387B98-B606-09FE-B365-A11B45FFC36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Estatus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 de </a:t>
            </a: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Cobranza</a:t>
            </a:r>
            <a:endParaRPr kumimoji="0" lang="en-US" sz="3200" b="0" i="0" u="none" strike="noStrike" kern="0" cap="none" spc="-10" normalizeH="0" baseline="0" noProof="0">
              <a:ln>
                <a:noFill/>
              </a:ln>
              <a:solidFill>
                <a:srgbClr val="FF6063"/>
              </a:solidFill>
              <a:effectLst/>
              <a:uLnTx/>
              <a:uFillTx/>
              <a:latin typeface="Fahkwang" pitchFamily="2" charset="-34"/>
              <a:ea typeface="+mj-ea"/>
              <a:cs typeface="Fahkwang" pitchFamily="2" charset="-34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C92470B5-9427-C01A-181C-780A51E5246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D77F55-A89C-3B52-06D3-C3EB4CF280D3}"/>
              </a:ext>
            </a:extLst>
          </p:cNvPr>
          <p:cNvSpPr txBox="1"/>
          <p:nvPr/>
        </p:nvSpPr>
        <p:spPr>
          <a:xfrm>
            <a:off x="7543800" y="1676400"/>
            <a:ext cx="4038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Al 05/05/2026 se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tienen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31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con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vencidas</a:t>
            </a: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US$ 64,810</a:t>
            </a:r>
            <a:r>
              <a:rPr lang="en-US" i="1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.00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monto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separación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por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pagar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. (7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).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US$ 54,557.58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pago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(17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).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1" dirty="0">
              <a:ln w="0"/>
              <a:solidFill>
                <a:prstClr val="black"/>
              </a:solidFill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US$ 28,914.00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kumimoji="0" lang="en-US" sz="1800" b="0" i="1" u="none" strike="noStrike" kern="0" cap="none" spc="0" normalizeH="0" baseline="0" noProof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realtors (5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)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La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morosidad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no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supera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el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1%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3C54ED1-5D1B-EC2F-5B62-B04F92CA9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311895"/>
            <a:ext cx="7087589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71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52844"/>
            <a:ext cx="6095999" cy="9323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669" y="67046"/>
            <a:ext cx="5788661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err="1">
                <a:latin typeface="Fahkwang" pitchFamily="2" charset="-34"/>
                <a:cs typeface="Fahkwang" pitchFamily="2" charset="-34"/>
              </a:rPr>
              <a:t>Comentarios</a:t>
            </a:r>
            <a:r>
              <a:rPr spc="-215" dirty="0">
                <a:latin typeface="Fahkwang" pitchFamily="2" charset="-34"/>
                <a:cs typeface="Fahkwang" pitchFamily="2" charset="-34"/>
              </a:rPr>
              <a:t> </a:t>
            </a:r>
            <a:r>
              <a:rPr spc="-10" dirty="0">
                <a:latin typeface="Fahkwang" pitchFamily="2" charset="-34"/>
                <a:cs typeface="Fahkwang" pitchFamily="2" charset="-34"/>
              </a:rPr>
              <a:t>Generales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8968" y="306117"/>
            <a:ext cx="2110225" cy="5400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047634-E5E7-CAF5-D104-F617B57635B2}"/>
              </a:ext>
            </a:extLst>
          </p:cNvPr>
          <p:cNvSpPr txBox="1"/>
          <p:nvPr/>
        </p:nvSpPr>
        <p:spPr>
          <a:xfrm>
            <a:off x="-2" y="948690"/>
            <a:ext cx="12192001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dirty="0">
                <a:latin typeface="Fahkwang" pitchFamily="2" charset="-34"/>
                <a:cs typeface="Fahkwang" pitchFamily="2" charset="-34"/>
              </a:rPr>
              <a:t>En junio subimos el precio de las unidades Parque + Vista y Laterales: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r>
              <a:rPr lang="es-ES_tradnl" sz="1400" dirty="0">
                <a:latin typeface="Fahkwang" pitchFamily="2" charset="-34"/>
                <a:cs typeface="Fahkwang" pitchFamily="2" charset="-34"/>
              </a:rPr>
              <a:t>        De este aumento se vendieron este mes 2 Sunset Parque + Vista   y 1 Sunset Lateral </a:t>
            </a:r>
          </a:p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dirty="0">
                <a:latin typeface="Fahkwang" pitchFamily="2" charset="-34"/>
                <a:cs typeface="Fahkwang" pitchFamily="2" charset="-34"/>
              </a:rPr>
              <a:t>Visita de 20 empresarios de </a:t>
            </a:r>
            <a:r>
              <a:rPr lang="es-ES_tradnl" sz="1400" dirty="0" err="1">
                <a:latin typeface="Fahkwang" pitchFamily="2" charset="-34"/>
                <a:cs typeface="Fahkwang" pitchFamily="2" charset="-34"/>
              </a:rPr>
              <a:t>Shangai</a:t>
            </a:r>
            <a:r>
              <a:rPr lang="es-ES_tradnl" sz="1400" dirty="0">
                <a:latin typeface="Fahkwang" pitchFamily="2" charset="-34"/>
                <a:cs typeface="Fahkwang" pitchFamily="2" charset="-34"/>
              </a:rPr>
              <a:t>, coordinada por Keller Williams </a:t>
            </a:r>
            <a:r>
              <a:rPr lang="es-ES_tradnl" sz="1400" dirty="0" err="1">
                <a:latin typeface="Fahkwang" pitchFamily="2" charset="-34"/>
                <a:cs typeface="Fahkwang" pitchFamily="2" charset="-34"/>
              </a:rPr>
              <a:t>By</a:t>
            </a:r>
            <a:r>
              <a:rPr lang="es-ES_tradnl" sz="14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1400" dirty="0" err="1">
                <a:latin typeface="Fahkwang" pitchFamily="2" charset="-34"/>
                <a:cs typeface="Fahkwang" pitchFamily="2" charset="-34"/>
              </a:rPr>
              <a:t>Lacig</a:t>
            </a:r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r>
              <a:rPr lang="es-ES_tradnl" sz="1400" dirty="0">
                <a:latin typeface="Fahkwang" pitchFamily="2" charset="-34"/>
                <a:cs typeface="Fahkwang" pitchFamily="2" charset="-34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dirty="0">
                <a:latin typeface="Fahkwang" pitchFamily="2" charset="-34"/>
                <a:cs typeface="Fahkwang" pitchFamily="2" charset="-34"/>
              </a:rPr>
              <a:t>Vista de la Inmobiliaria </a:t>
            </a:r>
            <a:r>
              <a:rPr lang="es-ES_tradnl" sz="1400" dirty="0" err="1">
                <a:latin typeface="Fahkwang" pitchFamily="2" charset="-34"/>
                <a:cs typeface="Fahkwang" pitchFamily="2" charset="-34"/>
              </a:rPr>
              <a:t>Exp</a:t>
            </a:r>
            <a:r>
              <a:rPr lang="es-ES_tradnl" sz="1400" dirty="0">
                <a:latin typeface="Fahkwang" pitchFamily="2" charset="-34"/>
                <a:cs typeface="Fahkwang" pitchFamily="2" charset="-34"/>
              </a:rPr>
              <a:t> Realty Pedro Reyes y  Eduardo Sánchez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sz="1400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algn="just"/>
            <a:endParaRPr lang="es-ES_tradnl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8E03B-B9B1-D4D2-A094-2EC6142A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52600"/>
            <a:ext cx="3505200" cy="746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17304</TotalTime>
  <Words>449</Words>
  <Application>Microsoft Office PowerPoint</Application>
  <PresentationFormat>Panorámica</PresentationFormat>
  <Paragraphs>98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Fahkwang</vt:lpstr>
      <vt:lpstr>Fahkwang ExtraLight</vt:lpstr>
      <vt:lpstr>Verdana</vt:lpstr>
      <vt:lpstr>Office Theme</vt:lpstr>
      <vt:lpstr>Presentación de PowerPoint</vt:lpstr>
      <vt:lpstr>Reservas Totales</vt:lpstr>
      <vt:lpstr>Presentación de PowerPoint</vt:lpstr>
      <vt:lpstr>Presentación de PowerPoint</vt:lpstr>
      <vt:lpstr> </vt:lpstr>
      <vt:lpstr> </vt:lpstr>
      <vt:lpstr>Presentación de PowerPoint</vt:lpstr>
      <vt:lpstr>Presentación de PowerPoint</vt:lpstr>
      <vt:lpstr>Tiempo de Gestión por Etapas </vt:lpstr>
      <vt:lpstr>Presentación de PowerPoint</vt:lpstr>
      <vt:lpstr>Presentación de PowerPoint</vt:lpstr>
      <vt:lpstr>Comentarios Generales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Fabiola Ostos</dc:creator>
  <cp:lastModifiedBy>Antonely Villalona</cp:lastModifiedBy>
  <cp:revision>38</cp:revision>
  <dcterms:created xsi:type="dcterms:W3CDTF">2025-08-06T20:06:20Z</dcterms:created>
  <dcterms:modified xsi:type="dcterms:W3CDTF">2026-07-29T12:48:59Z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2025-07-07T00:00:00Z</vt:filetime>
  </property>
  <property fmtid="{D5CDD505-2E9C-101B-9397-08002B2CF9AE}" pid="3" name="LastSaved">
    <vt:filetime>2025-08-06T00:00:00Z</vt:filetime>
  </property>
</Properties>
</file>