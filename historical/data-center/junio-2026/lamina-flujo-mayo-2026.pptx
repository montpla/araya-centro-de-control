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57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2F223C-3F9F-4FF0-8564-8C639C9F8D74}" v="2" dt="2026-07-15T14:52:09.4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ely Villalona" userId="26acd9b0-757c-45d2-bdf1-b43b683da2aa" providerId="ADAL" clId="{7B0469CB-2711-4ED7-949B-6C08E56E0017}"/>
    <pc:docChg chg="addSld delSld modSld">
      <pc:chgData name="Antonely Villalona" userId="26acd9b0-757c-45d2-bdf1-b43b683da2aa" providerId="ADAL" clId="{7B0469CB-2711-4ED7-949B-6C08E56E0017}" dt="2026-07-15T14:52:12.229" v="4" actId="2696"/>
      <pc:docMkLst>
        <pc:docMk/>
      </pc:docMkLst>
      <pc:sldChg chg="del">
        <pc:chgData name="Antonely Villalona" userId="26acd9b0-757c-45d2-bdf1-b43b683da2aa" providerId="ADAL" clId="{7B0469CB-2711-4ED7-949B-6C08E56E0017}" dt="2026-07-15T14:02:15.854" v="2" actId="2696"/>
        <pc:sldMkLst>
          <pc:docMk/>
          <pc:sldMk cId="0" sldId="256"/>
        </pc:sldMkLst>
      </pc:sldChg>
      <pc:sldChg chg="new del">
        <pc:chgData name="Antonely Villalona" userId="26acd9b0-757c-45d2-bdf1-b43b683da2aa" providerId="ADAL" clId="{7B0469CB-2711-4ED7-949B-6C08E56E0017}" dt="2026-07-15T14:02:15.854" v="2" actId="2696"/>
        <pc:sldMkLst>
          <pc:docMk/>
          <pc:sldMk cId="1051672534" sldId="257"/>
        </pc:sldMkLst>
      </pc:sldChg>
      <pc:sldChg chg="add del setBg">
        <pc:chgData name="Antonely Villalona" userId="26acd9b0-757c-45d2-bdf1-b43b683da2aa" providerId="ADAL" clId="{7B0469CB-2711-4ED7-949B-6C08E56E0017}" dt="2026-07-15T14:52:12.229" v="4" actId="2696"/>
        <pc:sldMkLst>
          <pc:docMk/>
          <pc:sldMk cId="0" sldId="258"/>
        </pc:sldMkLst>
      </pc:sldChg>
      <pc:sldChg chg="add">
        <pc:chgData name="Antonely Villalona" userId="26acd9b0-757c-45d2-bdf1-b43b683da2aa" providerId="ADAL" clId="{7B0469CB-2711-4ED7-949B-6C08E56E0017}" dt="2026-07-15T14:52:09.476" v="3"/>
        <pc:sldMkLst>
          <pc:docMk/>
          <pc:sldMk cId="0" sldId="3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918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PROYECCIÓN FINANCIERA</a:t>
            </a:r>
            <a:endParaRPr lang="en-US" sz="900" b="1" dirty="0"/>
          </a:p>
        </p:txBody>
      </p:sp>
      <p:sp>
        <p:nvSpPr>
          <p:cNvPr id="3" name="Text 1"/>
          <p:cNvSpPr/>
          <p:nvPr/>
        </p:nvSpPr>
        <p:spPr>
          <a:xfrm>
            <a:off x="201168" y="338328"/>
            <a:ext cx="7315200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Proyectado — Jul a Dic 2026</a:t>
            </a:r>
            <a:endParaRPr lang="en-US" b="1" dirty="0"/>
          </a:p>
        </p:txBody>
      </p:sp>
      <p:sp>
        <p:nvSpPr>
          <p:cNvPr id="5" name="Shape 3"/>
          <p:cNvSpPr/>
          <p:nvPr/>
        </p:nvSpPr>
        <p:spPr>
          <a:xfrm>
            <a:off x="292608" y="786295"/>
            <a:ext cx="36576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6" name="Shape 4"/>
          <p:cNvSpPr/>
          <p:nvPr/>
        </p:nvSpPr>
        <p:spPr>
          <a:xfrm>
            <a:off x="201168" y="877735"/>
            <a:ext cx="2706624" cy="1600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7" name="Text 5"/>
          <p:cNvSpPr/>
          <p:nvPr/>
        </p:nvSpPr>
        <p:spPr>
          <a:xfrm>
            <a:off x="246888" y="873163"/>
            <a:ext cx="2660904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FUENTE  —  Valores en RD$</a:t>
            </a:r>
            <a:endParaRPr lang="en-US" sz="800" b="1" dirty="0"/>
          </a:p>
        </p:txBody>
      </p:sp>
      <p:sp>
        <p:nvSpPr>
          <p:cNvPr id="8" name="Shape 6"/>
          <p:cNvSpPr/>
          <p:nvPr/>
        </p:nvSpPr>
        <p:spPr>
          <a:xfrm>
            <a:off x="201168" y="1051471"/>
            <a:ext cx="877824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9" name="Text 7"/>
          <p:cNvSpPr/>
          <p:nvPr/>
        </p:nvSpPr>
        <p:spPr>
          <a:xfrm>
            <a:off x="237744" y="1069759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INGRESO</a:t>
            </a:r>
            <a:endParaRPr lang="en-US" sz="800" b="1" dirty="0"/>
          </a:p>
        </p:txBody>
      </p:sp>
      <p:sp>
        <p:nvSpPr>
          <p:cNvPr id="10" name="Text 8"/>
          <p:cNvSpPr/>
          <p:nvPr/>
        </p:nvSpPr>
        <p:spPr>
          <a:xfrm>
            <a:off x="2029968" y="1069759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800" b="1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ACUMULADOS</a:t>
            </a:r>
            <a:endParaRPr lang="en-US" sz="800" b="1" dirty="0"/>
          </a:p>
        </p:txBody>
      </p:sp>
      <p:sp>
        <p:nvSpPr>
          <p:cNvPr id="11" name="Text 9"/>
          <p:cNvSpPr/>
          <p:nvPr/>
        </p:nvSpPr>
        <p:spPr>
          <a:xfrm>
            <a:off x="2926080" y="1069759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PART.</a:t>
            </a:r>
            <a:endParaRPr lang="en-US" sz="800" b="1" dirty="0"/>
          </a:p>
        </p:txBody>
      </p:sp>
      <p:sp>
        <p:nvSpPr>
          <p:cNvPr id="12" name="Text 10"/>
          <p:cNvSpPr/>
          <p:nvPr/>
        </p:nvSpPr>
        <p:spPr>
          <a:xfrm>
            <a:off x="3712464" y="1069759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Jun-26</a:t>
            </a:r>
            <a:endParaRPr lang="en-US" sz="800" b="1" dirty="0"/>
          </a:p>
        </p:txBody>
      </p:sp>
      <p:sp>
        <p:nvSpPr>
          <p:cNvPr id="13" name="Text 11"/>
          <p:cNvSpPr/>
          <p:nvPr/>
        </p:nvSpPr>
        <p:spPr>
          <a:xfrm>
            <a:off x="4443984" y="1069759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</a:t>
            </a:r>
            <a:endParaRPr lang="en-US" sz="800" b="1" dirty="0"/>
          </a:p>
        </p:txBody>
      </p:sp>
      <p:sp>
        <p:nvSpPr>
          <p:cNvPr id="14" name="Text 12"/>
          <p:cNvSpPr/>
          <p:nvPr/>
        </p:nvSpPr>
        <p:spPr>
          <a:xfrm>
            <a:off x="5175504" y="1069759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Aug-26</a:t>
            </a:r>
            <a:endParaRPr lang="en-US" sz="800" b="1" dirty="0"/>
          </a:p>
        </p:txBody>
      </p:sp>
      <p:sp>
        <p:nvSpPr>
          <p:cNvPr id="15" name="Text 13"/>
          <p:cNvSpPr/>
          <p:nvPr/>
        </p:nvSpPr>
        <p:spPr>
          <a:xfrm>
            <a:off x="5907024" y="1069759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Sep-26</a:t>
            </a:r>
            <a:endParaRPr lang="en-US" sz="800" b="1" dirty="0"/>
          </a:p>
        </p:txBody>
      </p:sp>
      <p:sp>
        <p:nvSpPr>
          <p:cNvPr id="16" name="Text 14"/>
          <p:cNvSpPr/>
          <p:nvPr/>
        </p:nvSpPr>
        <p:spPr>
          <a:xfrm>
            <a:off x="6638544" y="1069759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Oct-26</a:t>
            </a:r>
            <a:endParaRPr lang="en-US" sz="800" b="1" dirty="0"/>
          </a:p>
        </p:txBody>
      </p:sp>
      <p:sp>
        <p:nvSpPr>
          <p:cNvPr id="17" name="Text 15"/>
          <p:cNvSpPr/>
          <p:nvPr/>
        </p:nvSpPr>
        <p:spPr>
          <a:xfrm>
            <a:off x="7370064" y="1069759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Nov-26</a:t>
            </a:r>
            <a:endParaRPr lang="en-US" sz="800" b="1" dirty="0"/>
          </a:p>
        </p:txBody>
      </p:sp>
      <p:sp>
        <p:nvSpPr>
          <p:cNvPr id="18" name="Text 16"/>
          <p:cNvSpPr/>
          <p:nvPr/>
        </p:nvSpPr>
        <p:spPr>
          <a:xfrm>
            <a:off x="8138160" y="1069759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b="1" dirty="0"/>
          </a:p>
        </p:txBody>
      </p:sp>
      <p:sp>
        <p:nvSpPr>
          <p:cNvPr id="19" name="Shape 17"/>
          <p:cNvSpPr/>
          <p:nvPr/>
        </p:nvSpPr>
        <p:spPr>
          <a:xfrm>
            <a:off x="201168" y="1325791"/>
            <a:ext cx="8778240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20" name="Text 18"/>
          <p:cNvSpPr/>
          <p:nvPr/>
        </p:nvSpPr>
        <p:spPr>
          <a:xfrm>
            <a:off x="237744" y="1334935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DEPÓSITOS CLIENTES</a:t>
            </a:r>
            <a:endParaRPr lang="en-US" sz="900" b="1" dirty="0"/>
          </a:p>
        </p:txBody>
      </p:sp>
      <p:sp>
        <p:nvSpPr>
          <p:cNvPr id="21" name="Text 19"/>
          <p:cNvSpPr/>
          <p:nvPr/>
        </p:nvSpPr>
        <p:spPr>
          <a:xfrm>
            <a:off x="2029968" y="1334935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202,696,298</a:t>
            </a:r>
            <a:endParaRPr lang="en-US" sz="800" b="1" dirty="0"/>
          </a:p>
        </p:txBody>
      </p:sp>
      <p:sp>
        <p:nvSpPr>
          <p:cNvPr id="22" name="Text 20"/>
          <p:cNvSpPr/>
          <p:nvPr/>
        </p:nvSpPr>
        <p:spPr>
          <a:xfrm>
            <a:off x="2926080" y="1334935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23" name="Text 21"/>
          <p:cNvSpPr/>
          <p:nvPr/>
        </p:nvSpPr>
        <p:spPr>
          <a:xfrm>
            <a:off x="3712464" y="1334935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24" name="Text 22"/>
          <p:cNvSpPr/>
          <p:nvPr/>
        </p:nvSpPr>
        <p:spPr>
          <a:xfrm>
            <a:off x="4443984" y="1334935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25" name="Text 23"/>
          <p:cNvSpPr/>
          <p:nvPr/>
        </p:nvSpPr>
        <p:spPr>
          <a:xfrm>
            <a:off x="5175504" y="1334935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26" name="Text 24"/>
          <p:cNvSpPr/>
          <p:nvPr/>
        </p:nvSpPr>
        <p:spPr>
          <a:xfrm>
            <a:off x="5907024" y="1334935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27" name="Text 25"/>
          <p:cNvSpPr/>
          <p:nvPr/>
        </p:nvSpPr>
        <p:spPr>
          <a:xfrm>
            <a:off x="6638544" y="1334935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28" name="Text 26"/>
          <p:cNvSpPr/>
          <p:nvPr/>
        </p:nvSpPr>
        <p:spPr>
          <a:xfrm>
            <a:off x="7370064" y="1334935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29" name="Text 27"/>
          <p:cNvSpPr/>
          <p:nvPr/>
        </p:nvSpPr>
        <p:spPr>
          <a:xfrm>
            <a:off x="8138160" y="1334935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310,696,298</a:t>
            </a:r>
            <a:endParaRPr lang="en-US" sz="800" b="1" dirty="0"/>
          </a:p>
        </p:txBody>
      </p:sp>
      <p:sp>
        <p:nvSpPr>
          <p:cNvPr id="30" name="Shape 28"/>
          <p:cNvSpPr/>
          <p:nvPr/>
        </p:nvSpPr>
        <p:spPr>
          <a:xfrm>
            <a:off x="201168" y="1472095"/>
            <a:ext cx="8778240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31" name="Text 29"/>
          <p:cNvSpPr/>
          <p:nvPr/>
        </p:nvSpPr>
        <p:spPr>
          <a:xfrm>
            <a:off x="237744" y="1481239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APORTES DE SOCIOS</a:t>
            </a:r>
            <a:endParaRPr lang="en-US" sz="900" b="1" dirty="0"/>
          </a:p>
        </p:txBody>
      </p:sp>
      <p:sp>
        <p:nvSpPr>
          <p:cNvPr id="32" name="Text 30"/>
          <p:cNvSpPr/>
          <p:nvPr/>
        </p:nvSpPr>
        <p:spPr>
          <a:xfrm>
            <a:off x="2029968" y="1481239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322,917,734</a:t>
            </a:r>
            <a:endParaRPr lang="en-US" sz="800" b="1" dirty="0"/>
          </a:p>
        </p:txBody>
      </p:sp>
      <p:sp>
        <p:nvSpPr>
          <p:cNvPr id="33" name="Text 31"/>
          <p:cNvSpPr/>
          <p:nvPr/>
        </p:nvSpPr>
        <p:spPr>
          <a:xfrm>
            <a:off x="2926080" y="1481239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34" name="Text 32"/>
          <p:cNvSpPr/>
          <p:nvPr/>
        </p:nvSpPr>
        <p:spPr>
          <a:xfrm>
            <a:off x="3712464" y="1481239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35" name="Text 33"/>
          <p:cNvSpPr/>
          <p:nvPr/>
        </p:nvSpPr>
        <p:spPr>
          <a:xfrm>
            <a:off x="4443984" y="1481239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36" name="Text 34"/>
          <p:cNvSpPr/>
          <p:nvPr/>
        </p:nvSpPr>
        <p:spPr>
          <a:xfrm>
            <a:off x="5175504" y="1481239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37" name="Text 35"/>
          <p:cNvSpPr/>
          <p:nvPr/>
        </p:nvSpPr>
        <p:spPr>
          <a:xfrm>
            <a:off x="5907024" y="1481239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38" name="Text 36"/>
          <p:cNvSpPr/>
          <p:nvPr/>
        </p:nvSpPr>
        <p:spPr>
          <a:xfrm>
            <a:off x="6638544" y="1481239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39" name="Text 37"/>
          <p:cNvSpPr/>
          <p:nvPr/>
        </p:nvSpPr>
        <p:spPr>
          <a:xfrm>
            <a:off x="7370064" y="1481239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40" name="Text 38"/>
          <p:cNvSpPr/>
          <p:nvPr/>
        </p:nvSpPr>
        <p:spPr>
          <a:xfrm>
            <a:off x="8138160" y="1481239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322,917,734</a:t>
            </a:r>
            <a:endParaRPr lang="en-US" sz="800" b="1" dirty="0"/>
          </a:p>
        </p:txBody>
      </p:sp>
      <p:sp>
        <p:nvSpPr>
          <p:cNvPr id="41" name="Shape 39"/>
          <p:cNvSpPr/>
          <p:nvPr/>
        </p:nvSpPr>
        <p:spPr>
          <a:xfrm>
            <a:off x="201168" y="1618399"/>
            <a:ext cx="8778240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42" name="Text 40"/>
          <p:cNvSpPr/>
          <p:nvPr/>
        </p:nvSpPr>
        <p:spPr>
          <a:xfrm>
            <a:off x="237744" y="1627543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PRÉSTAMOS RECIBIDOS</a:t>
            </a:r>
            <a:endParaRPr lang="en-US" sz="900" b="1" dirty="0"/>
          </a:p>
        </p:txBody>
      </p:sp>
      <p:sp>
        <p:nvSpPr>
          <p:cNvPr id="43" name="Text 41"/>
          <p:cNvSpPr/>
          <p:nvPr/>
        </p:nvSpPr>
        <p:spPr>
          <a:xfrm>
            <a:off x="2029968" y="1627543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160,000,000</a:t>
            </a:r>
            <a:endParaRPr lang="en-US" sz="800" b="1" dirty="0"/>
          </a:p>
        </p:txBody>
      </p:sp>
      <p:sp>
        <p:nvSpPr>
          <p:cNvPr id="44" name="Text 42"/>
          <p:cNvSpPr/>
          <p:nvPr/>
        </p:nvSpPr>
        <p:spPr>
          <a:xfrm>
            <a:off x="2926080" y="1627543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45" name="Text 43"/>
          <p:cNvSpPr/>
          <p:nvPr/>
        </p:nvSpPr>
        <p:spPr>
          <a:xfrm>
            <a:off x="3712464" y="162754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90,000,000</a:t>
            </a:r>
            <a:endParaRPr lang="en-US" sz="800" b="1" dirty="0"/>
          </a:p>
        </p:txBody>
      </p:sp>
      <p:sp>
        <p:nvSpPr>
          <p:cNvPr id="46" name="Text 44"/>
          <p:cNvSpPr/>
          <p:nvPr/>
        </p:nvSpPr>
        <p:spPr>
          <a:xfrm>
            <a:off x="4443984" y="162754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50,000,000</a:t>
            </a:r>
            <a:endParaRPr lang="en-US" sz="800" b="1" dirty="0"/>
          </a:p>
        </p:txBody>
      </p:sp>
      <p:sp>
        <p:nvSpPr>
          <p:cNvPr id="47" name="Text 45"/>
          <p:cNvSpPr/>
          <p:nvPr/>
        </p:nvSpPr>
        <p:spPr>
          <a:xfrm>
            <a:off x="5175504" y="162754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100,000,000</a:t>
            </a:r>
            <a:endParaRPr lang="en-US" sz="800" b="1" dirty="0"/>
          </a:p>
        </p:txBody>
      </p:sp>
      <p:sp>
        <p:nvSpPr>
          <p:cNvPr id="48" name="Text 46"/>
          <p:cNvSpPr/>
          <p:nvPr/>
        </p:nvSpPr>
        <p:spPr>
          <a:xfrm>
            <a:off x="5907024" y="162754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140,000,000</a:t>
            </a:r>
            <a:endParaRPr lang="en-US" sz="800" b="1" dirty="0"/>
          </a:p>
        </p:txBody>
      </p:sp>
      <p:sp>
        <p:nvSpPr>
          <p:cNvPr id="49" name="Text 47"/>
          <p:cNvSpPr/>
          <p:nvPr/>
        </p:nvSpPr>
        <p:spPr>
          <a:xfrm>
            <a:off x="6638544" y="162754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50" name="Text 48"/>
          <p:cNvSpPr/>
          <p:nvPr/>
        </p:nvSpPr>
        <p:spPr>
          <a:xfrm>
            <a:off x="7370064" y="162754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130,000,000</a:t>
            </a:r>
            <a:endParaRPr lang="en-US" sz="800" b="1" dirty="0"/>
          </a:p>
        </p:txBody>
      </p:sp>
      <p:sp>
        <p:nvSpPr>
          <p:cNvPr id="51" name="Text 49"/>
          <p:cNvSpPr/>
          <p:nvPr/>
        </p:nvSpPr>
        <p:spPr>
          <a:xfrm>
            <a:off x="8138160" y="1627543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670,000,000</a:t>
            </a:r>
            <a:endParaRPr lang="en-US" sz="800" b="1" dirty="0"/>
          </a:p>
        </p:txBody>
      </p:sp>
      <p:sp>
        <p:nvSpPr>
          <p:cNvPr id="52" name="Shape 50"/>
          <p:cNvSpPr/>
          <p:nvPr/>
        </p:nvSpPr>
        <p:spPr>
          <a:xfrm>
            <a:off x="201168" y="1764703"/>
            <a:ext cx="8778240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53" name="Text 51"/>
          <p:cNvSpPr/>
          <p:nvPr/>
        </p:nvSpPr>
        <p:spPr>
          <a:xfrm>
            <a:off x="237744" y="1773847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INTERESES</a:t>
            </a:r>
            <a:endParaRPr lang="en-US" sz="900" b="1" dirty="0"/>
          </a:p>
        </p:txBody>
      </p:sp>
      <p:sp>
        <p:nvSpPr>
          <p:cNvPr id="54" name="Text 52"/>
          <p:cNvSpPr/>
          <p:nvPr/>
        </p:nvSpPr>
        <p:spPr>
          <a:xfrm>
            <a:off x="2029968" y="1773847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2,417,350</a:t>
            </a:r>
            <a:endParaRPr lang="en-US" sz="800" b="1" dirty="0"/>
          </a:p>
        </p:txBody>
      </p:sp>
      <p:sp>
        <p:nvSpPr>
          <p:cNvPr id="55" name="Text 53"/>
          <p:cNvSpPr/>
          <p:nvPr/>
        </p:nvSpPr>
        <p:spPr>
          <a:xfrm>
            <a:off x="2926080" y="1773847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56" name="Text 54"/>
          <p:cNvSpPr/>
          <p:nvPr/>
        </p:nvSpPr>
        <p:spPr>
          <a:xfrm>
            <a:off x="3712464" y="1773847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57" name="Text 55"/>
          <p:cNvSpPr/>
          <p:nvPr/>
        </p:nvSpPr>
        <p:spPr>
          <a:xfrm>
            <a:off x="4443984" y="1773847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58" name="Text 56"/>
          <p:cNvSpPr/>
          <p:nvPr/>
        </p:nvSpPr>
        <p:spPr>
          <a:xfrm>
            <a:off x="5175504" y="1773847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59" name="Text 57"/>
          <p:cNvSpPr/>
          <p:nvPr/>
        </p:nvSpPr>
        <p:spPr>
          <a:xfrm>
            <a:off x="5907024" y="1773847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60" name="Text 58"/>
          <p:cNvSpPr/>
          <p:nvPr/>
        </p:nvSpPr>
        <p:spPr>
          <a:xfrm>
            <a:off x="6638544" y="1773847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61" name="Text 59"/>
          <p:cNvSpPr/>
          <p:nvPr/>
        </p:nvSpPr>
        <p:spPr>
          <a:xfrm>
            <a:off x="7370064" y="1773847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800" b="1" dirty="0"/>
          </a:p>
        </p:txBody>
      </p:sp>
      <p:sp>
        <p:nvSpPr>
          <p:cNvPr id="62" name="Text 60"/>
          <p:cNvSpPr/>
          <p:nvPr/>
        </p:nvSpPr>
        <p:spPr>
          <a:xfrm>
            <a:off x="8138160" y="1773847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2,417,350</a:t>
            </a:r>
            <a:endParaRPr lang="en-US" sz="800" b="1" dirty="0"/>
          </a:p>
        </p:txBody>
      </p:sp>
      <p:sp>
        <p:nvSpPr>
          <p:cNvPr id="63" name="Shape 61"/>
          <p:cNvSpPr/>
          <p:nvPr/>
        </p:nvSpPr>
        <p:spPr>
          <a:xfrm>
            <a:off x="201168" y="1911007"/>
            <a:ext cx="8778240" cy="146304"/>
          </a:xfrm>
          <a:prstGeom prst="rect">
            <a:avLst/>
          </a:prstGeom>
          <a:solidFill>
            <a:srgbClr val="1A7A4A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64" name="Text 62"/>
          <p:cNvSpPr/>
          <p:nvPr/>
        </p:nvSpPr>
        <p:spPr>
          <a:xfrm>
            <a:off x="237744" y="1920151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INGRESOS RD$</a:t>
            </a:r>
            <a:endParaRPr lang="en-US" sz="900" b="1" dirty="0"/>
          </a:p>
        </p:txBody>
      </p:sp>
      <p:sp>
        <p:nvSpPr>
          <p:cNvPr id="65" name="Text 63"/>
          <p:cNvSpPr/>
          <p:nvPr/>
        </p:nvSpPr>
        <p:spPr>
          <a:xfrm>
            <a:off x="2029968" y="1920151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688,031,382</a:t>
            </a:r>
            <a:endParaRPr lang="en-US" sz="800" b="1" dirty="0"/>
          </a:p>
        </p:txBody>
      </p:sp>
      <p:sp>
        <p:nvSpPr>
          <p:cNvPr id="66" name="Text 64"/>
          <p:cNvSpPr/>
          <p:nvPr/>
        </p:nvSpPr>
        <p:spPr>
          <a:xfrm>
            <a:off x="2926080" y="1920151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b="1" dirty="0"/>
          </a:p>
        </p:txBody>
      </p:sp>
      <p:sp>
        <p:nvSpPr>
          <p:cNvPr id="67" name="Text 65"/>
          <p:cNvSpPr/>
          <p:nvPr/>
        </p:nvSpPr>
        <p:spPr>
          <a:xfrm>
            <a:off x="3712464" y="192015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108,000,000</a:t>
            </a:r>
            <a:endParaRPr lang="en-US" sz="800" b="1" dirty="0"/>
          </a:p>
        </p:txBody>
      </p:sp>
      <p:sp>
        <p:nvSpPr>
          <p:cNvPr id="68" name="Text 66"/>
          <p:cNvSpPr/>
          <p:nvPr/>
        </p:nvSpPr>
        <p:spPr>
          <a:xfrm>
            <a:off x="4443984" y="192015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68,000,000</a:t>
            </a:r>
            <a:endParaRPr lang="en-US" sz="800" b="1" dirty="0"/>
          </a:p>
        </p:txBody>
      </p:sp>
      <p:sp>
        <p:nvSpPr>
          <p:cNvPr id="69" name="Text 67"/>
          <p:cNvSpPr/>
          <p:nvPr/>
        </p:nvSpPr>
        <p:spPr>
          <a:xfrm>
            <a:off x="5175504" y="192015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118,000,000</a:t>
            </a:r>
            <a:endParaRPr lang="en-US" sz="800" b="1" dirty="0"/>
          </a:p>
        </p:txBody>
      </p:sp>
      <p:sp>
        <p:nvSpPr>
          <p:cNvPr id="70" name="Text 68"/>
          <p:cNvSpPr/>
          <p:nvPr/>
        </p:nvSpPr>
        <p:spPr>
          <a:xfrm>
            <a:off x="5907024" y="192015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158,000,000</a:t>
            </a:r>
            <a:endParaRPr lang="en-US" sz="800" b="1" dirty="0"/>
          </a:p>
        </p:txBody>
      </p:sp>
      <p:sp>
        <p:nvSpPr>
          <p:cNvPr id="71" name="Text 69"/>
          <p:cNvSpPr/>
          <p:nvPr/>
        </p:nvSpPr>
        <p:spPr>
          <a:xfrm>
            <a:off x="6638544" y="192015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18,000,000</a:t>
            </a:r>
            <a:endParaRPr lang="en-US" sz="800" b="1" dirty="0"/>
          </a:p>
        </p:txBody>
      </p:sp>
      <p:sp>
        <p:nvSpPr>
          <p:cNvPr id="72" name="Text 70"/>
          <p:cNvSpPr/>
          <p:nvPr/>
        </p:nvSpPr>
        <p:spPr>
          <a:xfrm>
            <a:off x="7370064" y="192015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148,000,000</a:t>
            </a:r>
            <a:endParaRPr lang="en-US" sz="800" b="1" dirty="0"/>
          </a:p>
        </p:txBody>
      </p:sp>
      <p:sp>
        <p:nvSpPr>
          <p:cNvPr id="73" name="Text 71"/>
          <p:cNvSpPr/>
          <p:nvPr/>
        </p:nvSpPr>
        <p:spPr>
          <a:xfrm>
            <a:off x="8138160" y="1920151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1,306,031,382</a:t>
            </a:r>
            <a:endParaRPr lang="en-US" sz="800" b="1" dirty="0"/>
          </a:p>
        </p:txBody>
      </p:sp>
      <p:sp>
        <p:nvSpPr>
          <p:cNvPr id="74" name="Shape 72"/>
          <p:cNvSpPr/>
          <p:nvPr/>
        </p:nvSpPr>
        <p:spPr>
          <a:xfrm>
            <a:off x="201168" y="2057311"/>
            <a:ext cx="8778240" cy="4572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75" name="Shape 73"/>
          <p:cNvSpPr/>
          <p:nvPr/>
        </p:nvSpPr>
        <p:spPr>
          <a:xfrm>
            <a:off x="201168" y="2103031"/>
            <a:ext cx="8778240" cy="164592"/>
          </a:xfrm>
          <a:prstGeom prst="rect">
            <a:avLst/>
          </a:prstGeom>
          <a:solidFill>
            <a:srgbClr val="2B5E8C"/>
          </a:solidFill>
          <a:ln w="12700">
            <a:solidFill>
              <a:srgbClr val="2B5E8C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76" name="Text 74"/>
          <p:cNvSpPr/>
          <p:nvPr/>
        </p:nvSpPr>
        <p:spPr>
          <a:xfrm>
            <a:off x="246888" y="2107603"/>
            <a:ext cx="8686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PRESUPUESTAL  —  Valores en RD$</a:t>
            </a:r>
            <a:endParaRPr lang="en-US" sz="800" b="1" dirty="0"/>
          </a:p>
        </p:txBody>
      </p:sp>
      <p:sp>
        <p:nvSpPr>
          <p:cNvPr id="77" name="Shape 75"/>
          <p:cNvSpPr/>
          <p:nvPr/>
        </p:nvSpPr>
        <p:spPr>
          <a:xfrm>
            <a:off x="201168" y="2276767"/>
            <a:ext cx="8778240" cy="256032"/>
          </a:xfrm>
          <a:prstGeom prst="rect">
            <a:avLst/>
          </a:prstGeom>
          <a:solidFill>
            <a:srgbClr val="2B5E8C"/>
          </a:solidFill>
          <a:ln w="12700">
            <a:solidFill>
              <a:srgbClr val="2B5E8C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78" name="Text 76"/>
          <p:cNvSpPr/>
          <p:nvPr/>
        </p:nvSpPr>
        <p:spPr>
          <a:xfrm>
            <a:off x="237744" y="2295055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COSTO</a:t>
            </a:r>
            <a:endParaRPr lang="en-US" sz="800" b="1" dirty="0"/>
          </a:p>
        </p:txBody>
      </p:sp>
      <p:sp>
        <p:nvSpPr>
          <p:cNvPr id="79" name="Text 77"/>
          <p:cNvSpPr/>
          <p:nvPr/>
        </p:nvSpPr>
        <p:spPr>
          <a:xfrm>
            <a:off x="2029968" y="2295055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800" b="1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ACUMULADOS</a:t>
            </a:r>
            <a:endParaRPr lang="en-US" sz="800" b="1" dirty="0"/>
          </a:p>
        </p:txBody>
      </p:sp>
      <p:sp>
        <p:nvSpPr>
          <p:cNvPr id="80" name="Text 78"/>
          <p:cNvSpPr/>
          <p:nvPr/>
        </p:nvSpPr>
        <p:spPr>
          <a:xfrm>
            <a:off x="2926080" y="2295055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EJEC.</a:t>
            </a:r>
            <a:endParaRPr lang="en-US" sz="800" b="1" dirty="0"/>
          </a:p>
        </p:txBody>
      </p:sp>
      <p:sp>
        <p:nvSpPr>
          <p:cNvPr id="81" name="Text 79"/>
          <p:cNvSpPr/>
          <p:nvPr/>
        </p:nvSpPr>
        <p:spPr>
          <a:xfrm>
            <a:off x="3712464" y="2295055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Jun-26</a:t>
            </a:r>
            <a:endParaRPr lang="en-US" sz="800" b="1" dirty="0"/>
          </a:p>
        </p:txBody>
      </p:sp>
      <p:sp>
        <p:nvSpPr>
          <p:cNvPr id="82" name="Text 80"/>
          <p:cNvSpPr/>
          <p:nvPr/>
        </p:nvSpPr>
        <p:spPr>
          <a:xfrm>
            <a:off x="4443984" y="2295055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</a:t>
            </a:r>
            <a:endParaRPr lang="en-US" sz="800" b="1" dirty="0"/>
          </a:p>
        </p:txBody>
      </p:sp>
      <p:sp>
        <p:nvSpPr>
          <p:cNvPr id="83" name="Text 81"/>
          <p:cNvSpPr/>
          <p:nvPr/>
        </p:nvSpPr>
        <p:spPr>
          <a:xfrm>
            <a:off x="5175504" y="2295055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Aug-26</a:t>
            </a:r>
            <a:endParaRPr lang="en-US" sz="800" b="1" dirty="0"/>
          </a:p>
        </p:txBody>
      </p:sp>
      <p:sp>
        <p:nvSpPr>
          <p:cNvPr id="84" name="Text 82"/>
          <p:cNvSpPr/>
          <p:nvPr/>
        </p:nvSpPr>
        <p:spPr>
          <a:xfrm>
            <a:off x="5907024" y="2295055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Sep-26</a:t>
            </a:r>
            <a:endParaRPr lang="en-US" sz="800" b="1" dirty="0"/>
          </a:p>
        </p:txBody>
      </p:sp>
      <p:sp>
        <p:nvSpPr>
          <p:cNvPr id="85" name="Text 83"/>
          <p:cNvSpPr/>
          <p:nvPr/>
        </p:nvSpPr>
        <p:spPr>
          <a:xfrm>
            <a:off x="6638544" y="2295055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Oct-26</a:t>
            </a:r>
            <a:endParaRPr lang="en-US" sz="800" b="1" dirty="0"/>
          </a:p>
        </p:txBody>
      </p:sp>
      <p:sp>
        <p:nvSpPr>
          <p:cNvPr id="86" name="Text 84"/>
          <p:cNvSpPr/>
          <p:nvPr/>
        </p:nvSpPr>
        <p:spPr>
          <a:xfrm>
            <a:off x="7370064" y="2295055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Nov-26</a:t>
            </a:r>
            <a:endParaRPr lang="en-US" sz="800" b="1" dirty="0"/>
          </a:p>
        </p:txBody>
      </p:sp>
      <p:sp>
        <p:nvSpPr>
          <p:cNvPr id="87" name="Text 85"/>
          <p:cNvSpPr/>
          <p:nvPr/>
        </p:nvSpPr>
        <p:spPr>
          <a:xfrm>
            <a:off x="8138160" y="2295055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b="1" dirty="0"/>
          </a:p>
        </p:txBody>
      </p:sp>
      <p:sp>
        <p:nvSpPr>
          <p:cNvPr id="88" name="Shape 86"/>
          <p:cNvSpPr/>
          <p:nvPr/>
        </p:nvSpPr>
        <p:spPr>
          <a:xfrm>
            <a:off x="201168" y="2551087"/>
            <a:ext cx="8778240" cy="146304"/>
          </a:xfrm>
          <a:prstGeom prst="rect">
            <a:avLst/>
          </a:prstGeom>
          <a:solidFill>
            <a:srgbClr val="C4D9EC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89" name="Text 87"/>
          <p:cNvSpPr/>
          <p:nvPr/>
        </p:nvSpPr>
        <p:spPr>
          <a:xfrm>
            <a:off x="237744" y="2560231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CONSTRUCCIÓN</a:t>
            </a:r>
            <a:endParaRPr lang="en-US" sz="900" b="1" dirty="0"/>
          </a:p>
        </p:txBody>
      </p:sp>
      <p:sp>
        <p:nvSpPr>
          <p:cNvPr id="90" name="Text 88"/>
          <p:cNvSpPr/>
          <p:nvPr/>
        </p:nvSpPr>
        <p:spPr>
          <a:xfrm>
            <a:off x="2029968" y="2560231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443,681,600</a:t>
            </a:r>
            <a:endParaRPr lang="en-US" sz="800" b="1" dirty="0"/>
          </a:p>
        </p:txBody>
      </p:sp>
      <p:sp>
        <p:nvSpPr>
          <p:cNvPr id="91" name="Text 89"/>
          <p:cNvSpPr/>
          <p:nvPr/>
        </p:nvSpPr>
        <p:spPr>
          <a:xfrm>
            <a:off x="2926080" y="2560231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800" b="1" dirty="0"/>
          </a:p>
        </p:txBody>
      </p:sp>
      <p:sp>
        <p:nvSpPr>
          <p:cNvPr id="92" name="Text 90"/>
          <p:cNvSpPr/>
          <p:nvPr/>
        </p:nvSpPr>
        <p:spPr>
          <a:xfrm>
            <a:off x="3712464" y="256023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115,382,985</a:t>
            </a:r>
            <a:endParaRPr lang="en-US" sz="800" b="1" dirty="0"/>
          </a:p>
        </p:txBody>
      </p:sp>
      <p:sp>
        <p:nvSpPr>
          <p:cNvPr id="93" name="Text 91"/>
          <p:cNvSpPr/>
          <p:nvPr/>
        </p:nvSpPr>
        <p:spPr>
          <a:xfrm>
            <a:off x="4443984" y="256023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48,319,780</a:t>
            </a:r>
            <a:endParaRPr lang="en-US" sz="800" b="1" dirty="0"/>
          </a:p>
        </p:txBody>
      </p:sp>
      <p:sp>
        <p:nvSpPr>
          <p:cNvPr id="94" name="Text 92"/>
          <p:cNvSpPr/>
          <p:nvPr/>
        </p:nvSpPr>
        <p:spPr>
          <a:xfrm>
            <a:off x="5175504" y="256023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80,965,325</a:t>
            </a:r>
            <a:endParaRPr lang="en-US" sz="800" b="1" dirty="0"/>
          </a:p>
        </p:txBody>
      </p:sp>
      <p:sp>
        <p:nvSpPr>
          <p:cNvPr id="95" name="Text 93"/>
          <p:cNvSpPr/>
          <p:nvPr/>
        </p:nvSpPr>
        <p:spPr>
          <a:xfrm>
            <a:off x="5907024" y="256023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82,214,850</a:t>
            </a:r>
            <a:endParaRPr lang="en-US" sz="800" b="1" dirty="0"/>
          </a:p>
        </p:txBody>
      </p:sp>
      <p:sp>
        <p:nvSpPr>
          <p:cNvPr id="96" name="Text 94"/>
          <p:cNvSpPr/>
          <p:nvPr/>
        </p:nvSpPr>
        <p:spPr>
          <a:xfrm>
            <a:off x="6638544" y="256023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76,481,173</a:t>
            </a:r>
            <a:endParaRPr lang="en-US" sz="800" b="1" dirty="0"/>
          </a:p>
        </p:txBody>
      </p:sp>
      <p:sp>
        <p:nvSpPr>
          <p:cNvPr id="97" name="Text 95"/>
          <p:cNvSpPr/>
          <p:nvPr/>
        </p:nvSpPr>
        <p:spPr>
          <a:xfrm>
            <a:off x="7370064" y="2560231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74,525,848</a:t>
            </a:r>
            <a:endParaRPr lang="en-US" sz="800" b="1" dirty="0"/>
          </a:p>
        </p:txBody>
      </p:sp>
      <p:sp>
        <p:nvSpPr>
          <p:cNvPr id="98" name="Text 96"/>
          <p:cNvSpPr/>
          <p:nvPr/>
        </p:nvSpPr>
        <p:spPr>
          <a:xfrm>
            <a:off x="8138160" y="2560231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921,571,561</a:t>
            </a:r>
            <a:endParaRPr lang="en-US" sz="800" b="1" dirty="0"/>
          </a:p>
        </p:txBody>
      </p:sp>
      <p:sp>
        <p:nvSpPr>
          <p:cNvPr id="99" name="Shape 97"/>
          <p:cNvSpPr/>
          <p:nvPr/>
        </p:nvSpPr>
        <p:spPr>
          <a:xfrm>
            <a:off x="201168" y="2697391"/>
            <a:ext cx="8778240" cy="146304"/>
          </a:xfrm>
          <a:prstGeom prst="rect">
            <a:avLst/>
          </a:prstGeom>
          <a:solidFill>
            <a:srgbClr val="C4D9EC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100" name="Text 98"/>
          <p:cNvSpPr/>
          <p:nvPr/>
        </p:nvSpPr>
        <p:spPr>
          <a:xfrm>
            <a:off x="237744" y="2706535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OPERATIVOS</a:t>
            </a:r>
            <a:endParaRPr lang="en-US" sz="900" b="1" dirty="0"/>
          </a:p>
        </p:txBody>
      </p:sp>
      <p:sp>
        <p:nvSpPr>
          <p:cNvPr id="101" name="Text 99"/>
          <p:cNvSpPr/>
          <p:nvPr/>
        </p:nvSpPr>
        <p:spPr>
          <a:xfrm>
            <a:off x="2029968" y="2706535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167,081,694</a:t>
            </a:r>
            <a:endParaRPr lang="en-US" sz="800" b="1" dirty="0"/>
          </a:p>
        </p:txBody>
      </p:sp>
      <p:sp>
        <p:nvSpPr>
          <p:cNvPr id="102" name="Text 100"/>
          <p:cNvSpPr/>
          <p:nvPr/>
        </p:nvSpPr>
        <p:spPr>
          <a:xfrm>
            <a:off x="2926080" y="2706535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00" b="1" dirty="0"/>
          </a:p>
        </p:txBody>
      </p:sp>
      <p:sp>
        <p:nvSpPr>
          <p:cNvPr id="103" name="Text 101"/>
          <p:cNvSpPr/>
          <p:nvPr/>
        </p:nvSpPr>
        <p:spPr>
          <a:xfrm>
            <a:off x="3712464" y="2706535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18,703,994</a:t>
            </a:r>
            <a:endParaRPr lang="en-US" sz="800" b="1" dirty="0"/>
          </a:p>
        </p:txBody>
      </p:sp>
      <p:sp>
        <p:nvSpPr>
          <p:cNvPr id="104" name="Text 102"/>
          <p:cNvSpPr/>
          <p:nvPr/>
        </p:nvSpPr>
        <p:spPr>
          <a:xfrm>
            <a:off x="4443984" y="2706535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14,737,745</a:t>
            </a:r>
            <a:endParaRPr lang="en-US" sz="800" b="1" dirty="0"/>
          </a:p>
        </p:txBody>
      </p:sp>
      <p:sp>
        <p:nvSpPr>
          <p:cNvPr id="105" name="Text 103"/>
          <p:cNvSpPr/>
          <p:nvPr/>
        </p:nvSpPr>
        <p:spPr>
          <a:xfrm>
            <a:off x="5175504" y="2706535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14,737,745</a:t>
            </a:r>
            <a:endParaRPr lang="en-US" sz="800" b="1" dirty="0"/>
          </a:p>
        </p:txBody>
      </p:sp>
      <p:sp>
        <p:nvSpPr>
          <p:cNvPr id="106" name="Text 104"/>
          <p:cNvSpPr/>
          <p:nvPr/>
        </p:nvSpPr>
        <p:spPr>
          <a:xfrm>
            <a:off x="5907024" y="2706535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16,502,350</a:t>
            </a:r>
            <a:endParaRPr lang="en-US" sz="800" b="1" dirty="0"/>
          </a:p>
        </p:txBody>
      </p:sp>
      <p:sp>
        <p:nvSpPr>
          <p:cNvPr id="107" name="Text 105"/>
          <p:cNvSpPr/>
          <p:nvPr/>
        </p:nvSpPr>
        <p:spPr>
          <a:xfrm>
            <a:off x="6638544" y="2706535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16,502,350</a:t>
            </a:r>
            <a:endParaRPr lang="en-US" sz="800" b="1" dirty="0"/>
          </a:p>
        </p:txBody>
      </p:sp>
      <p:sp>
        <p:nvSpPr>
          <p:cNvPr id="108" name="Text 106"/>
          <p:cNvSpPr/>
          <p:nvPr/>
        </p:nvSpPr>
        <p:spPr>
          <a:xfrm>
            <a:off x="7370064" y="2706535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16,502,350</a:t>
            </a:r>
            <a:endParaRPr lang="en-US" sz="800" b="1" dirty="0"/>
          </a:p>
        </p:txBody>
      </p:sp>
      <p:sp>
        <p:nvSpPr>
          <p:cNvPr id="109" name="Text 107"/>
          <p:cNvSpPr/>
          <p:nvPr/>
        </p:nvSpPr>
        <p:spPr>
          <a:xfrm>
            <a:off x="8138160" y="2706535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264,768,228</a:t>
            </a:r>
            <a:endParaRPr lang="en-US" sz="800" b="1" dirty="0"/>
          </a:p>
        </p:txBody>
      </p:sp>
      <p:sp>
        <p:nvSpPr>
          <p:cNvPr id="110" name="Shape 108"/>
          <p:cNvSpPr/>
          <p:nvPr/>
        </p:nvSpPr>
        <p:spPr>
          <a:xfrm>
            <a:off x="201168" y="2843695"/>
            <a:ext cx="8778240" cy="146304"/>
          </a:xfrm>
          <a:prstGeom prst="rect">
            <a:avLst/>
          </a:prstGeom>
          <a:solidFill>
            <a:srgbClr val="C4D9EC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111" name="Text 109"/>
          <p:cNvSpPr/>
          <p:nvPr/>
        </p:nvSpPr>
        <p:spPr>
          <a:xfrm>
            <a:off x="237744" y="2852839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GASTOS</a:t>
            </a:r>
            <a:endParaRPr lang="en-US" sz="900" b="1" dirty="0"/>
          </a:p>
        </p:txBody>
      </p:sp>
      <p:sp>
        <p:nvSpPr>
          <p:cNvPr id="112" name="Text 110"/>
          <p:cNvSpPr/>
          <p:nvPr/>
        </p:nvSpPr>
        <p:spPr>
          <a:xfrm>
            <a:off x="2029968" y="2852839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40,105,275</a:t>
            </a:r>
            <a:endParaRPr lang="en-US" sz="800" b="1" dirty="0"/>
          </a:p>
        </p:txBody>
      </p:sp>
      <p:sp>
        <p:nvSpPr>
          <p:cNvPr id="113" name="Text 111"/>
          <p:cNvSpPr/>
          <p:nvPr/>
        </p:nvSpPr>
        <p:spPr>
          <a:xfrm>
            <a:off x="2926080" y="2852839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800" b="1" dirty="0"/>
          </a:p>
        </p:txBody>
      </p:sp>
      <p:sp>
        <p:nvSpPr>
          <p:cNvPr id="114" name="Text 112"/>
          <p:cNvSpPr/>
          <p:nvPr/>
        </p:nvSpPr>
        <p:spPr>
          <a:xfrm>
            <a:off x="3712464" y="2852839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2,920,833</a:t>
            </a:r>
            <a:endParaRPr lang="en-US" sz="800" b="1" dirty="0"/>
          </a:p>
        </p:txBody>
      </p:sp>
      <p:sp>
        <p:nvSpPr>
          <p:cNvPr id="115" name="Text 113"/>
          <p:cNvSpPr/>
          <p:nvPr/>
        </p:nvSpPr>
        <p:spPr>
          <a:xfrm>
            <a:off x="4443984" y="2852839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3,893,750</a:t>
            </a:r>
            <a:endParaRPr lang="en-US" sz="800" b="1" dirty="0"/>
          </a:p>
        </p:txBody>
      </p:sp>
      <p:sp>
        <p:nvSpPr>
          <p:cNvPr id="116" name="Text 114"/>
          <p:cNvSpPr/>
          <p:nvPr/>
        </p:nvSpPr>
        <p:spPr>
          <a:xfrm>
            <a:off x="5175504" y="2852839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3,093,750</a:t>
            </a:r>
            <a:endParaRPr lang="en-US" sz="800" b="1" dirty="0"/>
          </a:p>
        </p:txBody>
      </p:sp>
      <p:sp>
        <p:nvSpPr>
          <p:cNvPr id="117" name="Text 115"/>
          <p:cNvSpPr/>
          <p:nvPr/>
        </p:nvSpPr>
        <p:spPr>
          <a:xfrm>
            <a:off x="5907024" y="2852839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5,493,750</a:t>
            </a:r>
            <a:endParaRPr lang="en-US" sz="800" b="1" dirty="0"/>
          </a:p>
        </p:txBody>
      </p:sp>
      <p:sp>
        <p:nvSpPr>
          <p:cNvPr id="118" name="Text 116"/>
          <p:cNvSpPr/>
          <p:nvPr/>
        </p:nvSpPr>
        <p:spPr>
          <a:xfrm>
            <a:off x="6638544" y="2852839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5,093,750</a:t>
            </a:r>
            <a:endParaRPr lang="en-US" sz="800" b="1" dirty="0"/>
          </a:p>
        </p:txBody>
      </p:sp>
      <p:sp>
        <p:nvSpPr>
          <p:cNvPr id="119" name="Text 117"/>
          <p:cNvSpPr/>
          <p:nvPr/>
        </p:nvSpPr>
        <p:spPr>
          <a:xfrm>
            <a:off x="7370064" y="2852839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10,809,028</a:t>
            </a:r>
            <a:endParaRPr lang="en-US" sz="800" b="1" dirty="0"/>
          </a:p>
        </p:txBody>
      </p:sp>
      <p:sp>
        <p:nvSpPr>
          <p:cNvPr id="120" name="Text 118"/>
          <p:cNvSpPr/>
          <p:nvPr/>
        </p:nvSpPr>
        <p:spPr>
          <a:xfrm>
            <a:off x="8138160" y="2852839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71,410,136</a:t>
            </a:r>
            <a:endParaRPr lang="en-US" sz="800" b="1" dirty="0"/>
          </a:p>
        </p:txBody>
      </p:sp>
      <p:sp>
        <p:nvSpPr>
          <p:cNvPr id="121" name="Shape 119"/>
          <p:cNvSpPr/>
          <p:nvPr/>
        </p:nvSpPr>
        <p:spPr>
          <a:xfrm>
            <a:off x="201168" y="2989999"/>
            <a:ext cx="8778240" cy="146304"/>
          </a:xfrm>
          <a:prstGeom prst="rect">
            <a:avLst/>
          </a:prstGeom>
          <a:solidFill>
            <a:srgbClr val="0E2040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b="1"/>
          </a:p>
        </p:txBody>
      </p:sp>
      <p:sp>
        <p:nvSpPr>
          <p:cNvPr id="122" name="Text 120"/>
          <p:cNvSpPr/>
          <p:nvPr/>
        </p:nvSpPr>
        <p:spPr>
          <a:xfrm>
            <a:off x="237744" y="2999143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GENERALES RD$</a:t>
            </a:r>
            <a:endParaRPr lang="en-US" sz="900" b="1" dirty="0"/>
          </a:p>
        </p:txBody>
      </p:sp>
      <p:sp>
        <p:nvSpPr>
          <p:cNvPr id="123" name="Text 121"/>
          <p:cNvSpPr/>
          <p:nvPr/>
        </p:nvSpPr>
        <p:spPr>
          <a:xfrm>
            <a:off x="2029968" y="2999143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650,868,570</a:t>
            </a:r>
            <a:endParaRPr lang="en-US" sz="800" b="1" dirty="0"/>
          </a:p>
        </p:txBody>
      </p:sp>
      <p:sp>
        <p:nvSpPr>
          <p:cNvPr id="124" name="Text 122"/>
          <p:cNvSpPr/>
          <p:nvPr/>
        </p:nvSpPr>
        <p:spPr>
          <a:xfrm>
            <a:off x="2926080" y="2999143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b="1" dirty="0"/>
          </a:p>
        </p:txBody>
      </p:sp>
      <p:sp>
        <p:nvSpPr>
          <p:cNvPr id="125" name="Text 123"/>
          <p:cNvSpPr/>
          <p:nvPr/>
        </p:nvSpPr>
        <p:spPr>
          <a:xfrm>
            <a:off x="3712464" y="299914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137,007,812</a:t>
            </a:r>
            <a:endParaRPr lang="en-US" sz="800" b="1" dirty="0"/>
          </a:p>
        </p:txBody>
      </p:sp>
      <p:sp>
        <p:nvSpPr>
          <p:cNvPr id="126" name="Text 124"/>
          <p:cNvSpPr/>
          <p:nvPr/>
        </p:nvSpPr>
        <p:spPr>
          <a:xfrm>
            <a:off x="4443984" y="299914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66,951,275</a:t>
            </a:r>
            <a:endParaRPr lang="en-US" sz="800" b="1" dirty="0"/>
          </a:p>
        </p:txBody>
      </p:sp>
      <p:sp>
        <p:nvSpPr>
          <p:cNvPr id="127" name="Text 125"/>
          <p:cNvSpPr/>
          <p:nvPr/>
        </p:nvSpPr>
        <p:spPr>
          <a:xfrm>
            <a:off x="5175504" y="299914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98,796,820</a:t>
            </a:r>
            <a:endParaRPr lang="en-US" sz="800" b="1" dirty="0"/>
          </a:p>
        </p:txBody>
      </p:sp>
      <p:sp>
        <p:nvSpPr>
          <p:cNvPr id="128" name="Text 126"/>
          <p:cNvSpPr/>
          <p:nvPr/>
        </p:nvSpPr>
        <p:spPr>
          <a:xfrm>
            <a:off x="5907024" y="299914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104,210,950</a:t>
            </a:r>
            <a:endParaRPr lang="en-US" sz="800" b="1" dirty="0"/>
          </a:p>
        </p:txBody>
      </p:sp>
      <p:sp>
        <p:nvSpPr>
          <p:cNvPr id="129" name="Text 127"/>
          <p:cNvSpPr/>
          <p:nvPr/>
        </p:nvSpPr>
        <p:spPr>
          <a:xfrm>
            <a:off x="6638544" y="299914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98,077,273</a:t>
            </a:r>
            <a:endParaRPr lang="en-US" sz="800" b="1" dirty="0"/>
          </a:p>
        </p:txBody>
      </p:sp>
      <p:sp>
        <p:nvSpPr>
          <p:cNvPr id="130" name="Text 128"/>
          <p:cNvSpPr/>
          <p:nvPr/>
        </p:nvSpPr>
        <p:spPr>
          <a:xfrm>
            <a:off x="7370064" y="299914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101,837,226</a:t>
            </a:r>
            <a:endParaRPr lang="en-US" sz="800" b="1" dirty="0"/>
          </a:p>
        </p:txBody>
      </p:sp>
      <p:sp>
        <p:nvSpPr>
          <p:cNvPr id="131" name="Text 129"/>
          <p:cNvSpPr/>
          <p:nvPr/>
        </p:nvSpPr>
        <p:spPr>
          <a:xfrm>
            <a:off x="8138160" y="2999143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1,257,749,925</a:t>
            </a:r>
            <a:endParaRPr lang="en-US" sz="800" b="1" dirty="0"/>
          </a:p>
        </p:txBody>
      </p:sp>
      <p:sp>
        <p:nvSpPr>
          <p:cNvPr id="132" name="Shape 130"/>
          <p:cNvSpPr/>
          <p:nvPr/>
        </p:nvSpPr>
        <p:spPr>
          <a:xfrm>
            <a:off x="201168" y="3136303"/>
            <a:ext cx="8778240" cy="36576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 sz="2800" b="1"/>
          </a:p>
        </p:txBody>
      </p:sp>
      <p:sp>
        <p:nvSpPr>
          <p:cNvPr id="133" name="Shape 131"/>
          <p:cNvSpPr/>
          <p:nvPr/>
        </p:nvSpPr>
        <p:spPr>
          <a:xfrm>
            <a:off x="201168" y="3172879"/>
            <a:ext cx="8778240" cy="146304"/>
          </a:xfrm>
          <a:prstGeom prst="rect">
            <a:avLst/>
          </a:prstGeom>
          <a:solidFill>
            <a:srgbClr val="0E2040"/>
          </a:solidFill>
          <a:ln w="12700">
            <a:solidFill>
              <a:srgbClr val="E8EBF0"/>
            </a:solidFill>
            <a:prstDash val="solid"/>
          </a:ln>
        </p:spPr>
        <p:txBody>
          <a:bodyPr/>
          <a:lstStyle/>
          <a:p>
            <a:endParaRPr lang="es-ES" sz="2800" b="1"/>
          </a:p>
        </p:txBody>
      </p:sp>
      <p:sp>
        <p:nvSpPr>
          <p:cNvPr id="134" name="Text 132"/>
          <p:cNvSpPr/>
          <p:nvPr/>
        </p:nvSpPr>
        <p:spPr>
          <a:xfrm>
            <a:off x="237744" y="3182023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NETO (Ingresos − Costos)</a:t>
            </a:r>
            <a:endParaRPr lang="en-US" sz="1100" b="1" dirty="0"/>
          </a:p>
        </p:txBody>
      </p:sp>
      <p:sp>
        <p:nvSpPr>
          <p:cNvPr id="135" name="Text 133"/>
          <p:cNvSpPr/>
          <p:nvPr/>
        </p:nvSpPr>
        <p:spPr>
          <a:xfrm>
            <a:off x="2029968" y="3182023"/>
            <a:ext cx="877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37,162,812</a:t>
            </a:r>
            <a:endParaRPr lang="en-US" sz="1050" b="1" dirty="0"/>
          </a:p>
        </p:txBody>
      </p:sp>
      <p:sp>
        <p:nvSpPr>
          <p:cNvPr id="136" name="Text 134"/>
          <p:cNvSpPr/>
          <p:nvPr/>
        </p:nvSpPr>
        <p:spPr>
          <a:xfrm>
            <a:off x="2926080" y="3182023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b="1" dirty="0"/>
          </a:p>
        </p:txBody>
      </p:sp>
      <p:sp>
        <p:nvSpPr>
          <p:cNvPr id="137" name="Text 135"/>
          <p:cNvSpPr/>
          <p:nvPr/>
        </p:nvSpPr>
        <p:spPr>
          <a:xfrm>
            <a:off x="3712464" y="318202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8,155,000</a:t>
            </a:r>
            <a:endParaRPr lang="en-US" sz="1050" b="1" dirty="0"/>
          </a:p>
        </p:txBody>
      </p:sp>
      <p:sp>
        <p:nvSpPr>
          <p:cNvPr id="138" name="Text 136"/>
          <p:cNvSpPr/>
          <p:nvPr/>
        </p:nvSpPr>
        <p:spPr>
          <a:xfrm>
            <a:off x="4443984" y="318202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9,203,725</a:t>
            </a:r>
            <a:endParaRPr lang="en-US" sz="1050" b="1" dirty="0"/>
          </a:p>
        </p:txBody>
      </p:sp>
      <p:sp>
        <p:nvSpPr>
          <p:cNvPr id="139" name="Text 137"/>
          <p:cNvSpPr/>
          <p:nvPr/>
        </p:nvSpPr>
        <p:spPr>
          <a:xfrm>
            <a:off x="5175504" y="318202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28,406,905</a:t>
            </a:r>
            <a:endParaRPr lang="en-US" sz="1050" b="1" dirty="0"/>
          </a:p>
        </p:txBody>
      </p:sp>
      <p:sp>
        <p:nvSpPr>
          <p:cNvPr id="140" name="Text 138"/>
          <p:cNvSpPr/>
          <p:nvPr/>
        </p:nvSpPr>
        <p:spPr>
          <a:xfrm>
            <a:off x="5907024" y="318202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82,195,955</a:t>
            </a:r>
            <a:endParaRPr lang="en-US" sz="1050" b="1" dirty="0"/>
          </a:p>
        </p:txBody>
      </p:sp>
      <p:sp>
        <p:nvSpPr>
          <p:cNvPr id="141" name="Text 139"/>
          <p:cNvSpPr/>
          <p:nvPr/>
        </p:nvSpPr>
        <p:spPr>
          <a:xfrm>
            <a:off x="6638544" y="318202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2,118,683</a:t>
            </a:r>
            <a:endParaRPr lang="en-US" sz="1050" b="1" dirty="0"/>
          </a:p>
        </p:txBody>
      </p:sp>
      <p:sp>
        <p:nvSpPr>
          <p:cNvPr id="142" name="Text 140"/>
          <p:cNvSpPr/>
          <p:nvPr/>
        </p:nvSpPr>
        <p:spPr>
          <a:xfrm>
            <a:off x="7370064" y="318202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48,281,457</a:t>
            </a:r>
            <a:endParaRPr lang="en-US" sz="1050" b="1" dirty="0"/>
          </a:p>
        </p:txBody>
      </p:sp>
      <p:sp>
        <p:nvSpPr>
          <p:cNvPr id="143" name="Text 141"/>
          <p:cNvSpPr/>
          <p:nvPr/>
        </p:nvSpPr>
        <p:spPr>
          <a:xfrm>
            <a:off x="8138160" y="3182023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48,281,457</a:t>
            </a:r>
            <a:endParaRPr lang="en-US" sz="1050" b="1" dirty="0"/>
          </a:p>
        </p:txBody>
      </p:sp>
      <p:sp>
        <p:nvSpPr>
          <p:cNvPr id="144" name="Text 142"/>
          <p:cNvSpPr/>
          <p:nvPr/>
        </p:nvSpPr>
        <p:spPr>
          <a:xfrm>
            <a:off x="365760" y="3432517"/>
            <a:ext cx="8686800" cy="1436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</a:t>
            </a:r>
            <a:r>
              <a:rPr lang="en-US" sz="1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</a:p>
          <a:p>
            <a:pPr marL="0" indent="0">
              <a:buNone/>
            </a:pPr>
            <a:endParaRPr lang="en-US" sz="1000" b="1" i="1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Alaver</a:t>
            </a:r>
            <a:r>
              <a:rPr lang="en-US" sz="1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Jun 90M + Jul 50M. </a:t>
            </a:r>
            <a:r>
              <a:rPr lang="es-E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el pico de junio-julio, meses de mayor intensidad en obra. Completa el tramo aprobado del crédito vigente por RD$ 300 millones.</a:t>
            </a:r>
            <a:endParaRPr lang="en-US" sz="1000" i="1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 CP: Ago 100M. </a:t>
            </a:r>
            <a:r>
              <a:rPr lang="es-E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el puente entre el agotamiento de </a:t>
            </a:r>
            <a:r>
              <a:rPr lang="es-ES" sz="10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Alaver</a:t>
            </a:r>
            <a:r>
              <a:rPr lang="es-E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 entrada de IFC. Se cancela íntegramente en septiembre con los fondos IFC.</a:t>
            </a:r>
            <a:endParaRPr lang="en-US" sz="1000" i="1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Sep 240M + Nov 180M.  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cubren ~13% del gasto </a:t>
            </a:r>
            <a:r>
              <a:rPr lang="en-US" sz="10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r>
              <a:rPr lang="en-U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s-E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Financia la fase central de construcción (</a:t>
            </a:r>
            <a:r>
              <a:rPr lang="es-ES" sz="1000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r>
              <a:rPr lang="es-ES" sz="1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-nov). Permite abonar los créditos puente.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000" i="1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Construcción</a:t>
            </a:r>
            <a:r>
              <a:rPr lang="es-E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— RD$921.6M (73%). Junio es el mes pico (RD$115M) por arranque de estructura y anticipos a grandes proveedores.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Gastos Operativos </a:t>
            </a:r>
            <a:r>
              <a:rPr lang="es-E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 RD$264.8M (21%)Gerencia de Ventas representa el 65% del grupo, reflejando comisiones activas por cierre de unidades.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Otros Gastos </a:t>
            </a:r>
            <a:r>
              <a:rPr lang="es-E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— RD$71.4M (6%)Dominado por Gastos Financieros (RD$45.3M), que crecen desde septiembre con la activación de IFC. </a:t>
            </a:r>
          </a:p>
        </p:txBody>
      </p:sp>
      <p:sp>
        <p:nvSpPr>
          <p:cNvPr id="145" name="Shape 143"/>
          <p:cNvSpPr/>
          <p:nvPr/>
        </p:nvSpPr>
        <p:spPr>
          <a:xfrm>
            <a:off x="365760" y="4882896"/>
            <a:ext cx="8412480" cy="0"/>
          </a:xfrm>
          <a:prstGeom prst="line">
            <a:avLst/>
          </a:prstGeom>
          <a:noFill/>
          <a:ln w="7620">
            <a:solidFill>
              <a:srgbClr val="B8962E"/>
            </a:solidFill>
            <a:prstDash val="solid"/>
          </a:ln>
        </p:spPr>
        <p:txBody>
          <a:bodyPr/>
          <a:lstStyle/>
          <a:p>
            <a:endParaRPr lang="es-ES" sz="2000" b="1"/>
          </a:p>
        </p:txBody>
      </p:sp>
      <p:sp>
        <p:nvSpPr>
          <p:cNvPr id="146" name="Text 144"/>
          <p:cNvSpPr/>
          <p:nvPr/>
        </p:nvSpPr>
        <p:spPr>
          <a:xfrm>
            <a:off x="36576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ARAYA  |  Informe Financiero  |  Mayo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371</Words>
  <Application>Microsoft Office PowerPoint</Application>
  <PresentationFormat>Presentación en pantalla (16:9)</PresentationFormat>
  <Paragraphs>136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Antonely Villalona</cp:lastModifiedBy>
  <cp:revision>2</cp:revision>
  <dcterms:created xsi:type="dcterms:W3CDTF">2026-07-15T13:44:26Z</dcterms:created>
  <dcterms:modified xsi:type="dcterms:W3CDTF">2026-07-15T14:52:16Z</dcterms:modified>
</cp:coreProperties>
</file>