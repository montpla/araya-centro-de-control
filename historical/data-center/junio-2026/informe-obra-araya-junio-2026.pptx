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9" r:id="rId9"/>
    <p:sldId id="270" r:id="rId10"/>
    <p:sldId id="271" r:id="rId11"/>
    <p:sldId id="273" r:id="rId12"/>
    <p:sldId id="27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CF0D6-9497-417A-9BE6-DF4B9201E8EE}" v="8" dt="2026-07-15T15:58:12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y Villalona" userId="26acd9b0-757c-45d2-bdf1-b43b683da2aa" providerId="ADAL" clId="{7B0469CB-2711-4ED7-949B-6C08E56E0017}"/>
    <pc:docChg chg="modSld">
      <pc:chgData name="Antonely Villalona" userId="26acd9b0-757c-45d2-bdf1-b43b683da2aa" providerId="ADAL" clId="{7B0469CB-2711-4ED7-949B-6C08E56E0017}" dt="2026-07-15T15:58:12.888" v="7"/>
      <pc:docMkLst>
        <pc:docMk/>
      </pc:docMkLst>
      <pc:sldChg chg="modSp mod">
        <pc:chgData name="Antonely Villalona" userId="26acd9b0-757c-45d2-bdf1-b43b683da2aa" providerId="ADAL" clId="{7B0469CB-2711-4ED7-949B-6C08E56E0017}" dt="2026-07-15T15:58:12.888" v="7"/>
        <pc:sldMkLst>
          <pc:docMk/>
          <pc:sldMk cId="0" sldId="258"/>
        </pc:sldMkLst>
        <pc:graphicFrameChg chg="mod">
          <ac:chgData name="Antonely Villalona" userId="26acd9b0-757c-45d2-bdf1-b43b683da2aa" providerId="ADAL" clId="{7B0469CB-2711-4ED7-949B-6C08E56E0017}" dt="2026-07-15T15:58:12.888" v="7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Operativo</c:v>
                </c:pt>
              </c:strCache>
            </c:strRef>
          </c:tx>
          <c:spPr>
            <a:ln w="3175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Sheet1!$A$2:$A$28</c:f>
              <c:strCache>
                <c:ptCount val="27"/>
                <c:pt idx="0">
                  <c:v>2025-06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  <c:pt idx="13">
                  <c:v>2026-07</c:v>
                </c:pt>
                <c:pt idx="14">
                  <c:v>2026-08</c:v>
                </c:pt>
                <c:pt idx="15">
                  <c:v>2026-09</c:v>
                </c:pt>
                <c:pt idx="16">
                  <c:v>2026-10</c:v>
                </c:pt>
                <c:pt idx="17">
                  <c:v>2026-11</c:v>
                </c:pt>
                <c:pt idx="18">
                  <c:v>2026-12</c:v>
                </c:pt>
                <c:pt idx="19">
                  <c:v>2027-01</c:v>
                </c:pt>
                <c:pt idx="20">
                  <c:v>2027-02</c:v>
                </c:pt>
                <c:pt idx="21">
                  <c:v>2027-03</c:v>
                </c:pt>
                <c:pt idx="22">
                  <c:v>2027-04</c:v>
                </c:pt>
                <c:pt idx="23">
                  <c:v>2027-05</c:v>
                </c:pt>
                <c:pt idx="24">
                  <c:v>2027-06</c:v>
                </c:pt>
                <c:pt idx="25">
                  <c:v>2027-07</c:v>
                </c:pt>
                <c:pt idx="26">
                  <c:v>2027-08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1">
                  <c:v>0.52</c:v>
                </c:pt>
                <c:pt idx="2">
                  <c:v>1.21</c:v>
                </c:pt>
                <c:pt idx="3">
                  <c:v>2.0699999999999998</c:v>
                </c:pt>
                <c:pt idx="4">
                  <c:v>2.76</c:v>
                </c:pt>
                <c:pt idx="5">
                  <c:v>3.7</c:v>
                </c:pt>
                <c:pt idx="6">
                  <c:v>4.1100000000000003</c:v>
                </c:pt>
                <c:pt idx="7">
                  <c:v>4.4800000000000004</c:v>
                </c:pt>
                <c:pt idx="8">
                  <c:v>4.97</c:v>
                </c:pt>
                <c:pt idx="9">
                  <c:v>6.72</c:v>
                </c:pt>
                <c:pt idx="10">
                  <c:v>11.07</c:v>
                </c:pt>
                <c:pt idx="11">
                  <c:v>16.670000000000002</c:v>
                </c:pt>
                <c:pt idx="12">
                  <c:v>23.29</c:v>
                </c:pt>
                <c:pt idx="13">
                  <c:v>31.41</c:v>
                </c:pt>
                <c:pt idx="14">
                  <c:v>40.78</c:v>
                </c:pt>
                <c:pt idx="15">
                  <c:v>52.44</c:v>
                </c:pt>
                <c:pt idx="16">
                  <c:v>62.97</c:v>
                </c:pt>
                <c:pt idx="17">
                  <c:v>74.739999999999995</c:v>
                </c:pt>
                <c:pt idx="18">
                  <c:v>80.900000000000006</c:v>
                </c:pt>
                <c:pt idx="19">
                  <c:v>83.02</c:v>
                </c:pt>
                <c:pt idx="20">
                  <c:v>87.9</c:v>
                </c:pt>
                <c:pt idx="21">
                  <c:v>92.75</c:v>
                </c:pt>
                <c:pt idx="22">
                  <c:v>95.32</c:v>
                </c:pt>
                <c:pt idx="23">
                  <c:v>97.31</c:v>
                </c:pt>
                <c:pt idx="24">
                  <c:v>98.75</c:v>
                </c:pt>
                <c:pt idx="25">
                  <c:v>99.56</c:v>
                </c:pt>
                <c:pt idx="26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4B-42FC-A106-50BB6B39AE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Ejecutado Real</c:v>
                </c:pt>
              </c:strCache>
            </c:strRef>
          </c:tx>
          <c:spPr>
            <a:ln w="31750" cap="flat">
              <a:solidFill>
                <a:srgbClr val="C9A9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961"/>
              </a:solidFill>
              <a:ln w="9525" cap="flat">
                <a:solidFill>
                  <a:srgbClr val="C9A961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Sheet1!$A$2:$A$28</c:f>
              <c:strCache>
                <c:ptCount val="27"/>
                <c:pt idx="0">
                  <c:v>2025-06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  <c:pt idx="13">
                  <c:v>2026-07</c:v>
                </c:pt>
                <c:pt idx="14">
                  <c:v>2026-08</c:v>
                </c:pt>
                <c:pt idx="15">
                  <c:v>2026-09</c:v>
                </c:pt>
                <c:pt idx="16">
                  <c:v>2026-10</c:v>
                </c:pt>
                <c:pt idx="17">
                  <c:v>2026-11</c:v>
                </c:pt>
                <c:pt idx="18">
                  <c:v>2026-12</c:v>
                </c:pt>
                <c:pt idx="19">
                  <c:v>2027-01</c:v>
                </c:pt>
                <c:pt idx="20">
                  <c:v>2027-02</c:v>
                </c:pt>
                <c:pt idx="21">
                  <c:v>2027-03</c:v>
                </c:pt>
                <c:pt idx="22">
                  <c:v>2027-04</c:v>
                </c:pt>
                <c:pt idx="23">
                  <c:v>2027-05</c:v>
                </c:pt>
                <c:pt idx="24">
                  <c:v>2027-06</c:v>
                </c:pt>
                <c:pt idx="25">
                  <c:v>2027-07</c:v>
                </c:pt>
                <c:pt idx="26">
                  <c:v>2027-08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1">
                  <c:v>0.31</c:v>
                </c:pt>
                <c:pt idx="2">
                  <c:v>0.94</c:v>
                </c:pt>
                <c:pt idx="3">
                  <c:v>1.88</c:v>
                </c:pt>
                <c:pt idx="4">
                  <c:v>2.5099999999999998</c:v>
                </c:pt>
                <c:pt idx="5">
                  <c:v>3.45</c:v>
                </c:pt>
                <c:pt idx="6">
                  <c:v>3.83</c:v>
                </c:pt>
                <c:pt idx="7">
                  <c:v>4.47</c:v>
                </c:pt>
                <c:pt idx="8">
                  <c:v>6.05</c:v>
                </c:pt>
                <c:pt idx="9">
                  <c:v>8.9600000000000009</c:v>
                </c:pt>
                <c:pt idx="10">
                  <c:v>11.59</c:v>
                </c:pt>
                <c:pt idx="11">
                  <c:v>16</c:v>
                </c:pt>
                <c:pt idx="12">
                  <c:v>18.23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4B-42FC-A106-50BB6B39AE9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0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% acumulado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32741"/>
    </a:solidFill>
    <a:ln>
      <a:noFill/>
    </a:ln>
    <a:effectLst/>
  </c:spPr>
  <c:txPr>
    <a:bodyPr/>
    <a:lstStyle/>
    <a:p>
      <a:pPr>
        <a:defR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a:defRPr>
      </a:pPr>
      <a:endParaRPr lang="es-E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Días de atraso</c:v>
                </c:pt>
              </c:strCache>
            </c:strRef>
          </c:tx>
          <c:spPr>
            <a:solidFill>
              <a:srgbClr val="C9A961"/>
            </a:solidFill>
            <a:ln w="9525" cap="flat">
              <a:solidFill>
                <a:srgbClr val="132741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9B-448D-879F-10DA85B65A53}"/>
              </c:ext>
            </c:extLst>
          </c:dPt>
          <c:dPt>
            <c:idx val="1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9B-448D-879F-10DA85B65A53}"/>
              </c:ext>
            </c:extLst>
          </c:dPt>
          <c:dPt>
            <c:idx val="2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9B-448D-879F-10DA85B65A53}"/>
              </c:ext>
            </c:extLst>
          </c:dPt>
          <c:dPt>
            <c:idx val="3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9B-448D-879F-10DA85B65A53}"/>
              </c:ext>
            </c:extLst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99B-448D-879F-10DA85B65A53}"/>
              </c:ext>
            </c:extLst>
          </c:dPt>
          <c:dPt>
            <c:idx val="5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99B-448D-879F-10DA85B65A53}"/>
              </c:ext>
            </c:extLst>
          </c:dPt>
          <c:dPt>
            <c:idx val="6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99B-448D-879F-10DA85B65A53}"/>
              </c:ext>
            </c:extLst>
          </c:dPt>
          <c:dPt>
            <c:idx val="7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99B-448D-879F-10DA85B65A53}"/>
              </c:ext>
            </c:extLst>
          </c:dPt>
          <c:dPt>
            <c:idx val="8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99B-448D-879F-10DA85B65A53}"/>
              </c:ext>
            </c:extLst>
          </c:dPt>
          <c:dPt>
            <c:idx val="9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99B-448D-879F-10DA85B65A53}"/>
              </c:ext>
            </c:extLst>
          </c:dPt>
          <c:dPt>
            <c:idx val="10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99B-448D-879F-10DA85B65A53}"/>
              </c:ext>
            </c:extLst>
          </c:dPt>
          <c:dPt>
            <c:idx val="11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399B-448D-879F-10DA85B65A53}"/>
              </c:ext>
            </c:extLst>
          </c:dPt>
          <c:dPt>
            <c:idx val="12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399B-448D-879F-10DA85B65A53}"/>
              </c:ext>
            </c:extLst>
          </c:dPt>
          <c:dPt>
            <c:idx val="13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399B-448D-879F-10DA85B65A53}"/>
              </c:ext>
            </c:extLst>
          </c:dPt>
          <c:dPt>
            <c:idx val="14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399B-448D-879F-10DA85B65A53}"/>
              </c:ext>
            </c:extLst>
          </c:dPt>
          <c:dPt>
            <c:idx val="15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399B-448D-879F-10DA85B65A53}"/>
              </c:ext>
            </c:extLst>
          </c:dPt>
          <c:dPt>
            <c:idx val="16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399B-448D-879F-10DA85B65A53}"/>
              </c:ext>
            </c:extLst>
          </c:dPt>
          <c:dPt>
            <c:idx val="17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399B-448D-879F-10DA85B65A53}"/>
              </c:ext>
            </c:extLst>
          </c:dPt>
          <c:dPt>
            <c:idx val="18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399B-448D-879F-10DA85B65A5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E8</c:v>
                </c:pt>
                <c:pt idx="1">
                  <c:v>E7</c:v>
                </c:pt>
                <c:pt idx="2">
                  <c:v>E12</c:v>
                </c:pt>
                <c:pt idx="3">
                  <c:v>E11</c:v>
                </c:pt>
                <c:pt idx="4">
                  <c:v>E10</c:v>
                </c:pt>
                <c:pt idx="5">
                  <c:v>E15</c:v>
                </c:pt>
                <c:pt idx="6">
                  <c:v>E14</c:v>
                </c:pt>
                <c:pt idx="7">
                  <c:v>E13</c:v>
                </c:pt>
                <c:pt idx="8">
                  <c:v>E18</c:v>
                </c:pt>
                <c:pt idx="9">
                  <c:v>E17</c:v>
                </c:pt>
                <c:pt idx="10">
                  <c:v>E16</c:v>
                </c:pt>
                <c:pt idx="11">
                  <c:v>E71</c:v>
                </c:pt>
                <c:pt idx="12">
                  <c:v>E70</c:v>
                </c:pt>
                <c:pt idx="13">
                  <c:v>E73</c:v>
                </c:pt>
                <c:pt idx="14">
                  <c:v>E72</c:v>
                </c:pt>
                <c:pt idx="15">
                  <c:v>E75</c:v>
                </c:pt>
                <c:pt idx="16">
                  <c:v>E74</c:v>
                </c:pt>
                <c:pt idx="17">
                  <c:v>E77</c:v>
                </c:pt>
                <c:pt idx="18">
                  <c:v>E76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30</c:v>
                </c:pt>
                <c:pt idx="1">
                  <c:v>23</c:v>
                </c:pt>
                <c:pt idx="2">
                  <c:v>16</c:v>
                </c:pt>
                <c:pt idx="3">
                  <c:v>9</c:v>
                </c:pt>
                <c:pt idx="4">
                  <c:v>2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9</c:v>
                </c:pt>
                <c:pt idx="10">
                  <c:v>9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7</c:v>
                </c:pt>
                <c:pt idx="15">
                  <c:v>7</c:v>
                </c:pt>
                <c:pt idx="16">
                  <c:v>6</c:v>
                </c:pt>
                <c:pt idx="17">
                  <c:v>5</c:v>
                </c:pt>
                <c:pt idx="1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399B-448D-879F-10DA85B65A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lang="es-ES" sz="1000" b="0" i="0" u="none" strike="noStrike">
                    <a:solidFill>
                      <a:srgbClr val="9CA3AF"/>
                    </a:solidFill>
                    <a:latin typeface="Arial"/>
                  </a:rPr>
                  <a:t>Días de atraso vs. línea base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274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avance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MOVIMIENTO DE TIERRA</c:v>
                </c:pt>
                <c:pt idx="1">
                  <c:v>HIDROSANITARIAS</c:v>
                </c:pt>
                <c:pt idx="2">
                  <c:v>SISTEMA ESPECIALES</c:v>
                </c:pt>
                <c:pt idx="3">
                  <c:v>INFRAESTRUCTURA ELECTRICA</c:v>
                </c:pt>
                <c:pt idx="4">
                  <c:v>INSTALACIONES TELECOMUNICACIONES</c:v>
                </c:pt>
                <c:pt idx="5">
                  <c:v>INSTALACIONES DE GAS</c:v>
                </c:pt>
                <c:pt idx="6">
                  <c:v>VIALIDAD</c:v>
                </c:pt>
                <c:pt idx="7">
                  <c:v>PAISAJISMO</c:v>
                </c:pt>
                <c:pt idx="8">
                  <c:v>OBRAS EXTERIORES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72.760000000000005</c:v>
                </c:pt>
                <c:pt idx="1">
                  <c:v>25.03</c:v>
                </c:pt>
                <c:pt idx="2">
                  <c:v>3.51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6.33</c:v>
                </c:pt>
                <c:pt idx="7">
                  <c:v>12.24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11E-82F7-BF13A2C9AD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274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avance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68-43CD-98CF-6732625F417F}"/>
              </c:ext>
            </c:extLst>
          </c:dPt>
          <c:dPt>
            <c:idx val="1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68-43CD-98CF-6732625F417F}"/>
              </c:ext>
            </c:extLst>
          </c:dPt>
          <c:dPt>
            <c:idx val="2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68-43CD-98CF-6732625F417F}"/>
              </c:ext>
            </c:extLst>
          </c:dPt>
          <c:dPt>
            <c:idx val="3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68-43CD-98CF-6732625F417F}"/>
              </c:ext>
            </c:extLst>
          </c:dPt>
          <c:dPt>
            <c:idx val="4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68-43CD-98CF-6732625F417F}"/>
              </c:ext>
            </c:extLst>
          </c:dPt>
          <c:dPt>
            <c:idx val="5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68-43CD-98CF-6732625F417F}"/>
              </c:ext>
            </c:extLst>
          </c:dPt>
          <c:dPt>
            <c:idx val="6"/>
            <c:invertIfNegative val="0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68-43CD-98CF-6732625F417F}"/>
              </c:ext>
            </c:extLst>
          </c:dPt>
          <c:dPt>
            <c:idx val="7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68-43CD-98CF-6732625F417F}"/>
              </c:ext>
            </c:extLst>
          </c:dPt>
          <c:dPt>
            <c:idx val="8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668-43CD-98CF-6732625F417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Carpintería (puertas/closets)</c:v>
                </c:pt>
                <c:pt idx="1">
                  <c:v>Herrería</c:v>
                </c:pt>
                <c:pt idx="2">
                  <c:v>Misceláneos</c:v>
                </c:pt>
                <c:pt idx="3">
                  <c:v>Revestimientos / Cerámica</c:v>
                </c:pt>
                <c:pt idx="4">
                  <c:v>Pintura</c:v>
                </c:pt>
                <c:pt idx="5">
                  <c:v>Instalaciones (elec./sanit./gas)</c:v>
                </c:pt>
                <c:pt idx="6">
                  <c:v>Albañilería</c:v>
                </c:pt>
                <c:pt idx="7">
                  <c:v>Superestructura</c:v>
                </c:pt>
                <c:pt idx="8">
                  <c:v>Infraestructura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0.66</c:v>
                </c:pt>
                <c:pt idx="2">
                  <c:v>1.62</c:v>
                </c:pt>
                <c:pt idx="3">
                  <c:v>2.35</c:v>
                </c:pt>
                <c:pt idx="4">
                  <c:v>13.85</c:v>
                </c:pt>
                <c:pt idx="5">
                  <c:v>14.11</c:v>
                </c:pt>
                <c:pt idx="6">
                  <c:v>22.17</c:v>
                </c:pt>
                <c:pt idx="7">
                  <c:v>44.66</c:v>
                </c:pt>
                <c:pt idx="8">
                  <c:v>56.34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668-43CD-98CF-6732625F41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9CA3AF"/>
                    </a:solidFill>
                    <a:latin typeface="Arial"/>
                  </a:rPr>
                  <a:t>% ejecutado del presupuesto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274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Presupuestado</c:v>
                </c:pt>
              </c:strCache>
            </c:strRef>
          </c:tx>
          <c:spPr>
            <a:solidFill>
              <a:srgbClr val="C9A96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Dic-25</c:v>
                </c:pt>
                <c:pt idx="1">
                  <c:v>Ene-26</c:v>
                </c:pt>
                <c:pt idx="2">
                  <c:v>Feb-26</c:v>
                </c:pt>
                <c:pt idx="3">
                  <c:v>Mar-26</c:v>
                </c:pt>
                <c:pt idx="4">
                  <c:v>Abr-26</c:v>
                </c:pt>
                <c:pt idx="5">
                  <c:v>May-26</c:v>
                </c:pt>
                <c:pt idx="6">
                  <c:v>Jun-26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2508825.3244615383</c:v>
                </c:pt>
                <c:pt idx="1">
                  <c:v>1817025.8992615384</c:v>
                </c:pt>
                <c:pt idx="2">
                  <c:v>9597781.6134030186</c:v>
                </c:pt>
                <c:pt idx="3">
                  <c:v>12613658.177776922</c:v>
                </c:pt>
                <c:pt idx="4">
                  <c:v>31678657.241337843</c:v>
                </c:pt>
                <c:pt idx="5">
                  <c:v>43173658.600292608</c:v>
                </c:pt>
                <c:pt idx="6">
                  <c:v>79890966.365552694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65-4A6D-AD36-500DDE5437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Dic-25</c:v>
                </c:pt>
                <c:pt idx="1">
                  <c:v>Ene-26</c:v>
                </c:pt>
                <c:pt idx="2">
                  <c:v>Feb-26</c:v>
                </c:pt>
                <c:pt idx="3">
                  <c:v>Mar-26</c:v>
                </c:pt>
                <c:pt idx="4">
                  <c:v>Abr-26</c:v>
                </c:pt>
                <c:pt idx="5">
                  <c:v>May-26</c:v>
                </c:pt>
                <c:pt idx="6">
                  <c:v>Jun-26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16398543.68</c:v>
                </c:pt>
                <c:pt idx="1">
                  <c:v>2355501.36</c:v>
                </c:pt>
                <c:pt idx="2">
                  <c:v>8871467.2599999998</c:v>
                </c:pt>
                <c:pt idx="3">
                  <c:v>25457547.149999999</c:v>
                </c:pt>
                <c:pt idx="4">
                  <c:v>19895044.07</c:v>
                </c:pt>
                <c:pt idx="5">
                  <c:v>21384560.130000003</c:v>
                </c:pt>
                <c:pt idx="6">
                  <c:v>28809561.440000001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65-4A6D-AD36-500DDE5437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4A7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lang="en-US" sz="900" b="0" i="0" u="none" strike="noStrike" dirty="0">
                    <a:solidFill>
                      <a:srgbClr val="9CA3AF"/>
                    </a:solidFill>
                    <a:latin typeface="Arial"/>
                  </a:rPr>
                  <a:t>RD$ (Urbanismo + Edificios)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274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050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65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EJECUTIVO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 de obra del mes de Junio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Edificios · Fase I · Punta Cana, República Dominicana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754880"/>
            <a:ext cx="292608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análisis: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 junio de 2026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Grupo Bak — Proceso de crédito IFC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consolidado del proyecto al corte 30/06/2026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72030" cy="169164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18.23%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físico ejecutado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93522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21.24% planificado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57830" y="1554480"/>
            <a:ext cx="2072030" cy="169164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94990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-3.0 pp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94990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vs. plan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94990" y="293522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Eficiencia: 86% del plan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58461" y="1554480"/>
            <a:ext cx="2072030" cy="169164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5621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95621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con orden de materiales YA VENCIDA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95621" y="293522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26 (incl. 1, 2, 3, 4, 5, 6, 9)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59091" y="1554480"/>
            <a:ext cx="2072030" cy="169164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6251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96251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carpintería, ventanas y piezas sanitarias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6251" y="293522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26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excepción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59722" y="1554480"/>
            <a:ext cx="2072030" cy="1691640"/>
          </a:xfrm>
          <a:prstGeom prst="roundRect">
            <a:avLst>
              <a:gd name="adj" fmla="val 432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96882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796882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retraso del proyecto (cronograma general)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96882" y="293522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línea base — corte 30/06/2026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11274552" cy="2606040"/>
          </a:xfrm>
          <a:prstGeom prst="roundRect">
            <a:avLst>
              <a:gd name="adj" fmla="val 2105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CORTE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1081735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S: 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ejecutó 18.23% del monto acumulado contra 21.24% planificado a junio 2026 — una eficiencia del 86% respecto al plan operativo.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(26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2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(1, 2, 3, 4, 5, 6, 9) tienen su estructura 100% terminada; 5 edificios (7, 8, 10, 11, 12) están en el tramo final (90% avance) con atrasos puntuales de 2 a 30 días, encabezados por el Edificio 8 (30 días) y Edificio 7 (23 días); los 14 edificios restantes (13 a 18 y 70 a 77) aún no inician estructura. A nivel de proyecto completo, la variación es de solo 5 días vs. línea base.
</a:t>
            </a: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Acabados — el hallazgo crítico: 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Edificios 1, 2, 3, 4, 5, 6 y 9 tienen su estructura 100% terminada desde marzo–mayo 2026, pero carpintería, herrería y ventanas siguen en 0% de avance físico. El pedido de estos materiales debió colocarse hace 60 a 90 días.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Urbanismo: 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de avance general; 13 partidas de infraestructura ya debieron iniciar y no lo han hecho, con atrasos de hasta 14 días.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Curva S — Plan vs. Ejecutado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físico acumulado del proyecto (% del monto total) · jun-2025 a ago-2027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675469054"/>
              </p:ext>
            </p:extLst>
          </p:nvPr>
        </p:nvGraphicFramePr>
        <p:xfrm>
          <a:off x="78059" y="1325880"/>
          <a:ext cx="11653693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607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5870448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corte (jun-2026): 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18.23%  vs.  Plan 21.24%   →   brecha de 3.0 puntos porcentuales. El plan proyecta cierre en agosto-2027; sin corrección, la brecha actual se traduce en un desplazamiento equivalente en el cierre.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Cronograma de Estructura — 26 Edificios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atraso proyectados en el fin de estructura (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actual vs. línea base)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7455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164592" cy="164592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5431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vencido / En riesgo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91840" y="5486400"/>
            <a:ext cx="164592" cy="16459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520440" y="5431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(ruta crítica global)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5486400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55080" y="5431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margen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89788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5943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de 26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continúan en construcción (5 en fase final de estructura, 14 sin iniciar). Los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7, 8, 11 y 12 (fase de transición) concentran los mayores atrasos absolutos (9–30 días); el proyecto completo acumula solo 5 días de atraso vs. línea base.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Cronograma de Urbanismo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Avance: 4% (16 de 315 actividades completadas) · Partidas que ya debieron iniciar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949440" cy="448056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 programado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de atraso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RELLENO NIVELACION  Y COMPACTACION TERRAZAS 70,71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RELLENO NIVELACION  Y COMPACTACION TERRAZAS 72,73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AVENIDA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RELLENO NIVELACION  Y COMPACTACION TERRAZAS 74,75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RELLENO NIVELACION  Y COMPACTACION TERRAZAS 76,77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AVENIDA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físico por categoría (%)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589520" y="1783080"/>
          <a:ext cx="4114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3"/>
          <p:cNvSpPr/>
          <p:nvPr/>
        </p:nvSpPr>
        <p:spPr>
          <a:xfrm>
            <a:off x="228600" y="6110702"/>
            <a:ext cx="11274552" cy="365760"/>
          </a:xfrm>
          <a:prstGeom prst="roundRect">
            <a:avLst>
              <a:gd name="adj" fmla="val 15000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6158036"/>
            <a:ext cx="10908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calles de acceso a los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70–77 (fase de acabados futura) llevan hasta 70 días de atraso en su inicio — riesgo de cuello de botella logístico cuando esos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entren en fase de acabados.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Avance Físico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Capítulo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Los 26 Edificios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ejecutado del presupuesto contratado por disciplina, acumulado en todos los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(Cubicación Nº7)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7455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607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5870448"/>
            <a:ext cx="10817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Carpintería, Ventanas y Piezas Sanitarias: 0% 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26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ningún pedido ni instalación registrada todavía. </a:t>
            </a: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Herrería (0.7%) y Revestimientos/Cerámica (2.4%) 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iniciaron. Son las disciplinas que definirán si se sostiene la fecha de entrega, no la estructura.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 Obra —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Requerimiento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vs.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 y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a Junio 2026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22" name="Chart 0">
            <a:extLst>
              <a:ext uri="{FF2B5EF4-FFF2-40B4-BE49-F238E27FC236}">
                <a16:creationId xmlns:a16="http://schemas.microsoft.com/office/drawing/2014/main" id="{52797A83-4CCC-7EB4-6AA9-CC222CB402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8394328"/>
              </p:ext>
            </p:extLst>
          </p:nvPr>
        </p:nvGraphicFramePr>
        <p:xfrm>
          <a:off x="457200" y="1371600"/>
          <a:ext cx="7223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">
            <a:extLst>
              <a:ext uri="{FF2B5EF4-FFF2-40B4-BE49-F238E27FC236}">
                <a16:creationId xmlns:a16="http://schemas.microsoft.com/office/drawing/2014/main" id="{24B9C2FE-0F7C-32E3-4324-A09E6F1E1A7E}"/>
              </a:ext>
            </a:extLst>
          </p:cNvPr>
          <p:cNvSpPr/>
          <p:nvPr/>
        </p:nvSpPr>
        <p:spPr>
          <a:xfrm>
            <a:off x="7909560" y="1371600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2B34D4AF-231B-1FA9-21CC-4B7B524AD375}"/>
              </a:ext>
            </a:extLst>
          </p:cNvPr>
          <p:cNvSpPr/>
          <p:nvPr/>
        </p:nvSpPr>
        <p:spPr>
          <a:xfrm>
            <a:off x="8046720" y="1499616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$32.2M</a:t>
            </a:r>
            <a:endParaRPr lang="en-US" sz="2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1F0478B-7F66-F711-7833-0A6BAC1B0A99}"/>
              </a:ext>
            </a:extLst>
          </p:cNvPr>
          <p:cNvSpPr/>
          <p:nvPr/>
        </p:nvSpPr>
        <p:spPr>
          <a:xfrm>
            <a:off x="8046720" y="1937542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 — real</a:t>
            </a:r>
            <a:endParaRPr lang="en-US" sz="14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B307CC0D-07D2-6936-C3EB-B55CA3E11FC8}"/>
              </a:ext>
            </a:extLst>
          </p:cNvPr>
          <p:cNvSpPr/>
          <p:nvPr/>
        </p:nvSpPr>
        <p:spPr>
          <a:xfrm>
            <a:off x="8046720" y="229514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$25.7M requerido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2F55DE08-8B57-6C34-CD8C-06C26E9E1073}"/>
              </a:ext>
            </a:extLst>
          </p:cNvPr>
          <p:cNvSpPr/>
          <p:nvPr/>
        </p:nvSpPr>
        <p:spPr>
          <a:xfrm>
            <a:off x="7909560" y="2734056"/>
            <a:ext cx="3822192" cy="1234440"/>
          </a:xfrm>
          <a:prstGeom prst="roundRect">
            <a:avLst>
              <a:gd name="adj" fmla="val 592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040BD16E-0067-EEBF-45B5-71A17A56BA89}"/>
              </a:ext>
            </a:extLst>
          </p:cNvPr>
          <p:cNvSpPr/>
          <p:nvPr/>
        </p:nvSpPr>
        <p:spPr>
          <a:xfrm>
            <a:off x="8046720" y="2871216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$91.0M</a:t>
            </a:r>
            <a:endParaRPr lang="en-US" sz="24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C7D248D7-C497-AAFF-6A2B-5BF4E2600B04}"/>
              </a:ext>
            </a:extLst>
          </p:cNvPr>
          <p:cNvSpPr/>
          <p:nvPr/>
        </p:nvSpPr>
        <p:spPr>
          <a:xfrm>
            <a:off x="8046720" y="3401568"/>
            <a:ext cx="35478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— real</a:t>
            </a:r>
            <a:endParaRPr lang="en-US" sz="12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5DA0861F-8679-DEF1-376B-C6E96D22DDF0}"/>
              </a:ext>
            </a:extLst>
          </p:cNvPr>
          <p:cNvSpPr/>
          <p:nvPr/>
        </p:nvSpPr>
        <p:spPr>
          <a:xfrm>
            <a:off x="8046720" y="366674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$155.5M requerido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E0C361B0-59A7-78BB-FED8-F3F97083FFCE}"/>
              </a:ext>
            </a:extLst>
          </p:cNvPr>
          <p:cNvSpPr/>
          <p:nvPr/>
        </p:nvSpPr>
        <p:spPr>
          <a:xfrm>
            <a:off x="457200" y="562356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92ACD49B-A9F0-0C0A-56C9-8B9604CAD41B}"/>
              </a:ext>
            </a:extLst>
          </p:cNvPr>
          <p:cNvSpPr/>
          <p:nvPr/>
        </p:nvSpPr>
        <p:spPr>
          <a:xfrm>
            <a:off x="685800" y="5687568"/>
            <a:ext cx="108173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Urbanismo 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sobregiró $6.4M frente al plan (pago adelantado del contrato de Movimiento de Tierra en dic-2025); en junio, sin embargo, quedó $5.7M por debajo de lo requerido. 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dejó $64.5M sin ejecutar (de los cuales $45.3M corresponden solo a junio), reflejando los atrasos de estructura y acabados ya identificados. 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y Salud en el Trabajo — Resumen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registrados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84378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 y 4 de junio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57830" y="15544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94990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94990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en obra (última semana)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94990" y="284378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80 en la semana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58461" y="15544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5621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95621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Horas-hombre acumuladas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95621" y="284378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a 4 de junio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59091" y="15544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6251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B3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96251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observación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6251" y="284378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reuniones de seguridad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59722" y="1554480"/>
            <a:ext cx="2072030" cy="1600200"/>
          </a:xfrm>
          <a:prstGeom prst="roundRect">
            <a:avLst>
              <a:gd name="adj" fmla="val 457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96882" y="1682496"/>
            <a:ext cx="179771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796882" y="2212848"/>
            <a:ext cx="179771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 en proceso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96882" y="2843784"/>
            <a:ext cx="17977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seguimiento detallado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11274552" cy="2697480"/>
          </a:xfrm>
          <a:prstGeom prst="roundRect">
            <a:avLst>
              <a:gd name="adj" fmla="val 2034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PERIODO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886200"/>
            <a:ext cx="1081735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accidentes: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eventos registrables, incidentes ambientales/sociales ni días perdidos en las dos semanas reportadas (S3 y S4 de junio 2026).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en crecimiento: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dotación pasó de 80 (semana 1) a 120 personas (semana 4), con incorporación de nuevos oficios (maestro, excavadores, formaletas, eléctricos) acorde al avance de obra.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preventiva activa: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inspecciones, 22 reportes de observación y 21 reuniones de seguridad en el periodo — sin auditorías ni capacitaciones formales registradas aún.
</a:t>
            </a: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recibieron los reportes de las semanas 3 y 4 de junio; el de la semana 2 no fue proporcionado y no se incluye en este resumen.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Actos, Condiciones Inseguras y Buenas Prácticas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campo y seguimiento a acciones correctivas ·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943600" cy="2788920"/>
          </a:xfrm>
          <a:prstGeom prst="roundRect">
            <a:avLst>
              <a:gd name="adj" fmla="val 1967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ACTOS Y CONDICIONES INSEGURAS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5778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</a:rPr>
              <a:t>Personal sin EPP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</a:rPr>
              <a:t>Escombros acumulados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</a:rPr>
              <a:t>Metal incrustado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</a:rPr>
              <a:t>Desechos en obra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</a:rPr>
              <a:t>Exceso de clavos en áreas de encofrado (S3)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</a:rPr>
              <a:t>Uso de extensiones eléctricas en mal estado (S4)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5943600" cy="1965960"/>
          </a:xfrm>
          <a:prstGeom prst="roundRect">
            <a:avLst>
              <a:gd name="adj" fmla="val 279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407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645152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</a:rPr>
              <a:t>Designar contratistas para la eliminación de escombros acumulados.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</a:rPr>
              <a:t>Buenas respuestas ante las solicitudes de seguridad.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</a:rPr>
              <a:t>Cerrar excavaciones y terminar delimitación y señalización (S3).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</a:rPr>
              <a:t>Suplir al personal con EPP adecuados (S3).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</a:rPr>
              <a:t>Eliminación de extensiones eléctricas en mal estado (S4).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FFFFF"/>
                </a:solidFill>
              </a:rPr>
              <a:t>Operativo de entrega de calzado de seguridad al personal de obra (S4).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75120" y="1371600"/>
            <a:ext cx="5056632" cy="4892040"/>
          </a:xfrm>
          <a:prstGeom prst="roundRect">
            <a:avLst>
              <a:gd name="adj" fmla="val 1121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 ACCIONES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034540"/>
            <a:ext cx="4690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Escombros acumulados</a:t>
            </a:r>
            <a:endParaRPr 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2331720"/>
            <a:ext cx="46908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Designar contratista para eliminación de gran cantidad de escombros acumulados. (EN PROCESO)</a:t>
            </a:r>
            <a:endParaRPr lang="en-US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0" y="3223260"/>
            <a:ext cx="4690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mecánica de carga de materiales con escombros, violando el perímetro delimitado.</a:t>
            </a:r>
            <a:endParaRPr 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0" y="3749040"/>
            <a:ext cx="46908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 del área mecánica de izaje de carga para mantenerla libre de escombros y desperfectos mecánicos.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PROCESO</a:t>
            </a: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0" y="4914900"/>
            <a:ext cx="46908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sin EPP adecuados (tenis, sin casco, sin protección auditiva/facial, sin arnés).</a:t>
            </a:r>
            <a:endParaRPr 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0" y="5166360"/>
            <a:ext cx="46908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sumistro los EPP a todo el personal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Alternativas para Recuperar Plazo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evaluadas para cerrar la brecha de 3.0 puntos porcentuales y los atrasos por edificio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108606" cy="420624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8342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183428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frentes de trabajo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83428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cuadrilla en paralelo en Edificios 13–18 y 70–77 (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insfraestructura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trabajar  ambos frentes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4983480"/>
            <a:ext cx="1834286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5074920"/>
            <a:ext cx="183428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días/edificio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8686" y="1508760"/>
            <a:ext cx="2108606" cy="420624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85846" y="1645920"/>
            <a:ext cx="18342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85846" y="2194560"/>
            <a:ext cx="183428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extendidos / sábados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5846" y="2880360"/>
            <a:ext cx="183428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jornada a 10h y habilitar sábados en los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mayor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(10, 11, 12,13,14,15) hasta emparejar con línea base.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5846" y="4983480"/>
            <a:ext cx="1834286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85846" y="5074920"/>
            <a:ext cx="183428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días/edificio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40173" y="1508760"/>
            <a:ext cx="2108606" cy="420624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77333" y="1645920"/>
            <a:ext cx="18342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177333" y="2194560"/>
            <a:ext cx="183428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Adelantar compras críticas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77333" y="2880360"/>
            <a:ext cx="183428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de inmediato las órdenes de carpintería, ventanas, pisos y piezas sanitarias de los 14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fecha ya vencida, priorizando 1–9 (0% de avance pese a estructura terminada).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77333" y="4983480"/>
            <a:ext cx="1834286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77333" y="5074920"/>
            <a:ext cx="183428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60–90 días de espera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31659" y="1508760"/>
            <a:ext cx="2108606" cy="420624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68819" y="1645920"/>
            <a:ext cx="18342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468819" y="2194560"/>
            <a:ext cx="183428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Urbanismo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68819" y="2880360"/>
            <a:ext cx="183428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avenidas y calles de acceso a los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entrarán primero en fase de acabados (10, 11, 12) antes que las de fase tardía (70–77).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68819" y="4983480"/>
            <a:ext cx="1834286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68819" y="5074920"/>
            <a:ext cx="183428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cuello de botella logístico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23146" y="1508760"/>
            <a:ext cx="2108606" cy="4206240"/>
          </a:xfrm>
          <a:prstGeom prst="roundRect">
            <a:avLst>
              <a:gd name="adj" fmla="val 3469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760306" y="1645920"/>
            <a:ext cx="18342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760306" y="2194560"/>
            <a:ext cx="183428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 de subcontratistas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60306" y="2880360"/>
            <a:ext cx="183428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1–2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subcontratistas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liberando presión sobre las cuadrillas actuales.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60306" y="4983480"/>
            <a:ext cx="1834286" cy="0"/>
          </a:xfrm>
          <a:prstGeom prst="line">
            <a:avLst/>
          </a:prstGeom>
          <a:noFill/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60306" y="5074920"/>
            <a:ext cx="183428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días acumulados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Acción Recomendado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90 días — acciones concretas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tiempo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4572000"/>
          </a:xfrm>
          <a:prstGeom prst="roundRect">
            <a:avLst>
              <a:gd name="adj" fmla="val 204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 (0–15 días)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2095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pedido de carpintería, ventanas, pisos y piezas sanitarias para los 14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fecha ya vencida — empezando por 1, 2, 3, 4, 5, 6 y 9 (vencidos hace 60 a 90 días) y 7, 8, 12.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segundo frente de trabajo en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12,11,10,15,14,13 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correspondiente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revestimientos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(30 y 23 días de atraso).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disponibilidad de cuadrillas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zona.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06824" y="1508760"/>
            <a:ext cx="3575304" cy="4572000"/>
          </a:xfrm>
          <a:prstGeom prst="roundRect">
            <a:avLst>
              <a:gd name="adj" fmla="val 204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9704" y="173736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 (15–45 días)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9704" y="2240280"/>
            <a:ext cx="32095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carpintería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sanitarias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10,11,13,14,15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secuencia de Urbanismo: priorizar avenidas/calles y servicios 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cuadrilla de herrería para fabricación de balcones de Edificios 7–15.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56448" y="1508760"/>
            <a:ext cx="3575304" cy="4572000"/>
          </a:xfrm>
          <a:prstGeom prst="roundRect">
            <a:avLst>
              <a:gd name="adj" fmla="val 2046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39328" y="173736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 (45–90 días)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9328" y="2240280"/>
            <a:ext cx="320954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pedido de materiales para Edificios 16,17,18,77,76 conforme se acerque su fecha límite.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 la curva de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cierre de estructura  para medir efectividad de las medidas de recuperación.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 para observer  si la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Riesgos Clave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00116" cy="4480560"/>
          </a:xfrm>
          <a:prstGeom prst="roundRect">
            <a:avLst>
              <a:gd name="adj" fmla="val 1633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50429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</a:rPr>
              <a:t>El proyecto ejecuta al 86% de eficiencia respecto al plan operativo (18.2% vs. 21.2%).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</a:rPr>
              <a:t>El cronograma general acumula solo 5 días de atraso vs. línea base; los </a:t>
            </a:r>
            <a:r>
              <a:rPr lang="en-US" sz="1200" dirty="0" err="1">
                <a:solidFill>
                  <a:srgbClr val="FFFFFF"/>
                </a:solidFill>
              </a:rPr>
              <a:t>edificios</a:t>
            </a:r>
            <a:r>
              <a:rPr lang="en-US" sz="1200" dirty="0">
                <a:solidFill>
                  <a:srgbClr val="FFFFFF"/>
                </a:solidFill>
              </a:rPr>
              <a:t> 7, 8, 11 y 12 (fase de transición) concentran los mayores atrasos puntuales (9 a 30 días).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</a:rPr>
              <a:t>Hallazgo crítico: los Edificios 1–6 y 9 tienen estructura 100% terminada desde marzo–mayo 2026, pero carpintería, herrería y ventanas siguen en 0% — 14 de los 26 </a:t>
            </a:r>
            <a:r>
              <a:rPr lang="en-US" sz="1200" dirty="0" err="1">
                <a:solidFill>
                  <a:srgbClr val="FFFFFF"/>
                </a:solidFill>
              </a:rPr>
              <a:t>edificios</a:t>
            </a:r>
            <a:r>
              <a:rPr lang="en-US" sz="1200" dirty="0">
                <a:solidFill>
                  <a:srgbClr val="FFFFFF"/>
                </a:solidFill>
              </a:rPr>
              <a:t> ya superaron su fecha límite de pedido.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</a:rPr>
              <a:t>Urbanismo avanza solo 4%; las obras de acceso a Edificios 70–77 acumulan hasta 70 días sin iniciar.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554480"/>
            <a:ext cx="5500116" cy="4480560"/>
          </a:xfrm>
          <a:prstGeom prst="roundRect">
            <a:avLst>
              <a:gd name="adj" fmla="val 1633"/>
            </a:avLst>
          </a:prstGeom>
          <a:solidFill>
            <a:srgbClr val="132741"/>
          </a:solidFill>
          <a:ln w="12700">
            <a:solidFill>
              <a:srgbClr val="2A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60236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 para el hito de mayo 2027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60236" y="2240280"/>
            <a:ext cx="504291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Sin corrección, el atraso actual en estructura se traslada directamente a acabados por el efecto de los tiempos de materiales — el margen de 60–90 días que hoy existe se agota si las órdenes no se colocan de inmediato.
</a:t>
            </a:r>
            <a:r>
              <a:rPr lang="en-US" sz="1250" b="1" dirty="0">
                <a:solidFill>
                  <a:srgbClr val="C9A961"/>
                </a:solidFill>
              </a:rPr>
              <a:t>Recomendación: </a:t>
            </a:r>
            <a:r>
              <a:rPr lang="en-US" sz="1250" dirty="0">
                <a:solidFill>
                  <a:srgbClr val="FFFFFF"/>
                </a:solidFill>
              </a:rPr>
              <a:t>colocar de inmediato el pedido de carpintería, herrería y ventanas para los Edificios 1–9 (estructura ya terminada, 0% de avance en acabados) y activar doble frente en Edif. 7, 8, 10, 11 y 12, para preservar la fecha de cierre y sostener el caso ante el proceso de crédito IFC.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 · Fideicomiso Inmobiliario AFI Universal · Punta Cana, 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2023</Words>
  <Application>Microsoft Office PowerPoint</Application>
  <PresentationFormat>Panorámica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Antonely Villalona</cp:lastModifiedBy>
  <cp:revision>15</cp:revision>
  <dcterms:created xsi:type="dcterms:W3CDTF">2026-07-12T22:23:01Z</dcterms:created>
  <dcterms:modified xsi:type="dcterms:W3CDTF">2026-07-15T15:58:16Z</dcterms:modified>
</cp:coreProperties>
</file>